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22F41D-A9C3-403E-8071-61F203B05926}" v="1905" dt="2026-05-11T22:20:38.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86" autoAdjust="0"/>
    <p:restoredTop sz="48921" autoAdjust="0"/>
  </p:normalViewPr>
  <p:slideViewPr>
    <p:cSldViewPr snapToGrid="0" snapToObjects="1">
      <p:cViewPr varScale="1">
        <p:scale>
          <a:sx n="57" d="100"/>
          <a:sy n="57" d="100"/>
        </p:scale>
        <p:origin x="1134" y="3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modSld">
      <pc:chgData name="John O'Connor" userId="f7385dc4-3ae7-4722-a367-bcb8024ecc52" providerId="ADAL" clId="{D1113808-6EF2-45F3-A052-BF7C3C4820FF}" dt="2026-05-11T21:49:36.695" v="0" actId="14100"/>
      <pc:docMkLst>
        <pc:docMk/>
      </pc:docMkLst>
      <pc:sldChg chg="modSp">
        <pc:chgData name="John O'Connor" userId="f7385dc4-3ae7-4722-a367-bcb8024ecc52" providerId="ADAL" clId="{D1113808-6EF2-45F3-A052-BF7C3C4820FF}" dt="2026-05-11T21:49:36.695" v="0" actId="14100"/>
        <pc:sldMkLst>
          <pc:docMk/>
          <pc:sldMk cId="0" sldId="258"/>
        </pc:sldMkLst>
        <pc:spChg chg="mod">
          <ac:chgData name="John O'Connor" userId="f7385dc4-3ae7-4722-a367-bcb8024ecc52" providerId="ADAL" clId="{D1113808-6EF2-45F3-A052-BF7C3C4820FF}" dt="2026-05-11T21:49:36.695" v="0" actId="14100"/>
          <ac:spMkLst>
            <pc:docMk/>
            <pc:sldMk cId="0" sldId="258"/>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690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presentation explains the website we are building for OconEco -- what it should communicate, how it is structured, and what the developer needs to understand.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GDP is flow, we measure stock. 200+ countries back to 1950, plus US subnational -- actual results, not a proposal. This presentation first outlines</a:t>
            </a:r>
            <a:r>
              <a:rPr lang="en-US" baseline="0" dirty="0"/>
              <a:t> the substantive content to be showcased, which suggests but does not try to prove the difference matters in deciding how to allocate scarce resources. It then notes high level critical components that will each branch hierarchically into fine grain information, including metadata. Finally, it offers a very simple schema for a FAND website, and a proposal for nest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 sheet -- this is the central object the website presents. Assets on the left: claim-rights (collateralizable -- PA, NC, and cross-border assets, which are claims on Commonwealth elsewhere) and substantive rights (not collateralizable -- HR and SR, typically the majority of wealth, what we uniquely measure). Liabilities on the right: cross-border duties (what the place owes outsiders), deferred maintenance (the trust-infrastructure deficit -- the gap closed by investing more in how people collaborate and compete), and net worth -- the balancing residual. Net Worth is a liability: it is what the entity owes its owners. For a place, the question is: who’s net worth is it? According to the Declaration</a:t>
            </a:r>
            <a:r>
              <a:rPr lang="en-US" baseline="0" dirty="0"/>
              <a:t> of Independence, it is We The People. The governed, not the government. FAND aspires to make it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Hohfeldian distinction -- but the developer does not need to know that word. Claim-rights and Duties are matters of law. Substantive rights recognize,</a:t>
            </a:r>
            <a:r>
              <a:rPr lang="en-US" baseline="0" dirty="0"/>
              <a:t> and to the extent practicable, value Hohfeld’ three other jural correlatives: social exchanges that are beyond the ken of a legal system but matter for governance. Hohfeld elaborated these as liberties, powers, and immunities; all with correlatives describing the corresponding position of other members of society to holders of such assets</a:t>
            </a:r>
            <a:r>
              <a:rPr lang="en-US" dirty="0"/>
              <a:t>. The key insight: most wealth is substantive, and nobody else even tries to measure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spatial drill-down is the primary navigation. Same equation at every level, but cross-border changes meaning. At county level, it is about commuting -- income earned in Manhattan, spent in Bergen County. Interstate flows are 13 to 399 times larger than international for commuter states like New Jersey and Connecticut, respectively. The added complication is that claim-rights and substantive rights are not exactly the same even within a single nation. Enforceability of claims can vary in non-trivial ways -- not only based on what the national government recognizes, but on what matters to people at the level where they live, work, and vote. Perhaps the clearest case is the notion of water rights East and West of the Mississippi; between riparian rights and prior appropriation rights, respectively.</a:t>
            </a:r>
            <a:r>
              <a:rPr lang="en-US" baseline="0" dirty="0"/>
              <a:t> This dichotomy is the main reason FAND does not yet Recognize and value water as a factor of production. It will in due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axes. Where and What are primary -- they drive the main navigation and the balance-sheet detail drill-down. Source and Methodology are supporting -- present on every page but not the homepage journey. Note: we call it Methodology, not How -- How is reserved for the interpretive layer that comes later via LightSpot, answering How and Why questions about the Who, What, Where, When objective dimensions that FAND organizes.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hierarchy as a </a:t>
            </a:r>
            <a:r>
              <a:rPr lang="en-US" b="1" dirty="0"/>
              <a:t>proper balance sheet, following the definitive TL1 coding scheme. Assets (1.1) on the left: claim-rights (PA at 1.1.1.2, NC at 1.1.1.3 with its 31 </a:t>
            </a:r>
            <a:r>
              <a:rPr lang="en-US" dirty="0"/>
              <a:t>mineral commodities, cross-border claim-rights at 1.1.1.4) and substantive rights (HR at 1.1.2.1, SR at 1.1.2.2 covering both ecosystem services and trust infrastructure). Liabilities (1.2) on the right, with the full structure: 1.2.1 intragenerational (income inequality), 1.2.2 intergenerational (deferred maintenance of trust infrastructure, asset restoration obligations, other natural sinks), 1.2.3 cross-border duties (gross foreign liabilities -- legally</a:t>
            </a:r>
            <a:r>
              <a:rPr lang="en-US" baseline="0" dirty="0"/>
              <a:t> enforceable</a:t>
            </a:r>
            <a:r>
              <a:rPr lang="en-US" dirty="0"/>
              <a:t> rights of others to a place's wealth).
And then 1.2.4 -- Net Worth. The balancing residual. A liability. In accounting, net worth is always a liability: it is what the entity owes its owners. For a corporation, that is shareholders. For a place, the question becomes: whose net worth is it? Who owns a place?
The whole point of the American Revolution was that it is the governed who own the government, not the other way around. The census -- Article I, Section 2 of the Constitution -- was not an administrative convenience. It was the mechanism by which the governed asserted ownership over the government: enumeration as a tool of empowerment. The people, through their representatives,</a:t>
            </a:r>
            <a:r>
              <a:rPr lang="en-US" baseline="0" dirty="0"/>
              <a:t> had government assess not just their numbers or even that plus many of their attributes, but also their wealth half a century before counting their income.</a:t>
            </a:r>
            <a:r>
              <a:rPr lang="en-US" dirty="0"/>
              <a:t>
Getting</a:t>
            </a:r>
            <a:r>
              <a:rPr lang="en-US" baseline="0" dirty="0"/>
              <a:t> back to that </a:t>
            </a:r>
            <a:r>
              <a:rPr lang="en-US" dirty="0"/>
              <a:t>is what our entire exercise is about. FAND measures the balance sheet of a place. The How and Why questions -- whose net worth is it, how well is it being managed, who benefits -- are exactly what the interpretive layer (ICFAND/LightSpot) will address. But the balance sheet must be right first, and the balance sheet puts Net Worth on the liability side because it belongs to someone. The website must make that question visible.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referral -- every data point on the site links to its primary source agency. Internationally, WDI, IMF, FAO, and so on. For US counties, BEA, BLS, Census, EIA, NOAA, USGS. Users should be able to leave OconEco to verify any number, then come back. Inline contextual links, not a bibliography page. FAND has a well-articulated internation</a:t>
            </a:r>
            <a:r>
              <a:rPr lang="en-US" baseline="0" dirty="0"/>
              <a:t> </a:t>
            </a:r>
            <a:r>
              <a:rPr lang="en-US" dirty="0"/>
              <a:t>referral map that helps users navigate t</a:t>
            </a:r>
            <a:r>
              <a:rPr lang="en-US" baseline="0" dirty="0"/>
              <a:t>o</a:t>
            </a:r>
            <a:r>
              <a:rPr lang="en-US" dirty="0"/>
              <a:t> World Bank and other sources for details Not included in FAND, or</a:t>
            </a:r>
            <a:r>
              <a:rPr lang="en-US" baseline="0" dirty="0"/>
              <a:t> variations on those in FAND. In due course a similar referral map will be added for the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NUSAP -- Funtowicz and Ravetz 1990. Designed for post-normal science: facts uncertain, values in dispute, stakes high, decisions urgent. That describes development measurement. Most portals show N and U. We add S, A, and P as progressive disclosure. The numeral and unit are always visible. While still in rudimentary form,</a:t>
            </a:r>
            <a:r>
              <a:rPr lang="en-US" baseline="0" dirty="0"/>
              <a:t> h</a:t>
            </a:r>
            <a:r>
              <a:rPr lang="en-US" dirty="0"/>
              <a:t>over or click to see spread, assessment, and full pedigree with the source referral link.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pages. Five public, one password-protected for institutional reviewers. The gated section tracks access -- we want to know if Haishan's team looked at the workbooks. Content management is non-negotiable: John must be able to update text without the developer.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phased approach: Phase 1 is static content with videos and gated downloads -- this is the September target. Phase 2 adds interactive visualizations. Phase 3 is full public launch. Content packets are the mechanism -- we deliver ready-to-use material, the developer implements.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731520" y="1280160"/>
            <a:ext cx="7680960" cy="109728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OconEco Website Vision</a:t>
            </a:r>
            <a:endParaRPr lang="en-US" sz="4000" dirty="0"/>
          </a:p>
        </p:txBody>
      </p:sp>
      <p:sp>
        <p:nvSpPr>
          <p:cNvPr id="3" name="Text 1"/>
          <p:cNvSpPr/>
          <p:nvPr/>
        </p:nvSpPr>
        <p:spPr>
          <a:xfrm>
            <a:off x="731520" y="2377440"/>
            <a:ext cx="7680960" cy="548640"/>
          </a:xfrm>
          <a:prstGeom prst="rect">
            <a:avLst/>
          </a:prstGeom>
          <a:noFill/>
          <a:ln/>
        </p:spPr>
        <p:txBody>
          <a:bodyPr wrap="square" rtlCol="0" anchor="ctr"/>
          <a:lstStyle/>
          <a:p>
            <a:pPr marL="0" indent="0">
              <a:buNone/>
            </a:pPr>
            <a:r>
              <a:rPr lang="en-US" sz="2200" i="1" dirty="0">
                <a:solidFill>
                  <a:srgbClr val="0891B2"/>
                </a:solidFill>
                <a:latin typeface="Calibri" pitchFamily="34" charset="0"/>
                <a:ea typeface="Calibri" pitchFamily="34" charset="-122"/>
                <a:cs typeface="Calibri" pitchFamily="34" charset="-120"/>
              </a:rPr>
              <a:t>What We're Building and Why</a:t>
            </a:r>
            <a:endParaRPr lang="en-US" sz="2200" dirty="0"/>
          </a:p>
        </p:txBody>
      </p:sp>
      <p:sp>
        <p:nvSpPr>
          <p:cNvPr id="4" name="Text 2"/>
          <p:cNvSpPr/>
          <p:nvPr/>
        </p:nvSpPr>
        <p:spPr>
          <a:xfrm>
            <a:off x="731520" y="4206240"/>
            <a:ext cx="7680960"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John O'Connor  |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The Core Message</a:t>
            </a:r>
            <a:endParaRPr lang="en-US" sz="1300" dirty="0"/>
          </a:p>
        </p:txBody>
      </p:sp>
      <p:sp>
        <p:nvSpPr>
          <p:cNvPr id="3" name="Shape 1"/>
          <p:cNvSpPr/>
          <p:nvPr/>
        </p:nvSpPr>
        <p:spPr>
          <a:xfrm>
            <a:off x="731520" y="1097280"/>
            <a:ext cx="7680960" cy="1645920"/>
          </a:xfrm>
          <a:prstGeom prst="rect">
            <a:avLst/>
          </a:prstGeom>
          <a:solidFill>
            <a:srgbClr val="1E293B"/>
          </a:solidFill>
          <a:ln/>
          <a:effectLst>
            <a:outerShdw blurRad="76200" dist="25400" dir="8100000" algn="bl" rotWithShape="0">
              <a:srgbClr val="000000">
                <a:alpha val="10000"/>
              </a:srgbClr>
            </a:outerShdw>
          </a:effectLst>
        </p:spPr>
        <p:txBody>
          <a:bodyPr/>
          <a:lstStyle/>
          <a:p>
            <a:endParaRPr lang="en-US"/>
          </a:p>
        </p:txBody>
      </p:sp>
      <p:sp>
        <p:nvSpPr>
          <p:cNvPr id="4" name="Text 2"/>
          <p:cNvSpPr/>
          <p:nvPr/>
        </p:nvSpPr>
        <p:spPr>
          <a:xfrm>
            <a:off x="1097280" y="1188720"/>
            <a:ext cx="6949440" cy="1463040"/>
          </a:xfrm>
          <a:prstGeom prst="rect">
            <a:avLst/>
          </a:prstGeom>
          <a:noFill/>
          <a:ln/>
        </p:spPr>
        <p:txBody>
          <a:bodyPr wrap="square" rtlCol="0" anchor="ctr"/>
          <a:lstStyle/>
          <a:p>
            <a:pPr marL="0" indent="0" algn="ctr">
              <a:buNone/>
            </a:pPr>
            <a:r>
              <a:rPr lang="en-US" sz="2800" dirty="0">
                <a:solidFill>
                  <a:srgbClr val="FFFFFF"/>
                </a:solidFill>
                <a:latin typeface="Georgia" pitchFamily="34" charset="0"/>
                <a:ea typeface="Georgia" pitchFamily="34" charset="-122"/>
                <a:cs typeface="Georgia" pitchFamily="34" charset="-120"/>
              </a:rPr>
              <a:t>GDP tells you what a country </a:t>
            </a:r>
            <a:r>
              <a:rPr lang="en-US" sz="2800" i="1" dirty="0">
                <a:solidFill>
                  <a:srgbClr val="FFFFFF"/>
                </a:solidFill>
                <a:latin typeface="Georgia" pitchFamily="34" charset="0"/>
                <a:ea typeface="Georgia" pitchFamily="34" charset="-122"/>
                <a:cs typeface="Georgia" pitchFamily="34" charset="-120"/>
              </a:rPr>
              <a:t>earns.</a:t>
            </a:r>
            <a:endParaRPr lang="en-US" sz="2800" dirty="0"/>
          </a:p>
          <a:p>
            <a:pPr marL="0" indent="0" algn="ctr">
              <a:buNone/>
            </a:pPr>
            <a:r>
              <a:rPr lang="en-US" sz="2800" dirty="0">
                <a:solidFill>
                  <a:srgbClr val="FFFFFF"/>
                </a:solidFill>
                <a:latin typeface="Georgia" pitchFamily="34" charset="0"/>
                <a:ea typeface="Georgia" pitchFamily="34" charset="-122"/>
                <a:cs typeface="Georgia" pitchFamily="34" charset="-120"/>
              </a:rPr>
              <a:t>We measure what it </a:t>
            </a:r>
            <a:endParaRPr lang="en-US" sz="2800" dirty="0"/>
          </a:p>
          <a:p>
            <a:pPr marL="0" indent="0" algn="ctr">
              <a:buNone/>
            </a:pPr>
            <a:r>
              <a:rPr lang="en-US" sz="2800" b="1" i="1" dirty="0">
                <a:solidFill>
                  <a:srgbClr val="0891B2"/>
                </a:solidFill>
                <a:latin typeface="Georgia" pitchFamily="34" charset="0"/>
                <a:ea typeface="Georgia" pitchFamily="34" charset="-122"/>
                <a:cs typeface="Georgia" pitchFamily="34" charset="-120"/>
              </a:rPr>
              <a:t>owns.</a:t>
            </a:r>
            <a:endParaRPr lang="en-US" sz="2800" dirty="0"/>
          </a:p>
        </p:txBody>
      </p:sp>
      <p:sp>
        <p:nvSpPr>
          <p:cNvPr id="5" name="Text 3"/>
          <p:cNvSpPr/>
          <p:nvPr/>
        </p:nvSpPr>
        <p:spPr>
          <a:xfrm>
            <a:off x="731520" y="3200400"/>
            <a:ext cx="7680960" cy="45720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200+ countries  ·  50 US states  ·  3,258 US counties  ·  1950-2025</a:t>
            </a:r>
            <a:endParaRPr lang="en-US" sz="1600" dirty="0"/>
          </a:p>
        </p:txBody>
      </p:sp>
      <p:sp>
        <p:nvSpPr>
          <p:cNvPr id="6" name="Text 4"/>
          <p:cNvSpPr/>
          <p:nvPr/>
        </p:nvSpPr>
        <p:spPr>
          <a:xfrm>
            <a:off x="1371600" y="3931920"/>
            <a:ext cx="6400800" cy="6400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The full balance sheet -- not just income, but everything a place owns, including things nobody else measures.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The Balance Sheet of a Territory</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Same structure at every scale: country, state, or county</a:t>
            </a:r>
            <a:endParaRPr lang="en-US" sz="1300" dirty="0"/>
          </a:p>
        </p:txBody>
      </p:sp>
      <p:sp>
        <p:nvSpPr>
          <p:cNvPr id="4" name="Shape 2"/>
          <p:cNvSpPr/>
          <p:nvPr/>
        </p:nvSpPr>
        <p:spPr>
          <a:xfrm>
            <a:off x="457200" y="1234440"/>
            <a:ext cx="3931920" cy="320040"/>
          </a:xfrm>
          <a:prstGeom prst="rect">
            <a:avLst/>
          </a:prstGeom>
          <a:solidFill>
            <a:srgbClr val="059669"/>
          </a:solidFill>
          <a:ln/>
        </p:spPr>
        <p:txBody>
          <a:bodyPr/>
          <a:lstStyle/>
          <a:p>
            <a:endParaRPr lang="en-US"/>
          </a:p>
        </p:txBody>
      </p:sp>
      <p:sp>
        <p:nvSpPr>
          <p:cNvPr id="5" name="Text 3"/>
          <p:cNvSpPr/>
          <p:nvPr/>
        </p:nvSpPr>
        <p:spPr>
          <a:xfrm>
            <a:off x="457200" y="1234440"/>
            <a:ext cx="39319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ASSETS</a:t>
            </a:r>
            <a:endParaRPr lang="en-US" sz="1200" dirty="0"/>
          </a:p>
        </p:txBody>
      </p:sp>
      <p:sp>
        <p:nvSpPr>
          <p:cNvPr id="6" name="Shape 4"/>
          <p:cNvSpPr/>
          <p:nvPr/>
        </p:nvSpPr>
        <p:spPr>
          <a:xfrm>
            <a:off x="4754880" y="1234440"/>
            <a:ext cx="3931920" cy="320040"/>
          </a:xfrm>
          <a:prstGeom prst="rect">
            <a:avLst/>
          </a:prstGeom>
          <a:solidFill>
            <a:srgbClr val="DC2626"/>
          </a:solidFill>
          <a:ln/>
        </p:spPr>
        <p:txBody>
          <a:bodyPr/>
          <a:lstStyle/>
          <a:p>
            <a:endParaRPr lang="en-US"/>
          </a:p>
        </p:txBody>
      </p:sp>
      <p:sp>
        <p:nvSpPr>
          <p:cNvPr id="7" name="Text 5"/>
          <p:cNvSpPr/>
          <p:nvPr/>
        </p:nvSpPr>
        <p:spPr>
          <a:xfrm>
            <a:off x="4754880" y="1234440"/>
            <a:ext cx="393192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LIABILITIES</a:t>
            </a:r>
            <a:endParaRPr lang="en-US" sz="1200" dirty="0"/>
          </a:p>
        </p:txBody>
      </p:sp>
      <p:sp>
        <p:nvSpPr>
          <p:cNvPr id="8" name="Shape 6"/>
          <p:cNvSpPr/>
          <p:nvPr/>
        </p:nvSpPr>
        <p:spPr>
          <a:xfrm>
            <a:off x="457200" y="1691640"/>
            <a:ext cx="3931920" cy="1234440"/>
          </a:xfrm>
          <a:prstGeom prst="rect">
            <a:avLst/>
          </a:prstGeom>
          <a:solidFill>
            <a:srgbClr val="FFFFFF"/>
          </a:solidFill>
          <a:ln w="19050">
            <a:solidFill>
              <a:srgbClr val="2563EB"/>
            </a:solidFill>
            <a:prstDash val="solid"/>
          </a:ln>
          <a:effectLst>
            <a:outerShdw blurRad="76200" dist="25400" dir="8100000" algn="bl" rotWithShape="0">
              <a:srgbClr val="000000">
                <a:alpha val="10000"/>
              </a:srgbClr>
            </a:outerShdw>
          </a:effectLst>
        </p:spPr>
        <p:txBody>
          <a:bodyPr/>
          <a:lstStyle/>
          <a:p>
            <a:endParaRPr lang="en-US"/>
          </a:p>
        </p:txBody>
      </p:sp>
      <p:sp>
        <p:nvSpPr>
          <p:cNvPr id="9" name="Text 7"/>
          <p:cNvSpPr/>
          <p:nvPr/>
        </p:nvSpPr>
        <p:spPr>
          <a:xfrm>
            <a:off x="640080" y="1719072"/>
            <a:ext cx="3566160" cy="1188720"/>
          </a:xfrm>
          <a:prstGeom prst="rect">
            <a:avLst/>
          </a:prstGeom>
          <a:noFill/>
          <a:ln/>
        </p:spPr>
        <p:txBody>
          <a:bodyPr wrap="square" rtlCol="0" anchor="t"/>
          <a:lstStyle/>
          <a:p>
            <a:pPr marL="0" indent="0">
              <a:buNone/>
            </a:pPr>
            <a:r>
              <a:rPr lang="en-US" sz="900" b="1" dirty="0">
                <a:solidFill>
                  <a:srgbClr val="2563EB"/>
                </a:solidFill>
                <a:latin typeface="Calibri" pitchFamily="34" charset="0"/>
                <a:ea typeface="Calibri" pitchFamily="34" charset="-122"/>
                <a:cs typeface="Calibri" pitchFamily="34" charset="-120"/>
              </a:rPr>
              <a:t>CLAIM-RIGHTS</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Things you can buy, sell, borrow against</a:t>
            </a:r>
            <a:endParaRPr lang="en-US" sz="900" dirty="0"/>
          </a:p>
          <a:p>
            <a:pPr marL="0" indent="0">
              <a:buNone/>
            </a:pP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PA  Produced Assets (factories, roads)</a:t>
            </a: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NC  Natural Capital (oil, minerals, timber, fish, farmland)</a:t>
            </a:r>
            <a:endParaRPr lang="en-US" sz="900" dirty="0"/>
          </a:p>
          <a:p>
            <a:pPr marL="0" indent="0">
              <a:buNone/>
            </a:pPr>
            <a:r>
              <a:rPr lang="en-US" sz="1100" dirty="0">
                <a:solidFill>
                  <a:srgbClr val="0891B2"/>
                </a:solidFill>
                <a:latin typeface="Calibri" pitchFamily="34" charset="0"/>
                <a:ea typeface="Calibri" pitchFamily="34" charset="-122"/>
                <a:cs typeface="Calibri" pitchFamily="34" charset="-120"/>
              </a:rPr>
              <a:t>CBA  Cross-Border Assets (claims on Commonwealth elsewhere)</a:t>
            </a:r>
            <a:endParaRPr lang="en-US" sz="900" dirty="0"/>
          </a:p>
        </p:txBody>
      </p:sp>
      <p:sp>
        <p:nvSpPr>
          <p:cNvPr id="10" name="Shape 8"/>
          <p:cNvSpPr/>
          <p:nvPr/>
        </p:nvSpPr>
        <p:spPr>
          <a:xfrm>
            <a:off x="457200" y="3063239"/>
            <a:ext cx="3931920" cy="1104207"/>
          </a:xfrm>
          <a:prstGeom prst="rect">
            <a:avLst/>
          </a:prstGeom>
          <a:solidFill>
            <a:srgbClr val="FFFFFF"/>
          </a:solidFill>
          <a:ln w="19050">
            <a:solidFill>
              <a:srgbClr val="D97706"/>
            </a:solidFill>
            <a:prstDash val="solid"/>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640080" y="3090672"/>
            <a:ext cx="3566160" cy="868680"/>
          </a:xfrm>
          <a:prstGeom prst="rect">
            <a:avLst/>
          </a:prstGeom>
          <a:noFill/>
          <a:ln/>
        </p:spPr>
        <p:txBody>
          <a:bodyPr wrap="square" rtlCol="0" anchor="t"/>
          <a:lstStyle/>
          <a:p>
            <a:pPr marL="0" indent="0">
              <a:buNone/>
            </a:pPr>
            <a:r>
              <a:rPr lang="en-US" sz="900" b="1" dirty="0">
                <a:solidFill>
                  <a:srgbClr val="D97706"/>
                </a:solidFill>
                <a:latin typeface="Calibri" pitchFamily="34" charset="0"/>
                <a:ea typeface="Calibri" pitchFamily="34" charset="-122"/>
                <a:cs typeface="Calibri" pitchFamily="34" charset="-120"/>
              </a:rPr>
              <a:t>SUBSTANTIVE RIGHTS</a:t>
            </a:r>
            <a:endParaRPr lang="en-US" sz="900" dirty="0"/>
          </a:p>
          <a:p>
            <a:pPr marL="0" indent="0">
              <a:buNone/>
            </a:pPr>
            <a:r>
              <a:rPr lang="en-US" sz="900" dirty="0">
                <a:solidFill>
                  <a:srgbClr val="64748B"/>
                </a:solidFill>
                <a:latin typeface="Calibri" pitchFamily="34" charset="0"/>
                <a:ea typeface="Calibri" pitchFamily="34" charset="-122"/>
                <a:cs typeface="Calibri" pitchFamily="34" charset="-120"/>
              </a:rPr>
              <a:t>Valuable but not collateralizable -- nobody else measures these</a:t>
            </a:r>
            <a:endParaRPr lang="en-US" sz="900" dirty="0"/>
          </a:p>
          <a:p>
            <a:pPr marL="0" indent="0">
              <a:buNone/>
            </a:pP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HR  Human Resources (education, health)</a:t>
            </a: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SR  Other Substantive Rights (ecosystems, institutional trust)</a:t>
            </a:r>
            <a:endParaRPr lang="en-US" sz="900" dirty="0"/>
          </a:p>
        </p:txBody>
      </p:sp>
      <p:sp>
        <p:nvSpPr>
          <p:cNvPr id="12" name="Shape 10"/>
          <p:cNvSpPr/>
          <p:nvPr/>
        </p:nvSpPr>
        <p:spPr>
          <a:xfrm>
            <a:off x="4754880" y="1691640"/>
            <a:ext cx="3931920" cy="594360"/>
          </a:xfrm>
          <a:prstGeom prst="rect">
            <a:avLst/>
          </a:prstGeom>
          <a:solidFill>
            <a:srgbClr val="FFFFFF"/>
          </a:solidFill>
          <a:ln w="19050">
            <a:solidFill>
              <a:srgbClr val="DC2626"/>
            </a:solidFill>
            <a:prstDash val="solid"/>
          </a:ln>
          <a:effectLst>
            <a:outerShdw blurRad="76200" dist="25400" dir="8100000" algn="bl" rotWithShape="0">
              <a:srgbClr val="000000">
                <a:alpha val="10000"/>
              </a:srgbClr>
            </a:outerShdw>
          </a:effectLst>
        </p:spPr>
        <p:txBody>
          <a:bodyPr/>
          <a:lstStyle/>
          <a:p>
            <a:endParaRPr lang="en-US"/>
          </a:p>
        </p:txBody>
      </p:sp>
      <p:sp>
        <p:nvSpPr>
          <p:cNvPr id="13" name="Text 11"/>
          <p:cNvSpPr/>
          <p:nvPr/>
        </p:nvSpPr>
        <p:spPr>
          <a:xfrm>
            <a:off x="4937760" y="1719072"/>
            <a:ext cx="3566160" cy="530352"/>
          </a:xfrm>
          <a:prstGeom prst="rect">
            <a:avLst/>
          </a:prstGeom>
          <a:noFill/>
          <a:ln/>
        </p:spPr>
        <p:txBody>
          <a:bodyPr wrap="square" rtlCol="0" anchor="t"/>
          <a:lstStyle/>
          <a:p>
            <a:pPr marL="0" indent="0">
              <a:buNone/>
            </a:pPr>
            <a:r>
              <a:rPr lang="en-US" sz="900" b="1" dirty="0">
                <a:solidFill>
                  <a:srgbClr val="DC2626"/>
                </a:solidFill>
                <a:latin typeface="Calibri" pitchFamily="34" charset="0"/>
                <a:ea typeface="Calibri" pitchFamily="34" charset="-122"/>
                <a:cs typeface="Calibri" pitchFamily="34" charset="-120"/>
              </a:rPr>
              <a:t>CROSS-BORDER DUTIES</a:t>
            </a: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CBL  What this place owes outsiders</a:t>
            </a:r>
            <a:endParaRPr lang="en-US" sz="900" dirty="0"/>
          </a:p>
        </p:txBody>
      </p:sp>
      <p:sp>
        <p:nvSpPr>
          <p:cNvPr id="14" name="Shape 12"/>
          <p:cNvSpPr/>
          <p:nvPr/>
        </p:nvSpPr>
        <p:spPr>
          <a:xfrm>
            <a:off x="4754880" y="2423160"/>
            <a:ext cx="3931920" cy="868680"/>
          </a:xfrm>
          <a:prstGeom prst="rect">
            <a:avLst/>
          </a:prstGeom>
          <a:solidFill>
            <a:srgbClr val="FFFFFF"/>
          </a:solidFill>
          <a:ln w="19050">
            <a:solidFill>
              <a:srgbClr val="7C3AED"/>
            </a:solidFill>
            <a:prstDash val="solid"/>
          </a:ln>
          <a:effectLst>
            <a:outerShdw blurRad="76200" dist="25400" dir="8100000" algn="bl" rotWithShape="0">
              <a:srgbClr val="000000">
                <a:alpha val="10000"/>
              </a:srgbClr>
            </a:outerShdw>
          </a:effectLst>
        </p:spPr>
        <p:txBody>
          <a:bodyPr/>
          <a:lstStyle/>
          <a:p>
            <a:endParaRPr lang="en-US"/>
          </a:p>
        </p:txBody>
      </p:sp>
      <p:sp>
        <p:nvSpPr>
          <p:cNvPr id="15" name="Text 13"/>
          <p:cNvSpPr/>
          <p:nvPr/>
        </p:nvSpPr>
        <p:spPr>
          <a:xfrm>
            <a:off x="4937760" y="2450592"/>
            <a:ext cx="3566160" cy="804672"/>
          </a:xfrm>
          <a:prstGeom prst="rect">
            <a:avLst/>
          </a:prstGeom>
          <a:noFill/>
          <a:ln/>
        </p:spPr>
        <p:txBody>
          <a:bodyPr wrap="square" rtlCol="0" anchor="t"/>
          <a:lstStyle/>
          <a:p>
            <a:pPr marL="0" indent="0">
              <a:buNone/>
            </a:pPr>
            <a:r>
              <a:rPr lang="en-US" sz="900" b="1" dirty="0">
                <a:solidFill>
                  <a:srgbClr val="7C3AED"/>
                </a:solidFill>
                <a:latin typeface="Calibri" pitchFamily="34" charset="0"/>
                <a:ea typeface="Calibri" pitchFamily="34" charset="-122"/>
                <a:cs typeface="Calibri" pitchFamily="34" charset="-120"/>
              </a:rPr>
              <a:t>DEFERRED MAINTENANCE</a:t>
            </a:r>
            <a:endParaRPr lang="en-US" sz="900" dirty="0"/>
          </a:p>
          <a:p>
            <a:pPr marL="0" indent="0">
              <a:buNone/>
            </a:pPr>
            <a:r>
              <a:rPr lang="en-US" sz="1100" dirty="0">
                <a:solidFill>
                  <a:srgbClr val="1E293B"/>
                </a:solidFill>
                <a:latin typeface="Calibri" pitchFamily="34" charset="0"/>
                <a:ea typeface="Calibri" pitchFamily="34" charset="-122"/>
                <a:cs typeface="Calibri" pitchFamily="34" charset="-120"/>
              </a:rPr>
              <a:t>DM  The trust-infrastructure deficit</a:t>
            </a:r>
            <a:endParaRPr lang="en-US" sz="900" dirty="0"/>
          </a:p>
          <a:p>
            <a:pPr marL="0" indent="0">
              <a:buNone/>
            </a:pPr>
            <a:r>
              <a:rPr lang="en-US" sz="1000" i="1" dirty="0">
                <a:solidFill>
                  <a:srgbClr val="64748B"/>
                </a:solidFill>
                <a:latin typeface="Calibri" pitchFamily="34" charset="0"/>
                <a:ea typeface="Calibri" pitchFamily="34" charset="-122"/>
                <a:cs typeface="Calibri" pitchFamily="34" charset="-120"/>
              </a:rPr>
              <a:t>The gap closed by investing more in how people</a:t>
            </a:r>
            <a:endParaRPr lang="en-US" sz="900" dirty="0"/>
          </a:p>
          <a:p>
            <a:pPr marL="0" indent="0">
              <a:buNone/>
            </a:pPr>
            <a:r>
              <a:rPr lang="en-US" sz="1000" i="1" dirty="0">
                <a:solidFill>
                  <a:srgbClr val="64748B"/>
                </a:solidFill>
                <a:latin typeface="Calibri" pitchFamily="34" charset="0"/>
                <a:ea typeface="Calibri" pitchFamily="34" charset="-122"/>
                <a:cs typeface="Calibri" pitchFamily="34" charset="-120"/>
              </a:rPr>
              <a:t>collaborate and compete</a:t>
            </a:r>
            <a:endParaRPr lang="en-US" sz="900" dirty="0"/>
          </a:p>
        </p:txBody>
      </p:sp>
      <p:sp>
        <p:nvSpPr>
          <p:cNvPr id="16" name="Shape 14"/>
          <p:cNvSpPr/>
          <p:nvPr/>
        </p:nvSpPr>
        <p:spPr>
          <a:xfrm>
            <a:off x="4754880" y="3429000"/>
            <a:ext cx="3931920" cy="548640"/>
          </a:xfrm>
          <a:prstGeom prst="rect">
            <a:avLst/>
          </a:prstGeom>
          <a:solidFill>
            <a:srgbClr val="1E293B"/>
          </a:solidFill>
          <a:ln/>
        </p:spPr>
        <p:txBody>
          <a:bodyPr/>
          <a:lstStyle/>
          <a:p>
            <a:endParaRPr lang="en-US"/>
          </a:p>
        </p:txBody>
      </p:sp>
      <p:sp>
        <p:nvSpPr>
          <p:cNvPr id="17" name="Text 15"/>
          <p:cNvSpPr/>
          <p:nvPr/>
        </p:nvSpPr>
        <p:spPr>
          <a:xfrm>
            <a:off x="4846320" y="3429000"/>
            <a:ext cx="37490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NET WORTH</a:t>
            </a:r>
            <a:r>
              <a:rPr lang="en-US" sz="1200" dirty="0">
                <a:solidFill>
                  <a:srgbClr val="0891B2"/>
                </a:solidFill>
                <a:latin typeface="Calibri" pitchFamily="34" charset="0"/>
                <a:ea typeface="Calibri" pitchFamily="34" charset="-122"/>
                <a:cs typeface="Calibri" pitchFamily="34" charset="-120"/>
              </a:rPr>
              <a:t>  =  Assets – CBL – DM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Why the Split Matters</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distinction between what can and cannot be collateralized</a:t>
            </a:r>
            <a:endParaRPr lang="en-US" sz="1300" dirty="0"/>
          </a:p>
        </p:txBody>
      </p:sp>
      <p:sp>
        <p:nvSpPr>
          <p:cNvPr id="4" name="Shape 2"/>
          <p:cNvSpPr/>
          <p:nvPr/>
        </p:nvSpPr>
        <p:spPr>
          <a:xfrm>
            <a:off x="457200" y="1371600"/>
            <a:ext cx="3931920" cy="2926080"/>
          </a:xfrm>
          <a:prstGeom prst="rect">
            <a:avLst/>
          </a:prstGeom>
          <a:solidFill>
            <a:srgbClr val="EFF6FF"/>
          </a:solidFill>
          <a:ln w="19050">
            <a:solidFill>
              <a:srgbClr val="2563EB"/>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731520" y="1463040"/>
            <a:ext cx="3383280" cy="2743200"/>
          </a:xfrm>
          <a:prstGeom prst="rect">
            <a:avLst/>
          </a:prstGeom>
          <a:noFill/>
          <a:ln/>
        </p:spPr>
        <p:txBody>
          <a:bodyPr wrap="square" rtlCol="0" anchor="t"/>
          <a:lstStyle/>
          <a:p>
            <a:pPr marL="0" indent="0">
              <a:buNone/>
            </a:pPr>
            <a:r>
              <a:rPr lang="en-US" sz="1400" b="1" dirty="0">
                <a:solidFill>
                  <a:srgbClr val="2563EB"/>
                </a:solidFill>
                <a:latin typeface="Calibri" pitchFamily="34" charset="0"/>
                <a:ea typeface="Calibri" pitchFamily="34" charset="-122"/>
                <a:cs typeface="Calibri" pitchFamily="34" charset="-120"/>
              </a:rPr>
              <a:t>CLAIM-RIGHTS</a:t>
            </a:r>
            <a:endParaRPr lang="en-US" sz="1400" dirty="0"/>
          </a:p>
          <a:p>
            <a:pPr marL="0" indent="0">
              <a:buNone/>
            </a:pPr>
            <a:endParaRPr lang="en-US" sz="1400" dirty="0"/>
          </a:p>
          <a:p>
            <a:pPr marL="0" indent="0">
              <a:buNone/>
            </a:pPr>
            <a:r>
              <a:rPr lang="en-US" sz="1600" b="1" dirty="0">
                <a:solidFill>
                  <a:srgbClr val="1E293B"/>
                </a:solidFill>
                <a:latin typeface="Georgia" pitchFamily="34" charset="0"/>
                <a:ea typeface="Georgia" pitchFamily="34" charset="-122"/>
                <a:cs typeface="Georgia" pitchFamily="34" charset="-120"/>
              </a:rPr>
              <a:t>Can be bought, sold, seized</a:t>
            </a:r>
            <a:endParaRPr lang="en-US" sz="1400" dirty="0"/>
          </a:p>
          <a:p>
            <a:pPr marL="0" indent="0">
              <a:buNone/>
            </a:pPr>
            <a:endParaRPr lang="en-US" sz="1400" dirty="0"/>
          </a:p>
          <a:p>
            <a:pPr marL="0" indent="0">
              <a:buNone/>
            </a:pPr>
            <a:r>
              <a:rPr lang="en-US" sz="1300" dirty="0">
                <a:solidFill>
                  <a:srgbClr val="64748B"/>
                </a:solidFill>
                <a:latin typeface="Calibri" pitchFamily="34" charset="0"/>
                <a:ea typeface="Calibri" pitchFamily="34" charset="-122"/>
                <a:cs typeface="Calibri" pitchFamily="34" charset="-120"/>
              </a:rPr>
              <a:t>A mine, a factory, a bond -- there is a counterparty with a duty to honor your claim. Banks can lend against these. Markets can price them.</a:t>
            </a:r>
            <a:endParaRPr lang="en-US" sz="1400" dirty="0"/>
          </a:p>
          <a:p>
            <a:pPr marL="0" indent="0">
              <a:buNone/>
            </a:pPr>
            <a:endParaRPr lang="en-US" sz="1400" dirty="0"/>
          </a:p>
          <a:p>
            <a:pPr marL="0" indent="0">
              <a:buNone/>
            </a:pPr>
            <a:r>
              <a:rPr lang="en-US" sz="1300" b="1" dirty="0">
                <a:solidFill>
                  <a:srgbClr val="1E293B"/>
                </a:solidFill>
                <a:latin typeface="Calibri" pitchFamily="34" charset="0"/>
                <a:ea typeface="Calibri" pitchFamily="34" charset="-122"/>
                <a:cs typeface="Calibri" pitchFamily="34" charset="-120"/>
              </a:rPr>
              <a:t>This is what conventional accounting measures.</a:t>
            </a:r>
            <a:endParaRPr lang="en-US" sz="1400" dirty="0"/>
          </a:p>
        </p:txBody>
      </p:sp>
      <p:sp>
        <p:nvSpPr>
          <p:cNvPr id="6" name="Shape 4"/>
          <p:cNvSpPr/>
          <p:nvPr/>
        </p:nvSpPr>
        <p:spPr>
          <a:xfrm>
            <a:off x="4754880" y="1371600"/>
            <a:ext cx="3931920" cy="2926080"/>
          </a:xfrm>
          <a:prstGeom prst="rect">
            <a:avLst/>
          </a:prstGeom>
          <a:solidFill>
            <a:srgbClr val="FFFBEB"/>
          </a:solidFill>
          <a:ln w="19050">
            <a:solidFill>
              <a:srgbClr val="D97706"/>
            </a:solidFill>
            <a:prstDash val="solid"/>
          </a:ln>
          <a:effectLst>
            <a:outerShdw blurRad="76200" dist="25400" dir="8100000" algn="bl" rotWithShape="0">
              <a:srgbClr val="000000">
                <a:alpha val="10000"/>
              </a:srgbClr>
            </a:outerShdw>
          </a:effectLst>
        </p:spPr>
        <p:txBody>
          <a:bodyPr/>
          <a:lstStyle/>
          <a:p>
            <a:endParaRPr lang="en-US"/>
          </a:p>
        </p:txBody>
      </p:sp>
      <p:sp>
        <p:nvSpPr>
          <p:cNvPr id="7" name="Text 5"/>
          <p:cNvSpPr/>
          <p:nvPr/>
        </p:nvSpPr>
        <p:spPr>
          <a:xfrm>
            <a:off x="5029200" y="1463040"/>
            <a:ext cx="3383280" cy="2743200"/>
          </a:xfrm>
          <a:prstGeom prst="rect">
            <a:avLst/>
          </a:prstGeom>
          <a:noFill/>
          <a:ln/>
        </p:spPr>
        <p:txBody>
          <a:bodyPr wrap="square" rtlCol="0" anchor="t"/>
          <a:lstStyle/>
          <a:p>
            <a:pPr marL="0" indent="0">
              <a:buNone/>
            </a:pPr>
            <a:r>
              <a:rPr lang="en-US" sz="1400" b="1" dirty="0">
                <a:solidFill>
                  <a:srgbClr val="D97706"/>
                </a:solidFill>
                <a:latin typeface="Calibri" pitchFamily="34" charset="0"/>
                <a:ea typeface="Calibri" pitchFamily="34" charset="-122"/>
                <a:cs typeface="Calibri" pitchFamily="34" charset="-120"/>
              </a:rPr>
              <a:t>SUBSTANTIVE RIGHTS</a:t>
            </a:r>
            <a:endParaRPr lang="en-US" sz="1400" dirty="0"/>
          </a:p>
          <a:p>
            <a:pPr marL="0" indent="0">
              <a:buNone/>
            </a:pPr>
            <a:endParaRPr lang="en-US" sz="1400" dirty="0"/>
          </a:p>
          <a:p>
            <a:pPr marL="0" indent="0">
              <a:buNone/>
            </a:pPr>
            <a:r>
              <a:rPr lang="en-US" sz="1600" b="1" dirty="0">
                <a:solidFill>
                  <a:srgbClr val="1E293B"/>
                </a:solidFill>
                <a:latin typeface="Georgia" pitchFamily="34" charset="0"/>
                <a:ea typeface="Georgia" pitchFamily="34" charset="-122"/>
                <a:cs typeface="Georgia" pitchFamily="34" charset="-120"/>
              </a:rPr>
              <a:t>Cannot be collateralized</a:t>
            </a:r>
            <a:endParaRPr lang="en-US" sz="1400" dirty="0"/>
          </a:p>
          <a:p>
            <a:pPr marL="0" indent="0">
              <a:buNone/>
            </a:pPr>
            <a:endParaRPr lang="en-US" sz="1400" dirty="0"/>
          </a:p>
          <a:p>
            <a:pPr marL="0" indent="0">
              <a:buNone/>
            </a:pPr>
            <a:r>
              <a:rPr lang="en-US" sz="1300" dirty="0">
                <a:solidFill>
                  <a:srgbClr val="64748B"/>
                </a:solidFill>
                <a:latin typeface="Calibri" pitchFamily="34" charset="0"/>
                <a:ea typeface="Calibri" pitchFamily="34" charset="-122"/>
                <a:cs typeface="Calibri" pitchFamily="34" charset="-120"/>
              </a:rPr>
              <a:t>A person's education, a society's trust in its courts, the flood protection of a mangrove forest -- no counterparty owes you anything. You have the liberty to use them.</a:t>
            </a:r>
            <a:endParaRPr lang="en-US" sz="1400" dirty="0"/>
          </a:p>
          <a:p>
            <a:pPr marL="0" indent="0">
              <a:buNone/>
            </a:pPr>
            <a:endParaRPr lang="en-US" sz="1400" dirty="0"/>
          </a:p>
          <a:p>
            <a:pPr marL="0" indent="0">
              <a:buNone/>
            </a:pPr>
            <a:r>
              <a:rPr lang="en-US" sz="1300" b="1" dirty="0">
                <a:solidFill>
                  <a:srgbClr val="1E293B"/>
                </a:solidFill>
                <a:latin typeface="Calibri" pitchFamily="34" charset="0"/>
                <a:ea typeface="Calibri" pitchFamily="34" charset="-122"/>
                <a:cs typeface="Calibri" pitchFamily="34" charset="-120"/>
              </a:rPr>
              <a:t>Typically the majority of wealth. Nobody else measures these. We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Spatial Drill-Down -- The Primary Navigation</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Same balance sheet at every level. Different data, different cross-border story.</a:t>
            </a:r>
            <a:endParaRPr lang="en-US" sz="1300" dirty="0"/>
          </a:p>
        </p:txBody>
      </p:sp>
      <p:sp>
        <p:nvSpPr>
          <p:cNvPr id="4" name="Shape 2"/>
          <p:cNvSpPr/>
          <p:nvPr/>
        </p:nvSpPr>
        <p:spPr>
          <a:xfrm>
            <a:off x="457200" y="1371600"/>
            <a:ext cx="1965960" cy="1188720"/>
          </a:xfrm>
          <a:prstGeom prst="rect">
            <a:avLst/>
          </a:prstGeom>
          <a:solidFill>
            <a:srgbClr val="F0FDF4"/>
          </a:solidFill>
          <a:ln w="1270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548640" y="1417320"/>
            <a:ext cx="1783080" cy="1097280"/>
          </a:xfrm>
          <a:prstGeom prst="rect">
            <a:avLst/>
          </a:prstGeom>
          <a:noFill/>
          <a:ln/>
        </p:spPr>
        <p:txBody>
          <a:bodyPr wrap="square" rtlCol="0" anchor="ctr"/>
          <a:lstStyle/>
          <a:p>
            <a:pPr marL="0" indent="0" algn="ctr">
              <a:buNone/>
            </a:pPr>
            <a:r>
              <a:rPr lang="en-US" sz="1000" b="1" dirty="0">
                <a:solidFill>
                  <a:srgbClr val="059669"/>
                </a:solidFill>
                <a:latin typeface="Calibri" pitchFamily="34" charset="0"/>
                <a:ea typeface="Calibri" pitchFamily="34" charset="-122"/>
                <a:cs typeface="Calibri" pitchFamily="34" charset="-120"/>
              </a:rPr>
              <a:t>WORLD</a:t>
            </a:r>
            <a:endParaRPr lang="en-US" sz="1000" dirty="0"/>
          </a:p>
          <a:p>
            <a:pPr marL="0" indent="0" algn="ctr">
              <a:buNone/>
            </a:pPr>
            <a:r>
              <a:rPr lang="en-US" sz="1400" b="1" dirty="0">
                <a:solidFill>
                  <a:srgbClr val="1E293B"/>
                </a:solidFill>
                <a:latin typeface="Georgia" pitchFamily="34" charset="0"/>
                <a:ea typeface="Georgia" pitchFamily="34" charset="-122"/>
                <a:cs typeface="Georgia" pitchFamily="34" charset="-120"/>
              </a:rPr>
              <a:t>237 countries</a:t>
            </a:r>
            <a:endParaRPr lang="en-US" sz="1000" dirty="0"/>
          </a:p>
          <a:p>
            <a:pPr marL="0" indent="0" algn="ctr">
              <a:buNone/>
            </a:pPr>
            <a:r>
              <a:rPr lang="en-US" sz="1100" dirty="0">
                <a:solidFill>
                  <a:srgbClr val="64748B"/>
                </a:solidFill>
                <a:latin typeface="Calibri" pitchFamily="34" charset="0"/>
                <a:ea typeface="Calibri" pitchFamily="34" charset="-122"/>
                <a:cs typeface="Calibri" pitchFamily="34" charset="-120"/>
              </a:rPr>
              <a:t>1950-2025</a:t>
            </a:r>
            <a:endParaRPr lang="en-US" sz="1000" dirty="0"/>
          </a:p>
        </p:txBody>
      </p:sp>
      <p:sp>
        <p:nvSpPr>
          <p:cNvPr id="6" name="Text 4"/>
          <p:cNvSpPr/>
          <p:nvPr/>
        </p:nvSpPr>
        <p:spPr>
          <a:xfrm>
            <a:off x="2331720" y="1691640"/>
            <a:ext cx="365760" cy="548640"/>
          </a:xfrm>
          <a:prstGeom prst="rect">
            <a:avLst/>
          </a:prstGeom>
          <a:noFill/>
          <a:ln/>
        </p:spPr>
        <p:txBody>
          <a:bodyPr wrap="square" rtlCol="0" anchor="ctr"/>
          <a:lstStyle/>
          <a:p>
            <a:pPr marL="0" indent="0" algn="ctr">
              <a:buNone/>
            </a:pPr>
            <a:r>
              <a:rPr lang="en-US" sz="2400" b="1" dirty="0">
                <a:solidFill>
                  <a:srgbClr val="059669"/>
                </a:solidFill>
                <a:latin typeface="Calibri" pitchFamily="34" charset="0"/>
                <a:ea typeface="Calibri" pitchFamily="34" charset="-122"/>
                <a:cs typeface="Calibri" pitchFamily="34" charset="-120"/>
              </a:rPr>
              <a:t>&gt;</a:t>
            </a:r>
            <a:endParaRPr lang="en-US" sz="2400" dirty="0"/>
          </a:p>
        </p:txBody>
      </p:sp>
      <p:sp>
        <p:nvSpPr>
          <p:cNvPr id="7" name="Shape 5"/>
          <p:cNvSpPr/>
          <p:nvPr/>
        </p:nvSpPr>
        <p:spPr>
          <a:xfrm>
            <a:off x="2606040" y="1371600"/>
            <a:ext cx="1965960" cy="1188720"/>
          </a:xfrm>
          <a:prstGeom prst="rect">
            <a:avLst/>
          </a:prstGeom>
          <a:solidFill>
            <a:srgbClr val="DCFCE7"/>
          </a:solidFill>
          <a:ln w="1270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2697480" y="1417320"/>
            <a:ext cx="1783080" cy="1097280"/>
          </a:xfrm>
          <a:prstGeom prst="rect">
            <a:avLst/>
          </a:prstGeom>
          <a:noFill/>
          <a:ln/>
        </p:spPr>
        <p:txBody>
          <a:bodyPr wrap="square" rtlCol="0" anchor="ctr"/>
          <a:lstStyle/>
          <a:p>
            <a:pPr marL="0" indent="0" algn="ctr">
              <a:buNone/>
            </a:pPr>
            <a:r>
              <a:rPr lang="en-US" sz="1000" b="1" dirty="0">
                <a:solidFill>
                  <a:srgbClr val="059669"/>
                </a:solidFill>
                <a:latin typeface="Calibri" pitchFamily="34" charset="0"/>
                <a:ea typeface="Calibri" pitchFamily="34" charset="-122"/>
                <a:cs typeface="Calibri" pitchFamily="34" charset="-120"/>
              </a:rPr>
              <a:t>COUNTRY</a:t>
            </a:r>
            <a:endParaRPr lang="en-US" sz="1000" dirty="0"/>
          </a:p>
          <a:p>
            <a:pPr marL="0" indent="0" algn="ctr">
              <a:buNone/>
            </a:pPr>
            <a:r>
              <a:rPr lang="en-US" sz="1400" b="1" dirty="0">
                <a:solidFill>
                  <a:srgbClr val="1E293B"/>
                </a:solidFill>
                <a:latin typeface="Georgia" pitchFamily="34" charset="0"/>
                <a:ea typeface="Georgia" pitchFamily="34" charset="-122"/>
                <a:cs typeface="Georgia" pitchFamily="34" charset="-120"/>
              </a:rPr>
              <a:t>Full balance sheet</a:t>
            </a:r>
            <a:endParaRPr lang="en-US" sz="1000" dirty="0"/>
          </a:p>
          <a:p>
            <a:pPr marL="0" indent="0" algn="ctr">
              <a:buNone/>
            </a:pPr>
            <a:r>
              <a:rPr lang="en-US" sz="1100" dirty="0">
                <a:solidFill>
                  <a:srgbClr val="64748B"/>
                </a:solidFill>
                <a:latin typeface="Calibri" pitchFamily="34" charset="0"/>
                <a:ea typeface="Calibri" pitchFamily="34" charset="-122"/>
                <a:cs typeface="Calibri" pitchFamily="34" charset="-120"/>
              </a:rPr>
              <a:t>75-year trends</a:t>
            </a:r>
            <a:endParaRPr lang="en-US" sz="1000" dirty="0"/>
          </a:p>
        </p:txBody>
      </p:sp>
      <p:sp>
        <p:nvSpPr>
          <p:cNvPr id="9" name="Text 7"/>
          <p:cNvSpPr/>
          <p:nvPr/>
        </p:nvSpPr>
        <p:spPr>
          <a:xfrm>
            <a:off x="4480560" y="1691640"/>
            <a:ext cx="365760" cy="548640"/>
          </a:xfrm>
          <a:prstGeom prst="rect">
            <a:avLst/>
          </a:prstGeom>
          <a:noFill/>
          <a:ln/>
        </p:spPr>
        <p:txBody>
          <a:bodyPr wrap="square" rtlCol="0" anchor="ctr"/>
          <a:lstStyle/>
          <a:p>
            <a:pPr marL="0" indent="0" algn="ctr">
              <a:buNone/>
            </a:pPr>
            <a:r>
              <a:rPr lang="en-US" sz="2400" b="1" dirty="0">
                <a:solidFill>
                  <a:srgbClr val="059669"/>
                </a:solidFill>
                <a:latin typeface="Calibri" pitchFamily="34" charset="0"/>
                <a:ea typeface="Calibri" pitchFamily="34" charset="-122"/>
                <a:cs typeface="Calibri" pitchFamily="34" charset="-120"/>
              </a:rPr>
              <a:t>&gt;</a:t>
            </a:r>
            <a:endParaRPr lang="en-US" sz="2400" dirty="0"/>
          </a:p>
        </p:txBody>
      </p:sp>
      <p:sp>
        <p:nvSpPr>
          <p:cNvPr id="10" name="Shape 8"/>
          <p:cNvSpPr/>
          <p:nvPr/>
        </p:nvSpPr>
        <p:spPr>
          <a:xfrm>
            <a:off x="4754880" y="1371600"/>
            <a:ext cx="1965960" cy="1188720"/>
          </a:xfrm>
          <a:prstGeom prst="rect">
            <a:avLst/>
          </a:prstGeom>
          <a:solidFill>
            <a:srgbClr val="BBF7D0"/>
          </a:solidFill>
          <a:ln w="1270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4846320" y="1417320"/>
            <a:ext cx="1783080" cy="1097280"/>
          </a:xfrm>
          <a:prstGeom prst="rect">
            <a:avLst/>
          </a:prstGeom>
          <a:noFill/>
          <a:ln/>
        </p:spPr>
        <p:txBody>
          <a:bodyPr wrap="square" rtlCol="0" anchor="ctr"/>
          <a:lstStyle/>
          <a:p>
            <a:pPr marL="0" indent="0" algn="ctr">
              <a:buNone/>
            </a:pPr>
            <a:r>
              <a:rPr lang="en-US" sz="1000" b="1" dirty="0">
                <a:solidFill>
                  <a:srgbClr val="059669"/>
                </a:solidFill>
                <a:latin typeface="Calibri" pitchFamily="34" charset="0"/>
                <a:ea typeface="Calibri" pitchFamily="34" charset="-122"/>
                <a:cs typeface="Calibri" pitchFamily="34" charset="-120"/>
              </a:rPr>
              <a:t>US STATE</a:t>
            </a:r>
            <a:endParaRPr lang="en-US" sz="1000" dirty="0"/>
          </a:p>
          <a:p>
            <a:pPr marL="0" indent="0" algn="ctr">
              <a:buNone/>
            </a:pPr>
            <a:r>
              <a:rPr lang="en-US" sz="1400" b="1" dirty="0">
                <a:solidFill>
                  <a:srgbClr val="1E293B"/>
                </a:solidFill>
                <a:latin typeface="Georgia" pitchFamily="34" charset="0"/>
                <a:ea typeface="Georgia" pitchFamily="34" charset="-122"/>
                <a:cs typeface="Georgia" pitchFamily="34" charset="-120"/>
              </a:rPr>
              <a:t>51 units</a:t>
            </a:r>
            <a:endParaRPr lang="en-US" sz="1000" dirty="0"/>
          </a:p>
          <a:p>
            <a:pPr marL="0" indent="0" algn="ctr">
              <a:buNone/>
            </a:pPr>
            <a:r>
              <a:rPr lang="en-US" sz="1100" dirty="0">
                <a:solidFill>
                  <a:srgbClr val="64748B"/>
                </a:solidFill>
                <a:latin typeface="Calibri" pitchFamily="34" charset="0"/>
                <a:ea typeface="Calibri" pitchFamily="34" charset="-122"/>
                <a:cs typeface="Calibri" pitchFamily="34" charset="-120"/>
              </a:rPr>
              <a:t>Wealth + income</a:t>
            </a:r>
            <a:endParaRPr lang="en-US" sz="1000" dirty="0"/>
          </a:p>
        </p:txBody>
      </p:sp>
      <p:sp>
        <p:nvSpPr>
          <p:cNvPr id="12" name="Text 10"/>
          <p:cNvSpPr/>
          <p:nvPr/>
        </p:nvSpPr>
        <p:spPr>
          <a:xfrm>
            <a:off x="6629400" y="1691640"/>
            <a:ext cx="365760" cy="548640"/>
          </a:xfrm>
          <a:prstGeom prst="rect">
            <a:avLst/>
          </a:prstGeom>
          <a:noFill/>
          <a:ln/>
        </p:spPr>
        <p:txBody>
          <a:bodyPr wrap="square" rtlCol="0" anchor="ctr"/>
          <a:lstStyle/>
          <a:p>
            <a:pPr marL="0" indent="0" algn="ctr">
              <a:buNone/>
            </a:pPr>
            <a:r>
              <a:rPr lang="en-US" sz="2400" b="1" dirty="0">
                <a:solidFill>
                  <a:srgbClr val="059669"/>
                </a:solidFill>
                <a:latin typeface="Calibri" pitchFamily="34" charset="0"/>
                <a:ea typeface="Calibri" pitchFamily="34" charset="-122"/>
                <a:cs typeface="Calibri" pitchFamily="34" charset="-120"/>
              </a:rPr>
              <a:t>&gt;</a:t>
            </a:r>
            <a:endParaRPr lang="en-US" sz="2400" dirty="0"/>
          </a:p>
        </p:txBody>
      </p:sp>
      <p:sp>
        <p:nvSpPr>
          <p:cNvPr id="13" name="Shape 11"/>
          <p:cNvSpPr/>
          <p:nvPr/>
        </p:nvSpPr>
        <p:spPr>
          <a:xfrm>
            <a:off x="6903720" y="1371600"/>
            <a:ext cx="1965960" cy="1188720"/>
          </a:xfrm>
          <a:prstGeom prst="rect">
            <a:avLst/>
          </a:prstGeom>
          <a:solidFill>
            <a:srgbClr val="86EFAC"/>
          </a:solidFill>
          <a:ln w="1270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14" name="Text 12"/>
          <p:cNvSpPr/>
          <p:nvPr/>
        </p:nvSpPr>
        <p:spPr>
          <a:xfrm>
            <a:off x="6995160" y="1417320"/>
            <a:ext cx="1783080" cy="1097280"/>
          </a:xfrm>
          <a:prstGeom prst="rect">
            <a:avLst/>
          </a:prstGeom>
          <a:noFill/>
          <a:ln/>
        </p:spPr>
        <p:txBody>
          <a:bodyPr wrap="square" rtlCol="0" anchor="ctr"/>
          <a:lstStyle/>
          <a:p>
            <a:pPr marL="0" indent="0" algn="ctr">
              <a:buNone/>
            </a:pPr>
            <a:r>
              <a:rPr lang="en-US" sz="1000" b="1" dirty="0">
                <a:solidFill>
                  <a:srgbClr val="059669"/>
                </a:solidFill>
                <a:latin typeface="Calibri" pitchFamily="34" charset="0"/>
                <a:ea typeface="Calibri" pitchFamily="34" charset="-122"/>
                <a:cs typeface="Calibri" pitchFamily="34" charset="-120"/>
              </a:rPr>
              <a:t>US COUNTY</a:t>
            </a:r>
            <a:endParaRPr lang="en-US" sz="1000" dirty="0"/>
          </a:p>
          <a:p>
            <a:pPr marL="0" indent="0" algn="ctr">
              <a:buNone/>
            </a:pPr>
            <a:r>
              <a:rPr lang="en-US" sz="1400" b="1" dirty="0">
                <a:solidFill>
                  <a:srgbClr val="1E293B"/>
                </a:solidFill>
                <a:latin typeface="Georgia" pitchFamily="34" charset="0"/>
                <a:ea typeface="Georgia" pitchFamily="34" charset="-122"/>
                <a:cs typeface="Georgia" pitchFamily="34" charset="-120"/>
              </a:rPr>
              <a:t>3,258 counties</a:t>
            </a:r>
            <a:endParaRPr lang="en-US" sz="1000" dirty="0"/>
          </a:p>
          <a:p>
            <a:pPr marL="0" indent="0" algn="ctr">
              <a:buNone/>
            </a:pPr>
            <a:r>
              <a:rPr lang="en-US" sz="1100" dirty="0">
                <a:solidFill>
                  <a:srgbClr val="64748B"/>
                </a:solidFill>
                <a:latin typeface="Calibri" pitchFamily="34" charset="0"/>
                <a:ea typeface="Calibri" pitchFamily="34" charset="-122"/>
                <a:cs typeface="Calibri" pitchFamily="34" charset="-120"/>
              </a:rPr>
              <a:t>Wealth components</a:t>
            </a:r>
            <a:endParaRPr lang="en-US" sz="1000" dirty="0"/>
          </a:p>
        </p:txBody>
      </p:sp>
      <p:sp>
        <p:nvSpPr>
          <p:cNvPr id="15" name="Text 13"/>
          <p:cNvSpPr/>
          <p:nvPr/>
        </p:nvSpPr>
        <p:spPr>
          <a:xfrm>
            <a:off x="731520" y="2926080"/>
            <a:ext cx="7680960" cy="36576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How 'cross-border' changes meaning at each scale:</a:t>
            </a:r>
            <a:endParaRPr lang="en-US" sz="1400" dirty="0"/>
          </a:p>
        </p:txBody>
      </p:sp>
      <p:sp>
        <p:nvSpPr>
          <p:cNvPr id="16" name="Shape 14"/>
          <p:cNvSpPr/>
          <p:nvPr/>
        </p:nvSpPr>
        <p:spPr>
          <a:xfrm>
            <a:off x="457200" y="3429000"/>
            <a:ext cx="2651760" cy="1417320"/>
          </a:xfrm>
          <a:prstGeom prst="rect">
            <a:avLst/>
          </a:prstGeom>
          <a:solidFill>
            <a:srgbClr val="F0FDFA"/>
          </a:solidFill>
          <a:ln w="12700">
            <a:solidFill>
              <a:srgbClr val="0891B2"/>
            </a:solidFill>
            <a:prstDash val="solid"/>
          </a:ln>
          <a:effectLst>
            <a:outerShdw blurRad="76200" dist="25400" dir="8100000" algn="bl" rotWithShape="0">
              <a:srgbClr val="000000">
                <a:alpha val="10000"/>
              </a:srgbClr>
            </a:outerShdw>
          </a:effectLst>
        </p:spPr>
        <p:txBody>
          <a:bodyPr/>
          <a:lstStyle/>
          <a:p>
            <a:endParaRPr lang="en-US"/>
          </a:p>
        </p:txBody>
      </p:sp>
      <p:sp>
        <p:nvSpPr>
          <p:cNvPr id="17" name="Text 15"/>
          <p:cNvSpPr/>
          <p:nvPr/>
        </p:nvSpPr>
        <p:spPr>
          <a:xfrm>
            <a:off x="548640" y="3474720"/>
            <a:ext cx="2468880" cy="1325880"/>
          </a:xfrm>
          <a:prstGeom prst="rect">
            <a:avLst/>
          </a:prstGeom>
          <a:noFill/>
          <a:ln/>
        </p:spPr>
        <p:txBody>
          <a:bodyPr wrap="square" rtlCol="0" anchor="t"/>
          <a:lstStyle/>
          <a:p>
            <a:pPr marL="0" indent="0">
              <a:buNone/>
            </a:pPr>
            <a:r>
              <a:rPr lang="en-US" sz="900" b="1" dirty="0">
                <a:solidFill>
                  <a:srgbClr val="0891B2"/>
                </a:solidFill>
                <a:latin typeface="Calibri" pitchFamily="34" charset="0"/>
                <a:ea typeface="Calibri" pitchFamily="34" charset="-122"/>
                <a:cs typeface="Calibri" pitchFamily="34" charset="-120"/>
              </a:rPr>
              <a:t>COUNTRY</a:t>
            </a:r>
            <a:endParaRPr lang="en-US" sz="900" dirty="0"/>
          </a:p>
          <a:p>
            <a:pPr marL="0" indent="0">
              <a:buNone/>
            </a:pPr>
            <a:r>
              <a:rPr lang="en-US" sz="1300" b="1" dirty="0">
                <a:solidFill>
                  <a:srgbClr val="1E293B"/>
                </a:solidFill>
                <a:latin typeface="Georgia" pitchFamily="34" charset="0"/>
                <a:ea typeface="Georgia" pitchFamily="34" charset="-122"/>
                <a:cs typeface="Georgia" pitchFamily="34" charset="-120"/>
              </a:rPr>
              <a:t>International</a:t>
            </a:r>
            <a:endParaRPr lang="en-US" sz="900" dirty="0"/>
          </a:p>
          <a:p>
            <a:pPr marL="0" indent="0">
              <a:buNone/>
            </a:pPr>
            <a:r>
              <a:rPr lang="en-US" sz="1000" dirty="0">
                <a:solidFill>
                  <a:srgbClr val="64748B"/>
                </a:solidFill>
                <a:latin typeface="Calibri" pitchFamily="34" charset="0"/>
                <a:ea typeface="Calibri" pitchFamily="34" charset="-122"/>
                <a:cs typeface="Calibri" pitchFamily="34" charset="-120"/>
              </a:rPr>
              <a:t>Foreign assets vs liabilities (IMF data). Globalization story.</a:t>
            </a:r>
            <a:endParaRPr lang="en-US" sz="900" dirty="0"/>
          </a:p>
        </p:txBody>
      </p:sp>
      <p:sp>
        <p:nvSpPr>
          <p:cNvPr id="18" name="Shape 16"/>
          <p:cNvSpPr/>
          <p:nvPr/>
        </p:nvSpPr>
        <p:spPr>
          <a:xfrm>
            <a:off x="3291840" y="3429000"/>
            <a:ext cx="2651760" cy="1417320"/>
          </a:xfrm>
          <a:prstGeom prst="rect">
            <a:avLst/>
          </a:prstGeom>
          <a:solidFill>
            <a:srgbClr val="CCFBF1"/>
          </a:solidFill>
          <a:ln w="12700">
            <a:solidFill>
              <a:srgbClr val="0891B2"/>
            </a:solidFill>
            <a:prstDash val="solid"/>
          </a:ln>
          <a:effectLst>
            <a:outerShdw blurRad="76200" dist="25400" dir="8100000" algn="bl" rotWithShape="0">
              <a:srgbClr val="000000">
                <a:alpha val="10000"/>
              </a:srgbClr>
            </a:outerShdw>
          </a:effectLst>
        </p:spPr>
        <p:txBody>
          <a:bodyPr/>
          <a:lstStyle/>
          <a:p>
            <a:endParaRPr lang="en-US"/>
          </a:p>
        </p:txBody>
      </p:sp>
      <p:sp>
        <p:nvSpPr>
          <p:cNvPr id="19" name="Text 17"/>
          <p:cNvSpPr/>
          <p:nvPr/>
        </p:nvSpPr>
        <p:spPr>
          <a:xfrm>
            <a:off x="3383280" y="3474720"/>
            <a:ext cx="2468880" cy="1325880"/>
          </a:xfrm>
          <a:prstGeom prst="rect">
            <a:avLst/>
          </a:prstGeom>
          <a:noFill/>
          <a:ln/>
        </p:spPr>
        <p:txBody>
          <a:bodyPr wrap="square" rtlCol="0" anchor="t"/>
          <a:lstStyle/>
          <a:p>
            <a:pPr marL="0" indent="0">
              <a:buNone/>
            </a:pPr>
            <a:r>
              <a:rPr lang="en-US" sz="900" b="1" dirty="0">
                <a:solidFill>
                  <a:srgbClr val="0891B2"/>
                </a:solidFill>
                <a:latin typeface="Calibri" pitchFamily="34" charset="0"/>
                <a:ea typeface="Calibri" pitchFamily="34" charset="-122"/>
                <a:cs typeface="Calibri" pitchFamily="34" charset="-120"/>
              </a:rPr>
              <a:t>STATE</a:t>
            </a:r>
            <a:endParaRPr lang="en-US" sz="900" dirty="0"/>
          </a:p>
          <a:p>
            <a:pPr marL="0" indent="0">
              <a:buNone/>
            </a:pPr>
            <a:r>
              <a:rPr lang="en-US" sz="1300" b="1" dirty="0">
                <a:solidFill>
                  <a:srgbClr val="1E293B"/>
                </a:solidFill>
                <a:latin typeface="Georgia" pitchFamily="34" charset="0"/>
                <a:ea typeface="Georgia" pitchFamily="34" charset="-122"/>
                <a:cs typeface="Georgia" pitchFamily="34" charset="-120"/>
              </a:rPr>
              <a:t>International + Interstate</a:t>
            </a:r>
            <a:endParaRPr lang="en-US" sz="900" dirty="0"/>
          </a:p>
          <a:p>
            <a:pPr marL="0" indent="0">
              <a:buNone/>
            </a:pPr>
            <a:r>
              <a:rPr lang="en-US" sz="1000" dirty="0">
                <a:solidFill>
                  <a:srgbClr val="64748B"/>
                </a:solidFill>
                <a:latin typeface="Calibri" pitchFamily="34" charset="0"/>
                <a:ea typeface="Calibri" pitchFamily="34" charset="-122"/>
                <a:cs typeface="Calibri" pitchFamily="34" charset="-120"/>
              </a:rPr>
              <a:t>Where people live vs work across state lines. 13-399x larger than international.</a:t>
            </a:r>
            <a:endParaRPr lang="en-US" sz="900" dirty="0"/>
          </a:p>
        </p:txBody>
      </p:sp>
      <p:sp>
        <p:nvSpPr>
          <p:cNvPr id="20" name="Shape 18"/>
          <p:cNvSpPr/>
          <p:nvPr/>
        </p:nvSpPr>
        <p:spPr>
          <a:xfrm>
            <a:off x="6126480" y="3429000"/>
            <a:ext cx="2651760" cy="1417320"/>
          </a:xfrm>
          <a:prstGeom prst="rect">
            <a:avLst/>
          </a:prstGeom>
          <a:solidFill>
            <a:srgbClr val="99F6E4"/>
          </a:solidFill>
          <a:ln w="12700">
            <a:solidFill>
              <a:srgbClr val="0891B2"/>
            </a:solidFill>
            <a:prstDash val="solid"/>
          </a:ln>
          <a:effectLst>
            <a:outerShdw blurRad="76200" dist="25400" dir="8100000" algn="bl" rotWithShape="0">
              <a:srgbClr val="000000">
                <a:alpha val="10000"/>
              </a:srgbClr>
            </a:outerShdw>
          </a:effectLst>
        </p:spPr>
        <p:txBody>
          <a:bodyPr/>
          <a:lstStyle/>
          <a:p>
            <a:endParaRPr lang="en-US"/>
          </a:p>
        </p:txBody>
      </p:sp>
      <p:sp>
        <p:nvSpPr>
          <p:cNvPr id="21" name="Text 19"/>
          <p:cNvSpPr/>
          <p:nvPr/>
        </p:nvSpPr>
        <p:spPr>
          <a:xfrm>
            <a:off x="6217920" y="3474720"/>
            <a:ext cx="2468880" cy="1325880"/>
          </a:xfrm>
          <a:prstGeom prst="rect">
            <a:avLst/>
          </a:prstGeom>
          <a:noFill/>
          <a:ln/>
        </p:spPr>
        <p:txBody>
          <a:bodyPr wrap="square" rtlCol="0" anchor="t"/>
          <a:lstStyle/>
          <a:p>
            <a:pPr marL="0" indent="0">
              <a:buNone/>
            </a:pPr>
            <a:r>
              <a:rPr lang="en-US" sz="900" b="1" dirty="0">
                <a:solidFill>
                  <a:srgbClr val="0891B2"/>
                </a:solidFill>
                <a:latin typeface="Calibri" pitchFamily="34" charset="0"/>
                <a:ea typeface="Calibri" pitchFamily="34" charset="-122"/>
                <a:cs typeface="Calibri" pitchFamily="34" charset="-120"/>
              </a:rPr>
              <a:t>COUNTY</a:t>
            </a:r>
            <a:endParaRPr lang="en-US" sz="900" dirty="0"/>
          </a:p>
          <a:p>
            <a:pPr marL="0" indent="0">
              <a:buNone/>
            </a:pPr>
            <a:r>
              <a:rPr lang="en-US" sz="1300" b="1" dirty="0">
                <a:solidFill>
                  <a:srgbClr val="1E293B"/>
                </a:solidFill>
                <a:latin typeface="Georgia" pitchFamily="34" charset="0"/>
                <a:ea typeface="Georgia" pitchFamily="34" charset="-122"/>
                <a:cs typeface="Georgia" pitchFamily="34" charset="-120"/>
              </a:rPr>
              <a:t>Commuter flows dominate</a:t>
            </a:r>
            <a:endParaRPr lang="en-US" sz="900" dirty="0"/>
          </a:p>
          <a:p>
            <a:pPr marL="0" indent="0">
              <a:buNone/>
            </a:pPr>
            <a:r>
              <a:rPr lang="en-US" sz="1000" dirty="0">
                <a:solidFill>
                  <a:srgbClr val="64748B"/>
                </a:solidFill>
                <a:latin typeface="Calibri" pitchFamily="34" charset="0"/>
                <a:ea typeface="Calibri" pitchFamily="34" charset="-122"/>
                <a:cs typeface="Calibri" pitchFamily="34" charset="-120"/>
              </a:rPr>
              <a:t>Income earned in one county, spent in another. The reality most Americans live.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Four Navigation Axes</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The site must support all four -- two primary, two supporting</a:t>
            </a:r>
            <a:endParaRPr lang="en-US" sz="1300" dirty="0"/>
          </a:p>
        </p:txBody>
      </p:sp>
      <p:sp>
        <p:nvSpPr>
          <p:cNvPr id="4" name="Shape 2"/>
          <p:cNvSpPr/>
          <p:nvPr/>
        </p:nvSpPr>
        <p:spPr>
          <a:xfrm>
            <a:off x="457200" y="1280160"/>
            <a:ext cx="393192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594360" y="1389888"/>
            <a:ext cx="777240" cy="201168"/>
          </a:xfrm>
          <a:prstGeom prst="rect">
            <a:avLst/>
          </a:prstGeom>
          <a:solidFill>
            <a:srgbClr val="059669"/>
          </a:solidFill>
          <a:ln/>
        </p:spPr>
        <p:txBody>
          <a:bodyPr/>
          <a:lstStyle/>
          <a:p>
            <a:endParaRPr lang="en-US"/>
          </a:p>
        </p:txBody>
      </p:sp>
      <p:sp>
        <p:nvSpPr>
          <p:cNvPr id="6" name="Text 4"/>
          <p:cNvSpPr/>
          <p:nvPr/>
        </p:nvSpPr>
        <p:spPr>
          <a:xfrm>
            <a:off x="594360" y="1389888"/>
            <a:ext cx="777240"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7" name="Text 5"/>
          <p:cNvSpPr/>
          <p:nvPr/>
        </p:nvSpPr>
        <p:spPr>
          <a:xfrm>
            <a:off x="1463040" y="1353312"/>
            <a:ext cx="2743200" cy="274320"/>
          </a:xfrm>
          <a:prstGeom prst="rect">
            <a:avLst/>
          </a:prstGeom>
          <a:noFill/>
          <a:ln/>
        </p:spPr>
        <p:txBody>
          <a:bodyPr wrap="square" lIns="0" tIns="0" rIns="0" bIns="0" rtlCol="0" anchor="ctr"/>
          <a:lstStyle/>
          <a:p>
            <a:pPr marL="0" indent="0">
              <a:buNone/>
            </a:pPr>
            <a:r>
              <a:rPr lang="en-US" sz="1800" b="1" dirty="0">
                <a:solidFill>
                  <a:srgbClr val="1E293B"/>
                </a:solidFill>
                <a:latin typeface="Georgia" pitchFamily="34" charset="0"/>
                <a:ea typeface="Georgia" pitchFamily="34" charset="-122"/>
                <a:cs typeface="Georgia" pitchFamily="34" charset="-120"/>
              </a:rPr>
              <a:t>Where</a:t>
            </a:r>
            <a:endParaRPr lang="en-US" sz="1800" dirty="0"/>
          </a:p>
        </p:txBody>
      </p:sp>
      <p:sp>
        <p:nvSpPr>
          <p:cNvPr id="8" name="Text 6"/>
          <p:cNvSpPr/>
          <p:nvPr/>
        </p:nvSpPr>
        <p:spPr>
          <a:xfrm>
            <a:off x="1463040" y="1600200"/>
            <a:ext cx="2743200" cy="18288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Spatial</a:t>
            </a:r>
            <a:endParaRPr lang="en-US" sz="1100" dirty="0"/>
          </a:p>
        </p:txBody>
      </p:sp>
      <p:sp>
        <p:nvSpPr>
          <p:cNvPr id="9" name="Text 7"/>
          <p:cNvSpPr/>
          <p:nvPr/>
        </p:nvSpPr>
        <p:spPr>
          <a:xfrm>
            <a:off x="640080" y="1828800"/>
            <a:ext cx="3566160" cy="9144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World &gt; Country &gt; State &gt; County</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The main navigation -- map or list, click to zoom.</a:t>
            </a:r>
            <a:endParaRPr lang="en-US" sz="1100" dirty="0"/>
          </a:p>
        </p:txBody>
      </p:sp>
      <p:sp>
        <p:nvSpPr>
          <p:cNvPr id="10" name="Shape 8"/>
          <p:cNvSpPr/>
          <p:nvPr/>
        </p:nvSpPr>
        <p:spPr>
          <a:xfrm>
            <a:off x="4754880" y="1280160"/>
            <a:ext cx="393192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11" name="Shape 9"/>
          <p:cNvSpPr/>
          <p:nvPr/>
        </p:nvSpPr>
        <p:spPr>
          <a:xfrm>
            <a:off x="4892040" y="1389888"/>
            <a:ext cx="777240" cy="201168"/>
          </a:xfrm>
          <a:prstGeom prst="rect">
            <a:avLst/>
          </a:prstGeom>
          <a:solidFill>
            <a:srgbClr val="2563EB"/>
          </a:solidFill>
          <a:ln/>
        </p:spPr>
        <p:txBody>
          <a:bodyPr/>
          <a:lstStyle/>
          <a:p>
            <a:endParaRPr lang="en-US"/>
          </a:p>
        </p:txBody>
      </p:sp>
      <p:sp>
        <p:nvSpPr>
          <p:cNvPr id="12" name="Text 10"/>
          <p:cNvSpPr/>
          <p:nvPr/>
        </p:nvSpPr>
        <p:spPr>
          <a:xfrm>
            <a:off x="4892040" y="1389888"/>
            <a:ext cx="777240"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13" name="Text 11"/>
          <p:cNvSpPr/>
          <p:nvPr/>
        </p:nvSpPr>
        <p:spPr>
          <a:xfrm>
            <a:off x="5760720" y="1353312"/>
            <a:ext cx="2743200" cy="274320"/>
          </a:xfrm>
          <a:prstGeom prst="rect">
            <a:avLst/>
          </a:prstGeom>
          <a:noFill/>
          <a:ln/>
        </p:spPr>
        <p:txBody>
          <a:bodyPr wrap="square" lIns="0" tIns="0" rIns="0" bIns="0" rtlCol="0" anchor="ctr"/>
          <a:lstStyle/>
          <a:p>
            <a:pPr marL="0" indent="0">
              <a:buNone/>
            </a:pPr>
            <a:r>
              <a:rPr lang="en-US" sz="1800" b="1" dirty="0">
                <a:solidFill>
                  <a:srgbClr val="1E293B"/>
                </a:solidFill>
                <a:latin typeface="Georgia" pitchFamily="34" charset="0"/>
                <a:ea typeface="Georgia" pitchFamily="34" charset="-122"/>
                <a:cs typeface="Georgia" pitchFamily="34" charset="-120"/>
              </a:rPr>
              <a:t>What</a:t>
            </a:r>
            <a:endParaRPr lang="en-US" sz="1800" dirty="0"/>
          </a:p>
        </p:txBody>
      </p:sp>
      <p:sp>
        <p:nvSpPr>
          <p:cNvPr id="14" name="Text 12"/>
          <p:cNvSpPr/>
          <p:nvPr/>
        </p:nvSpPr>
        <p:spPr>
          <a:xfrm>
            <a:off x="5760720" y="1600200"/>
            <a:ext cx="2743200" cy="18288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Thematic</a:t>
            </a:r>
            <a:endParaRPr lang="en-US" sz="1100" dirty="0"/>
          </a:p>
        </p:txBody>
      </p:sp>
      <p:sp>
        <p:nvSpPr>
          <p:cNvPr id="15" name="Text 13"/>
          <p:cNvSpPr/>
          <p:nvPr/>
        </p:nvSpPr>
        <p:spPr>
          <a:xfrm>
            <a:off x="4937760" y="1828800"/>
            <a:ext cx="3566160" cy="9144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Balance sheet &gt; Claim-rights / Substantive rights &gt; branches &gt; commodities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415-node collapsible tree.</a:t>
            </a:r>
            <a:endParaRPr lang="en-US" sz="1100" dirty="0"/>
          </a:p>
        </p:txBody>
      </p:sp>
      <p:sp>
        <p:nvSpPr>
          <p:cNvPr id="16" name="Shape 14"/>
          <p:cNvSpPr/>
          <p:nvPr/>
        </p:nvSpPr>
        <p:spPr>
          <a:xfrm>
            <a:off x="457200" y="3017520"/>
            <a:ext cx="393192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594360" y="3127248"/>
            <a:ext cx="777240" cy="201168"/>
          </a:xfrm>
          <a:prstGeom prst="rect">
            <a:avLst/>
          </a:prstGeom>
          <a:solidFill>
            <a:srgbClr val="D97706"/>
          </a:solidFill>
          <a:ln/>
        </p:spPr>
        <p:txBody>
          <a:bodyPr/>
          <a:lstStyle/>
          <a:p>
            <a:endParaRPr lang="en-US"/>
          </a:p>
        </p:txBody>
      </p:sp>
      <p:sp>
        <p:nvSpPr>
          <p:cNvPr id="18" name="Text 16"/>
          <p:cNvSpPr/>
          <p:nvPr/>
        </p:nvSpPr>
        <p:spPr>
          <a:xfrm>
            <a:off x="594360" y="3127248"/>
            <a:ext cx="777240"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SUPPORTING</a:t>
            </a:r>
            <a:endParaRPr lang="en-US" sz="800" dirty="0"/>
          </a:p>
        </p:txBody>
      </p:sp>
      <p:sp>
        <p:nvSpPr>
          <p:cNvPr id="19" name="Text 17"/>
          <p:cNvSpPr/>
          <p:nvPr/>
        </p:nvSpPr>
        <p:spPr>
          <a:xfrm>
            <a:off x="1463040" y="3090672"/>
            <a:ext cx="2743200" cy="274320"/>
          </a:xfrm>
          <a:prstGeom prst="rect">
            <a:avLst/>
          </a:prstGeom>
          <a:noFill/>
          <a:ln/>
        </p:spPr>
        <p:txBody>
          <a:bodyPr wrap="square" lIns="0" tIns="0" rIns="0" bIns="0" rtlCol="0" anchor="ctr"/>
          <a:lstStyle/>
          <a:p>
            <a:pPr marL="0" indent="0">
              <a:buNone/>
            </a:pPr>
            <a:r>
              <a:rPr lang="en-US" sz="1800" b="1" dirty="0">
                <a:solidFill>
                  <a:srgbClr val="1E293B"/>
                </a:solidFill>
                <a:latin typeface="Georgia" pitchFamily="34" charset="0"/>
                <a:ea typeface="Georgia" pitchFamily="34" charset="-122"/>
                <a:cs typeface="Georgia" pitchFamily="34" charset="-120"/>
              </a:rPr>
              <a:t>Source</a:t>
            </a:r>
            <a:endParaRPr lang="en-US" sz="1800" dirty="0"/>
          </a:p>
        </p:txBody>
      </p:sp>
      <p:sp>
        <p:nvSpPr>
          <p:cNvPr id="20" name="Text 18"/>
          <p:cNvSpPr/>
          <p:nvPr/>
        </p:nvSpPr>
        <p:spPr>
          <a:xfrm>
            <a:off x="1463040" y="3337560"/>
            <a:ext cx="2743200" cy="18288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Referral</a:t>
            </a:r>
            <a:endParaRPr lang="en-US" sz="1100" dirty="0"/>
          </a:p>
        </p:txBody>
      </p:sp>
      <p:sp>
        <p:nvSpPr>
          <p:cNvPr id="21" name="Text 19"/>
          <p:cNvSpPr/>
          <p:nvPr/>
        </p:nvSpPr>
        <p:spPr>
          <a:xfrm>
            <a:off x="640080" y="3566160"/>
            <a:ext cx="3566160" cy="9144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Every number links to its origin agency.</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Users can leave the site to verify, then come back. Inline footnotes, not a bibliography.</a:t>
            </a:r>
            <a:endParaRPr lang="en-US" sz="1100" dirty="0"/>
          </a:p>
        </p:txBody>
      </p:sp>
      <p:sp>
        <p:nvSpPr>
          <p:cNvPr id="22" name="Shape 20"/>
          <p:cNvSpPr/>
          <p:nvPr/>
        </p:nvSpPr>
        <p:spPr>
          <a:xfrm>
            <a:off x="4754880" y="3017520"/>
            <a:ext cx="3931920" cy="1554480"/>
          </a:xfrm>
          <a:prstGeom prst="rect">
            <a:avLst/>
          </a:prstGeom>
          <a:solidFill>
            <a:srgbClr val="FFFFFF"/>
          </a:solidFill>
          <a:ln w="12700">
            <a:solidFill>
              <a:srgbClr val="E2E8F0"/>
            </a:solidFill>
            <a:prstDash val="solid"/>
          </a:ln>
          <a:effectLst>
            <a:outerShdw blurRad="76200" dist="25400" dir="8100000" algn="bl" rotWithShape="0">
              <a:srgbClr val="000000">
                <a:alpha val="10000"/>
              </a:srgbClr>
            </a:outerShdw>
          </a:effectLst>
        </p:spPr>
        <p:txBody>
          <a:bodyPr/>
          <a:lstStyle/>
          <a:p>
            <a:endParaRPr lang="en-US"/>
          </a:p>
        </p:txBody>
      </p:sp>
      <p:sp>
        <p:nvSpPr>
          <p:cNvPr id="23" name="Shape 21"/>
          <p:cNvSpPr/>
          <p:nvPr/>
        </p:nvSpPr>
        <p:spPr>
          <a:xfrm>
            <a:off x="4892040" y="3127248"/>
            <a:ext cx="777240" cy="201168"/>
          </a:xfrm>
          <a:prstGeom prst="rect">
            <a:avLst/>
          </a:prstGeom>
          <a:solidFill>
            <a:srgbClr val="7C3AED"/>
          </a:solidFill>
          <a:ln/>
        </p:spPr>
        <p:txBody>
          <a:bodyPr/>
          <a:lstStyle/>
          <a:p>
            <a:endParaRPr lang="en-US"/>
          </a:p>
        </p:txBody>
      </p:sp>
      <p:sp>
        <p:nvSpPr>
          <p:cNvPr id="24" name="Text 22"/>
          <p:cNvSpPr/>
          <p:nvPr/>
        </p:nvSpPr>
        <p:spPr>
          <a:xfrm>
            <a:off x="4892040" y="3127248"/>
            <a:ext cx="777240" cy="201168"/>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SUPPORTING</a:t>
            </a:r>
            <a:endParaRPr lang="en-US" sz="800" dirty="0"/>
          </a:p>
        </p:txBody>
      </p:sp>
      <p:sp>
        <p:nvSpPr>
          <p:cNvPr id="25" name="Text 23"/>
          <p:cNvSpPr/>
          <p:nvPr/>
        </p:nvSpPr>
        <p:spPr>
          <a:xfrm>
            <a:off x="5760720" y="3090672"/>
            <a:ext cx="2743200" cy="274320"/>
          </a:xfrm>
          <a:prstGeom prst="rect">
            <a:avLst/>
          </a:prstGeom>
          <a:noFill/>
          <a:ln/>
        </p:spPr>
        <p:txBody>
          <a:bodyPr wrap="square" lIns="0" tIns="0" rIns="0" bIns="0" rtlCol="0" anchor="ctr"/>
          <a:lstStyle/>
          <a:p>
            <a:pPr marL="0" indent="0">
              <a:buNone/>
            </a:pPr>
            <a:r>
              <a:rPr lang="en-US" sz="1800" b="1" dirty="0">
                <a:solidFill>
                  <a:srgbClr val="1E293B"/>
                </a:solidFill>
                <a:latin typeface="Georgia" pitchFamily="34" charset="0"/>
                <a:ea typeface="Georgia" pitchFamily="34" charset="-122"/>
                <a:cs typeface="Georgia" pitchFamily="34" charset="-120"/>
              </a:rPr>
              <a:t>Methodology</a:t>
            </a:r>
            <a:endParaRPr lang="en-US" sz="1800" dirty="0"/>
          </a:p>
        </p:txBody>
      </p:sp>
      <p:sp>
        <p:nvSpPr>
          <p:cNvPr id="26" name="Text 24"/>
          <p:cNvSpPr/>
          <p:nvPr/>
        </p:nvSpPr>
        <p:spPr>
          <a:xfrm>
            <a:off x="5760720" y="3337560"/>
            <a:ext cx="2743200" cy="18288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OGs + NUSAP</a:t>
            </a:r>
            <a:endParaRPr lang="en-US" sz="1100" dirty="0"/>
          </a:p>
        </p:txBody>
      </p:sp>
      <p:sp>
        <p:nvSpPr>
          <p:cNvPr id="27" name="Text 25"/>
          <p:cNvSpPr/>
          <p:nvPr/>
        </p:nvSpPr>
        <p:spPr>
          <a:xfrm>
            <a:off x="4937760" y="3566160"/>
            <a:ext cx="3566160" cy="9144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10 Operational Guidelines (accordion).</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NUSAP data-quality metadata on every value.</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Progressive disclosure: hover &gt; detail &gt; full pedigree.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109728"/>
            <a:ext cx="7680960" cy="347472"/>
          </a:xfrm>
          <a:prstGeom prst="rect">
            <a:avLst/>
          </a:prstGeom>
          <a:noFill/>
          <a:ln/>
        </p:spPr>
        <p:txBody>
          <a:bodyPr wrap="square"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The What Hierarchy -- Balance Sheet Structure</a:t>
            </a:r>
            <a:endParaRPr lang="en-US" sz="2200" dirty="0"/>
          </a:p>
        </p:txBody>
      </p:sp>
      <p:sp>
        <p:nvSpPr>
          <p:cNvPr id="3" name="Text 1"/>
          <p:cNvSpPr/>
          <p:nvPr/>
        </p:nvSpPr>
        <p:spPr>
          <a:xfrm>
            <a:off x="731520" y="457200"/>
            <a:ext cx="7680960" cy="2286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415 nodes. Collapsible tree on the website -- shown here as the balance sheet it encodes.</a:t>
            </a:r>
            <a:endParaRPr lang="en-US" sz="1100" dirty="0"/>
          </a:p>
        </p:txBody>
      </p:sp>
      <p:sp>
        <p:nvSpPr>
          <p:cNvPr id="4" name="Shape 2"/>
          <p:cNvSpPr/>
          <p:nvPr/>
        </p:nvSpPr>
        <p:spPr>
          <a:xfrm>
            <a:off x="320040" y="749808"/>
            <a:ext cx="4160520" cy="256032"/>
          </a:xfrm>
          <a:prstGeom prst="rect">
            <a:avLst/>
          </a:prstGeom>
          <a:solidFill>
            <a:srgbClr val="059669"/>
          </a:solidFill>
          <a:ln/>
        </p:spPr>
        <p:txBody>
          <a:bodyPr/>
          <a:lstStyle/>
          <a:p>
            <a:endParaRPr lang="en-US"/>
          </a:p>
        </p:txBody>
      </p:sp>
      <p:sp>
        <p:nvSpPr>
          <p:cNvPr id="5" name="Text 3"/>
          <p:cNvSpPr/>
          <p:nvPr/>
        </p:nvSpPr>
        <p:spPr>
          <a:xfrm>
            <a:off x="320040" y="749808"/>
            <a:ext cx="4160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  ASSETS</a:t>
            </a:r>
            <a:endParaRPr lang="en-US" sz="1100" dirty="0"/>
          </a:p>
        </p:txBody>
      </p:sp>
      <p:sp>
        <p:nvSpPr>
          <p:cNvPr id="6" name="Shape 4"/>
          <p:cNvSpPr/>
          <p:nvPr/>
        </p:nvSpPr>
        <p:spPr>
          <a:xfrm>
            <a:off x="4663440" y="749808"/>
            <a:ext cx="4160520" cy="256032"/>
          </a:xfrm>
          <a:prstGeom prst="rect">
            <a:avLst/>
          </a:prstGeom>
          <a:solidFill>
            <a:srgbClr val="DC2626"/>
          </a:solidFill>
          <a:ln/>
        </p:spPr>
        <p:txBody>
          <a:bodyPr/>
          <a:lstStyle/>
          <a:p>
            <a:endParaRPr lang="en-US"/>
          </a:p>
        </p:txBody>
      </p:sp>
      <p:sp>
        <p:nvSpPr>
          <p:cNvPr id="7" name="Text 5"/>
          <p:cNvSpPr/>
          <p:nvPr/>
        </p:nvSpPr>
        <p:spPr>
          <a:xfrm>
            <a:off x="4663440" y="749808"/>
            <a:ext cx="416052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  LIABILITIES  (to whom?)</a:t>
            </a:r>
            <a:endParaRPr lang="en-US" sz="1100" dirty="0"/>
          </a:p>
        </p:txBody>
      </p:sp>
      <p:sp>
        <p:nvSpPr>
          <p:cNvPr id="8" name="Shape 6"/>
          <p:cNvSpPr/>
          <p:nvPr/>
        </p:nvSpPr>
        <p:spPr>
          <a:xfrm>
            <a:off x="320040" y="1024128"/>
            <a:ext cx="4160520" cy="3749040"/>
          </a:xfrm>
          <a:prstGeom prst="rect">
            <a:avLst/>
          </a:prstGeom>
          <a:solidFill>
            <a:srgbClr val="F8FAFC"/>
          </a:solidFill>
          <a:ln w="12700">
            <a:solidFill>
              <a:srgbClr val="E2E8F0"/>
            </a:solidFill>
            <a:prstDash val="solid"/>
          </a:ln>
        </p:spPr>
        <p:txBody>
          <a:bodyPr/>
          <a:lstStyle/>
          <a:p>
            <a:endParaRPr lang="en-US"/>
          </a:p>
        </p:txBody>
      </p:sp>
      <p:sp>
        <p:nvSpPr>
          <p:cNvPr id="9" name="Shape 7"/>
          <p:cNvSpPr/>
          <p:nvPr/>
        </p:nvSpPr>
        <p:spPr>
          <a:xfrm>
            <a:off x="4663440" y="1024128"/>
            <a:ext cx="4160520" cy="3749040"/>
          </a:xfrm>
          <a:prstGeom prst="rect">
            <a:avLst/>
          </a:prstGeom>
          <a:solidFill>
            <a:srgbClr val="F8FAFC"/>
          </a:solidFill>
          <a:ln w="12700">
            <a:solidFill>
              <a:srgbClr val="E2E8F0"/>
            </a:solidFill>
            <a:prstDash val="solid"/>
          </a:ln>
        </p:spPr>
        <p:txBody>
          <a:bodyPr/>
          <a:lstStyle/>
          <a:p>
            <a:endParaRPr lang="en-US"/>
          </a:p>
        </p:txBody>
      </p:sp>
      <p:sp>
        <p:nvSpPr>
          <p:cNvPr id="10" name="Shape 8"/>
          <p:cNvSpPr/>
          <p:nvPr/>
        </p:nvSpPr>
        <p:spPr>
          <a:xfrm>
            <a:off x="4572000" y="749808"/>
            <a:ext cx="0" cy="4023360"/>
          </a:xfrm>
          <a:prstGeom prst="line">
            <a:avLst/>
          </a:prstGeom>
          <a:noFill/>
          <a:ln w="25400">
            <a:solidFill>
              <a:srgbClr val="1E293B"/>
            </a:solidFill>
            <a:prstDash val="solid"/>
          </a:ln>
        </p:spPr>
        <p:txBody>
          <a:bodyPr/>
          <a:lstStyle/>
          <a:p>
            <a:endParaRPr lang="en-US"/>
          </a:p>
        </p:txBody>
      </p:sp>
      <p:sp>
        <p:nvSpPr>
          <p:cNvPr id="11" name="Shape 9"/>
          <p:cNvSpPr/>
          <p:nvPr/>
        </p:nvSpPr>
        <p:spPr>
          <a:xfrm>
            <a:off x="329184" y="1147572"/>
            <a:ext cx="59436" cy="59436"/>
          </a:xfrm>
          <a:prstGeom prst="ellipse">
            <a:avLst/>
          </a:prstGeom>
          <a:solidFill>
            <a:srgbClr val="2563EB"/>
          </a:solidFill>
          <a:ln/>
        </p:spPr>
        <p:txBody>
          <a:bodyPr/>
          <a:lstStyle/>
          <a:p>
            <a:endParaRPr lang="en-US"/>
          </a:p>
        </p:txBody>
      </p:sp>
      <p:sp>
        <p:nvSpPr>
          <p:cNvPr id="12" name="Text 10"/>
          <p:cNvSpPr/>
          <p:nvPr/>
        </p:nvSpPr>
        <p:spPr>
          <a:xfrm>
            <a:off x="429768" y="1097280"/>
            <a:ext cx="3977640" cy="196596"/>
          </a:xfrm>
          <a:prstGeom prst="rect">
            <a:avLst/>
          </a:prstGeom>
          <a:noFill/>
          <a:ln/>
        </p:spPr>
        <p:txBody>
          <a:bodyPr wrap="square" lIns="0" tIns="0" rIns="0" bIns="0" rtlCol="0" anchor="ctr"/>
          <a:lstStyle/>
          <a:p>
            <a:pPr marL="0" indent="0">
              <a:buNone/>
            </a:pPr>
            <a:r>
              <a:rPr lang="en-US" sz="1100" b="1" dirty="0">
                <a:solidFill>
                  <a:srgbClr val="2563EB"/>
                </a:solidFill>
                <a:latin typeface="Calibri" pitchFamily="34" charset="0"/>
                <a:ea typeface="Calibri" pitchFamily="34" charset="-122"/>
                <a:cs typeface="Calibri" pitchFamily="34" charset="-120"/>
              </a:rPr>
              <a:t>1.1.1  Claim-Rights</a:t>
            </a:r>
            <a:endParaRPr lang="en-US" sz="1100" dirty="0"/>
          </a:p>
        </p:txBody>
      </p:sp>
      <p:sp>
        <p:nvSpPr>
          <p:cNvPr id="13" name="Shape 11"/>
          <p:cNvSpPr/>
          <p:nvPr/>
        </p:nvSpPr>
        <p:spPr>
          <a:xfrm>
            <a:off x="585216" y="1344168"/>
            <a:ext cx="59436" cy="59436"/>
          </a:xfrm>
          <a:prstGeom prst="ellipse">
            <a:avLst/>
          </a:prstGeom>
          <a:solidFill>
            <a:srgbClr val="1E293B"/>
          </a:solidFill>
          <a:ln/>
        </p:spPr>
        <p:txBody>
          <a:bodyPr/>
          <a:lstStyle/>
          <a:p>
            <a:endParaRPr lang="en-US"/>
          </a:p>
        </p:txBody>
      </p:sp>
      <p:sp>
        <p:nvSpPr>
          <p:cNvPr id="14" name="Text 12"/>
          <p:cNvSpPr/>
          <p:nvPr/>
        </p:nvSpPr>
        <p:spPr>
          <a:xfrm>
            <a:off x="685800" y="1293876"/>
            <a:ext cx="3721608" cy="1965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1.1.1.2  PA  Produced Assets</a:t>
            </a:r>
            <a:endParaRPr lang="en-US" sz="1000" dirty="0"/>
          </a:p>
        </p:txBody>
      </p:sp>
      <p:sp>
        <p:nvSpPr>
          <p:cNvPr id="15" name="Shape 13"/>
          <p:cNvSpPr/>
          <p:nvPr/>
        </p:nvSpPr>
        <p:spPr>
          <a:xfrm>
            <a:off x="585216" y="1540764"/>
            <a:ext cx="59436" cy="59436"/>
          </a:xfrm>
          <a:prstGeom prst="ellipse">
            <a:avLst/>
          </a:prstGeom>
          <a:solidFill>
            <a:srgbClr val="1E293B"/>
          </a:solidFill>
          <a:ln/>
        </p:spPr>
        <p:txBody>
          <a:bodyPr/>
          <a:lstStyle/>
          <a:p>
            <a:endParaRPr lang="en-US"/>
          </a:p>
        </p:txBody>
      </p:sp>
      <p:sp>
        <p:nvSpPr>
          <p:cNvPr id="16" name="Text 14"/>
          <p:cNvSpPr/>
          <p:nvPr/>
        </p:nvSpPr>
        <p:spPr>
          <a:xfrm>
            <a:off x="685800" y="1490472"/>
            <a:ext cx="3721608" cy="1965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1.1.1.3  NC  Natural Capital</a:t>
            </a:r>
            <a:endParaRPr lang="en-US" sz="1000" dirty="0"/>
          </a:p>
        </p:txBody>
      </p:sp>
      <p:sp>
        <p:nvSpPr>
          <p:cNvPr id="17" name="Text 15"/>
          <p:cNvSpPr/>
          <p:nvPr/>
        </p:nvSpPr>
        <p:spPr>
          <a:xfrm>
            <a:off x="941832" y="1687068"/>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Fossil Fuels | Minerals (31) | Fisheries</a:t>
            </a:r>
            <a:endParaRPr lang="en-US" sz="900" dirty="0"/>
          </a:p>
        </p:txBody>
      </p:sp>
      <p:sp>
        <p:nvSpPr>
          <p:cNvPr id="18" name="Text 16"/>
          <p:cNvSpPr/>
          <p:nvPr/>
        </p:nvSpPr>
        <p:spPr>
          <a:xfrm>
            <a:off x="941832" y="1883664"/>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Ag Land | Forests | Forest Land</a:t>
            </a:r>
            <a:endParaRPr lang="en-US" sz="900" dirty="0"/>
          </a:p>
        </p:txBody>
      </p:sp>
      <p:sp>
        <p:nvSpPr>
          <p:cNvPr id="19" name="Shape 17"/>
          <p:cNvSpPr/>
          <p:nvPr/>
        </p:nvSpPr>
        <p:spPr>
          <a:xfrm>
            <a:off x="585216" y="2130552"/>
            <a:ext cx="59436" cy="59436"/>
          </a:xfrm>
          <a:prstGeom prst="ellipse">
            <a:avLst/>
          </a:prstGeom>
          <a:solidFill>
            <a:srgbClr val="0891B2"/>
          </a:solidFill>
          <a:ln/>
        </p:spPr>
        <p:txBody>
          <a:bodyPr/>
          <a:lstStyle/>
          <a:p>
            <a:endParaRPr lang="en-US"/>
          </a:p>
        </p:txBody>
      </p:sp>
      <p:sp>
        <p:nvSpPr>
          <p:cNvPr id="20" name="Text 18"/>
          <p:cNvSpPr/>
          <p:nvPr/>
        </p:nvSpPr>
        <p:spPr>
          <a:xfrm>
            <a:off x="685800" y="2080260"/>
            <a:ext cx="3721608" cy="196596"/>
          </a:xfrm>
          <a:prstGeom prst="rect">
            <a:avLst/>
          </a:prstGeom>
          <a:noFill/>
          <a:ln/>
        </p:spPr>
        <p:txBody>
          <a:bodyPr wrap="square" lIns="0" tIns="0" rIns="0" bIns="0" rtlCol="0" anchor="ctr"/>
          <a:lstStyle/>
          <a:p>
            <a:pPr marL="0" indent="0">
              <a:buNone/>
            </a:pPr>
            <a:r>
              <a:rPr lang="en-US" sz="1000" dirty="0">
                <a:solidFill>
                  <a:srgbClr val="0891B2"/>
                </a:solidFill>
                <a:latin typeface="Calibri" pitchFamily="34" charset="0"/>
                <a:ea typeface="Calibri" pitchFamily="34" charset="-122"/>
                <a:cs typeface="Calibri" pitchFamily="34" charset="-120"/>
              </a:rPr>
              <a:t>1.1.1.4  Cross-Border Claim-Rights</a:t>
            </a:r>
            <a:endParaRPr lang="en-US" sz="1000" dirty="0"/>
          </a:p>
        </p:txBody>
      </p:sp>
      <p:sp>
        <p:nvSpPr>
          <p:cNvPr id="21" name="Text 19"/>
          <p:cNvSpPr/>
          <p:nvPr/>
        </p:nvSpPr>
        <p:spPr>
          <a:xfrm>
            <a:off x="941832" y="2276856"/>
            <a:ext cx="3465576" cy="196596"/>
          </a:xfrm>
          <a:prstGeom prst="rect">
            <a:avLst/>
          </a:prstGeom>
          <a:noFill/>
          <a:ln/>
        </p:spPr>
        <p:txBody>
          <a:bodyPr wrap="square" lIns="0" tIns="0" rIns="0" bIns="0" rtlCol="0" anchor="ctr"/>
          <a:lstStyle/>
          <a:p>
            <a:pPr marL="0" indent="0">
              <a:buNone/>
            </a:pPr>
            <a:r>
              <a:rPr lang="en-US" sz="900" dirty="0">
                <a:solidFill>
                  <a:srgbClr val="0891B2"/>
                </a:solidFill>
                <a:latin typeface="Calibri" pitchFamily="34" charset="0"/>
                <a:ea typeface="Calibri" pitchFamily="34" charset="-122"/>
                <a:cs typeface="Calibri" pitchFamily="34" charset="-120"/>
              </a:rPr>
              <a:t>      (Gross Foreign Assets)</a:t>
            </a:r>
            <a:endParaRPr lang="en-US" sz="900" dirty="0"/>
          </a:p>
        </p:txBody>
      </p:sp>
      <p:sp>
        <p:nvSpPr>
          <p:cNvPr id="22" name="Text 20"/>
          <p:cNvSpPr/>
          <p:nvPr/>
        </p:nvSpPr>
        <p:spPr>
          <a:xfrm>
            <a:off x="941832" y="2473452"/>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Enforceability varies across jurisdictions</a:t>
            </a:r>
            <a:endParaRPr lang="en-US" sz="900" dirty="0"/>
          </a:p>
        </p:txBody>
      </p:sp>
      <p:sp>
        <p:nvSpPr>
          <p:cNvPr id="23" name="Shape 21"/>
          <p:cNvSpPr/>
          <p:nvPr/>
        </p:nvSpPr>
        <p:spPr>
          <a:xfrm>
            <a:off x="329184" y="2720340"/>
            <a:ext cx="59436" cy="59436"/>
          </a:xfrm>
          <a:prstGeom prst="ellipse">
            <a:avLst/>
          </a:prstGeom>
          <a:solidFill>
            <a:srgbClr val="D97706"/>
          </a:solidFill>
          <a:ln/>
        </p:spPr>
        <p:txBody>
          <a:bodyPr/>
          <a:lstStyle/>
          <a:p>
            <a:endParaRPr lang="en-US"/>
          </a:p>
        </p:txBody>
      </p:sp>
      <p:sp>
        <p:nvSpPr>
          <p:cNvPr id="24" name="Text 22"/>
          <p:cNvSpPr/>
          <p:nvPr/>
        </p:nvSpPr>
        <p:spPr>
          <a:xfrm>
            <a:off x="429768" y="2670048"/>
            <a:ext cx="3977640" cy="196596"/>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1.1.2  Substantive Rights</a:t>
            </a:r>
            <a:endParaRPr lang="en-US" sz="1100" dirty="0"/>
          </a:p>
        </p:txBody>
      </p:sp>
      <p:sp>
        <p:nvSpPr>
          <p:cNvPr id="25" name="Shape 23"/>
          <p:cNvSpPr/>
          <p:nvPr/>
        </p:nvSpPr>
        <p:spPr>
          <a:xfrm>
            <a:off x="585216" y="2916936"/>
            <a:ext cx="59436" cy="59436"/>
          </a:xfrm>
          <a:prstGeom prst="ellipse">
            <a:avLst/>
          </a:prstGeom>
          <a:solidFill>
            <a:srgbClr val="1E293B"/>
          </a:solidFill>
          <a:ln/>
        </p:spPr>
        <p:txBody>
          <a:bodyPr/>
          <a:lstStyle/>
          <a:p>
            <a:endParaRPr lang="en-US"/>
          </a:p>
        </p:txBody>
      </p:sp>
      <p:sp>
        <p:nvSpPr>
          <p:cNvPr id="26" name="Text 24"/>
          <p:cNvSpPr/>
          <p:nvPr/>
        </p:nvSpPr>
        <p:spPr>
          <a:xfrm>
            <a:off x="685800" y="2866644"/>
            <a:ext cx="3721608" cy="1965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1.1.2.1  HR  Human Resources</a:t>
            </a:r>
            <a:endParaRPr lang="en-US" sz="1000" dirty="0"/>
          </a:p>
        </p:txBody>
      </p:sp>
      <p:sp>
        <p:nvSpPr>
          <p:cNvPr id="27" name="Text 25"/>
          <p:cNvSpPr/>
          <p:nvPr/>
        </p:nvSpPr>
        <p:spPr>
          <a:xfrm>
            <a:off x="941832" y="3063240"/>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(education + health)</a:t>
            </a:r>
            <a:endParaRPr lang="en-US" sz="900" dirty="0"/>
          </a:p>
        </p:txBody>
      </p:sp>
      <p:sp>
        <p:nvSpPr>
          <p:cNvPr id="28" name="Shape 26"/>
          <p:cNvSpPr/>
          <p:nvPr/>
        </p:nvSpPr>
        <p:spPr>
          <a:xfrm>
            <a:off x="585216" y="3310128"/>
            <a:ext cx="59436" cy="59436"/>
          </a:xfrm>
          <a:prstGeom prst="ellipse">
            <a:avLst/>
          </a:prstGeom>
          <a:solidFill>
            <a:srgbClr val="1E293B"/>
          </a:solidFill>
          <a:ln/>
        </p:spPr>
        <p:txBody>
          <a:bodyPr/>
          <a:lstStyle/>
          <a:p>
            <a:endParaRPr lang="en-US"/>
          </a:p>
        </p:txBody>
      </p:sp>
      <p:sp>
        <p:nvSpPr>
          <p:cNvPr id="29" name="Text 27"/>
          <p:cNvSpPr/>
          <p:nvPr/>
        </p:nvSpPr>
        <p:spPr>
          <a:xfrm>
            <a:off x="685800" y="3259836"/>
            <a:ext cx="3721608" cy="196596"/>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1.1.2.2  SR  Other Substantive Rights</a:t>
            </a:r>
            <a:endParaRPr lang="en-US" sz="1000" dirty="0"/>
          </a:p>
        </p:txBody>
      </p:sp>
      <p:sp>
        <p:nvSpPr>
          <p:cNvPr id="30" name="Text 28"/>
          <p:cNvSpPr/>
          <p:nvPr/>
        </p:nvSpPr>
        <p:spPr>
          <a:xfrm>
            <a:off x="941832" y="3456432"/>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'Free' services of nature (ES)</a:t>
            </a:r>
            <a:endParaRPr lang="en-US" sz="900" dirty="0"/>
          </a:p>
        </p:txBody>
      </p:sp>
      <p:sp>
        <p:nvSpPr>
          <p:cNvPr id="31" name="Text 29"/>
          <p:cNvSpPr/>
          <p:nvPr/>
        </p:nvSpPr>
        <p:spPr>
          <a:xfrm>
            <a:off x="941832" y="3653028"/>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'Free' trust infrastructure</a:t>
            </a:r>
            <a:endParaRPr lang="en-US" sz="900" dirty="0"/>
          </a:p>
        </p:txBody>
      </p:sp>
      <p:sp>
        <p:nvSpPr>
          <p:cNvPr id="32" name="Shape 30"/>
          <p:cNvSpPr/>
          <p:nvPr/>
        </p:nvSpPr>
        <p:spPr>
          <a:xfrm>
            <a:off x="4672584" y="1147572"/>
            <a:ext cx="59436" cy="59436"/>
          </a:xfrm>
          <a:prstGeom prst="ellipse">
            <a:avLst/>
          </a:prstGeom>
          <a:solidFill>
            <a:srgbClr val="DC2626"/>
          </a:solidFill>
          <a:ln/>
        </p:spPr>
        <p:txBody>
          <a:bodyPr/>
          <a:lstStyle/>
          <a:p>
            <a:endParaRPr lang="en-US"/>
          </a:p>
        </p:txBody>
      </p:sp>
      <p:sp>
        <p:nvSpPr>
          <p:cNvPr id="33" name="Text 31"/>
          <p:cNvSpPr/>
          <p:nvPr/>
        </p:nvSpPr>
        <p:spPr>
          <a:xfrm>
            <a:off x="4773168" y="1097280"/>
            <a:ext cx="3977640" cy="1965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1.2.1  Intragenerational</a:t>
            </a:r>
            <a:endParaRPr lang="en-US" sz="1000" dirty="0"/>
          </a:p>
        </p:txBody>
      </p:sp>
      <p:sp>
        <p:nvSpPr>
          <p:cNvPr id="34" name="Text 32"/>
          <p:cNvSpPr/>
          <p:nvPr/>
        </p:nvSpPr>
        <p:spPr>
          <a:xfrm>
            <a:off x="5029200" y="1293876"/>
            <a:ext cx="3721608"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Income inequality</a:t>
            </a:r>
            <a:endParaRPr lang="en-US" sz="900" dirty="0"/>
          </a:p>
        </p:txBody>
      </p:sp>
      <p:sp>
        <p:nvSpPr>
          <p:cNvPr id="35" name="Shape 33"/>
          <p:cNvSpPr/>
          <p:nvPr/>
        </p:nvSpPr>
        <p:spPr>
          <a:xfrm>
            <a:off x="4672584" y="1540764"/>
            <a:ext cx="59436" cy="59436"/>
          </a:xfrm>
          <a:prstGeom prst="ellipse">
            <a:avLst/>
          </a:prstGeom>
          <a:solidFill>
            <a:srgbClr val="7C3AED"/>
          </a:solidFill>
          <a:ln/>
        </p:spPr>
        <p:txBody>
          <a:bodyPr/>
          <a:lstStyle/>
          <a:p>
            <a:endParaRPr lang="en-US"/>
          </a:p>
        </p:txBody>
      </p:sp>
      <p:sp>
        <p:nvSpPr>
          <p:cNvPr id="36" name="Text 34"/>
          <p:cNvSpPr/>
          <p:nvPr/>
        </p:nvSpPr>
        <p:spPr>
          <a:xfrm>
            <a:off x="4773168" y="1490472"/>
            <a:ext cx="3977640" cy="196596"/>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1.2.2  Intergenerational</a:t>
            </a:r>
            <a:endParaRPr lang="en-US" sz="1000" dirty="0"/>
          </a:p>
        </p:txBody>
      </p:sp>
      <p:sp>
        <p:nvSpPr>
          <p:cNvPr id="37" name="Shape 35"/>
          <p:cNvSpPr/>
          <p:nvPr/>
        </p:nvSpPr>
        <p:spPr>
          <a:xfrm>
            <a:off x="4928616" y="1737360"/>
            <a:ext cx="59436" cy="59436"/>
          </a:xfrm>
          <a:prstGeom prst="ellipse">
            <a:avLst/>
          </a:prstGeom>
          <a:solidFill>
            <a:srgbClr val="7C3AED"/>
          </a:solidFill>
          <a:ln/>
        </p:spPr>
        <p:txBody>
          <a:bodyPr/>
          <a:lstStyle/>
          <a:p>
            <a:endParaRPr lang="en-US"/>
          </a:p>
        </p:txBody>
      </p:sp>
      <p:sp>
        <p:nvSpPr>
          <p:cNvPr id="38" name="Text 36"/>
          <p:cNvSpPr/>
          <p:nvPr/>
        </p:nvSpPr>
        <p:spPr>
          <a:xfrm>
            <a:off x="5029200" y="1687068"/>
            <a:ext cx="3721608" cy="196596"/>
          </a:xfrm>
          <a:prstGeom prst="rect">
            <a:avLst/>
          </a:prstGeom>
          <a:noFill/>
          <a:ln/>
        </p:spPr>
        <p:txBody>
          <a:bodyPr wrap="square" lIns="0" tIns="0" rIns="0" bIns="0" rtlCol="0" anchor="ctr"/>
          <a:lstStyle/>
          <a:p>
            <a:pPr marL="0" indent="0">
              <a:buNone/>
            </a:pPr>
            <a:r>
              <a:rPr lang="en-US" sz="1000" dirty="0">
                <a:solidFill>
                  <a:srgbClr val="7C3AED"/>
                </a:solidFill>
                <a:latin typeface="Calibri" pitchFamily="34" charset="0"/>
                <a:ea typeface="Calibri" pitchFamily="34" charset="-122"/>
                <a:cs typeface="Calibri" pitchFamily="34" charset="-120"/>
              </a:rPr>
              <a:t>1.2.2.1  DM  Deferred Maintenance</a:t>
            </a:r>
            <a:endParaRPr lang="en-US" sz="1000" dirty="0"/>
          </a:p>
        </p:txBody>
      </p:sp>
      <p:sp>
        <p:nvSpPr>
          <p:cNvPr id="39" name="Text 37"/>
          <p:cNvSpPr/>
          <p:nvPr/>
        </p:nvSpPr>
        <p:spPr>
          <a:xfrm>
            <a:off x="5285232" y="1883664"/>
            <a:ext cx="3465576"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of Trust Infrastructure</a:t>
            </a:r>
            <a:endParaRPr lang="en-US" sz="900" dirty="0"/>
          </a:p>
        </p:txBody>
      </p:sp>
      <p:sp>
        <p:nvSpPr>
          <p:cNvPr id="40" name="Shape 38"/>
          <p:cNvSpPr/>
          <p:nvPr/>
        </p:nvSpPr>
        <p:spPr>
          <a:xfrm>
            <a:off x="4928616" y="2130552"/>
            <a:ext cx="59436" cy="59436"/>
          </a:xfrm>
          <a:prstGeom prst="ellipse">
            <a:avLst/>
          </a:prstGeom>
          <a:solidFill>
            <a:srgbClr val="7C3AED"/>
          </a:solidFill>
          <a:ln/>
        </p:spPr>
        <p:txBody>
          <a:bodyPr/>
          <a:lstStyle/>
          <a:p>
            <a:endParaRPr lang="en-US"/>
          </a:p>
        </p:txBody>
      </p:sp>
      <p:sp>
        <p:nvSpPr>
          <p:cNvPr id="41" name="Text 39"/>
          <p:cNvSpPr/>
          <p:nvPr/>
        </p:nvSpPr>
        <p:spPr>
          <a:xfrm>
            <a:off x="5029200" y="2080260"/>
            <a:ext cx="3721608" cy="196596"/>
          </a:xfrm>
          <a:prstGeom prst="rect">
            <a:avLst/>
          </a:prstGeom>
          <a:noFill/>
          <a:ln/>
        </p:spPr>
        <p:txBody>
          <a:bodyPr wrap="square" lIns="0" tIns="0" rIns="0" bIns="0" rtlCol="0" anchor="ctr"/>
          <a:lstStyle/>
          <a:p>
            <a:pPr marL="0" indent="0">
              <a:buNone/>
            </a:pPr>
            <a:r>
              <a:rPr lang="en-US" sz="900" dirty="0">
                <a:solidFill>
                  <a:srgbClr val="7C3AED"/>
                </a:solidFill>
                <a:latin typeface="Calibri" pitchFamily="34" charset="0"/>
                <a:ea typeface="Calibri" pitchFamily="34" charset="-122"/>
                <a:cs typeface="Calibri" pitchFamily="34" charset="-120"/>
              </a:rPr>
              <a:t>1.2.2.2  Asset Restoration Obligations</a:t>
            </a:r>
            <a:endParaRPr lang="en-US" sz="900" dirty="0"/>
          </a:p>
        </p:txBody>
      </p:sp>
      <p:sp>
        <p:nvSpPr>
          <p:cNvPr id="42" name="Shape 40"/>
          <p:cNvSpPr/>
          <p:nvPr/>
        </p:nvSpPr>
        <p:spPr>
          <a:xfrm>
            <a:off x="4928616" y="2327148"/>
            <a:ext cx="59436" cy="59436"/>
          </a:xfrm>
          <a:prstGeom prst="ellipse">
            <a:avLst/>
          </a:prstGeom>
          <a:solidFill>
            <a:srgbClr val="7C3AED"/>
          </a:solidFill>
          <a:ln/>
        </p:spPr>
        <p:txBody>
          <a:bodyPr/>
          <a:lstStyle/>
          <a:p>
            <a:endParaRPr lang="en-US"/>
          </a:p>
        </p:txBody>
      </p:sp>
      <p:sp>
        <p:nvSpPr>
          <p:cNvPr id="43" name="Text 41"/>
          <p:cNvSpPr/>
          <p:nvPr/>
        </p:nvSpPr>
        <p:spPr>
          <a:xfrm>
            <a:off x="5029200" y="2276856"/>
            <a:ext cx="3721608" cy="196596"/>
          </a:xfrm>
          <a:prstGeom prst="rect">
            <a:avLst/>
          </a:prstGeom>
          <a:noFill/>
          <a:ln/>
        </p:spPr>
        <p:txBody>
          <a:bodyPr wrap="square" lIns="0" tIns="0" rIns="0" bIns="0" rtlCol="0" anchor="ctr"/>
          <a:lstStyle/>
          <a:p>
            <a:pPr marL="0" indent="0">
              <a:buNone/>
            </a:pPr>
            <a:r>
              <a:rPr lang="en-US" sz="900" dirty="0">
                <a:solidFill>
                  <a:srgbClr val="7C3AED"/>
                </a:solidFill>
                <a:latin typeface="Calibri" pitchFamily="34" charset="0"/>
                <a:ea typeface="Calibri" pitchFamily="34" charset="-122"/>
                <a:cs typeface="Calibri" pitchFamily="34" charset="-120"/>
              </a:rPr>
              <a:t>1.2.2.3  Other Natural Sinks</a:t>
            </a:r>
            <a:endParaRPr lang="en-US" sz="900" dirty="0"/>
          </a:p>
        </p:txBody>
      </p:sp>
      <p:sp>
        <p:nvSpPr>
          <p:cNvPr id="44" name="Shape 42"/>
          <p:cNvSpPr/>
          <p:nvPr/>
        </p:nvSpPr>
        <p:spPr>
          <a:xfrm>
            <a:off x="4672584" y="2523744"/>
            <a:ext cx="59436" cy="59436"/>
          </a:xfrm>
          <a:prstGeom prst="ellipse">
            <a:avLst/>
          </a:prstGeom>
          <a:solidFill>
            <a:srgbClr val="DC2626"/>
          </a:solidFill>
          <a:ln/>
        </p:spPr>
        <p:txBody>
          <a:bodyPr/>
          <a:lstStyle/>
          <a:p>
            <a:endParaRPr lang="en-US"/>
          </a:p>
        </p:txBody>
      </p:sp>
      <p:sp>
        <p:nvSpPr>
          <p:cNvPr id="45" name="Text 43"/>
          <p:cNvSpPr/>
          <p:nvPr/>
        </p:nvSpPr>
        <p:spPr>
          <a:xfrm>
            <a:off x="4773168" y="2473452"/>
            <a:ext cx="3977640" cy="196596"/>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1.2.3  Cross-Border Duties</a:t>
            </a:r>
            <a:endParaRPr lang="en-US" sz="1000" dirty="0"/>
          </a:p>
        </p:txBody>
      </p:sp>
      <p:sp>
        <p:nvSpPr>
          <p:cNvPr id="46" name="Text 44"/>
          <p:cNvSpPr/>
          <p:nvPr/>
        </p:nvSpPr>
        <p:spPr>
          <a:xfrm>
            <a:off x="5029200" y="2670048"/>
            <a:ext cx="3721608" cy="196596"/>
          </a:xfrm>
          <a:prstGeom prst="rect">
            <a:avLst/>
          </a:prstGeom>
          <a:noFill/>
          <a:ln/>
        </p:spPr>
        <p:txBody>
          <a:bodyPr wrap="square" lIns="0" tIns="0" rIns="0" bIns="0" rtlCol="0" anchor="ctr"/>
          <a:lstStyle/>
          <a:p>
            <a:pPr marL="0" indent="0">
              <a:buNone/>
            </a:pPr>
            <a:r>
              <a:rPr lang="en-US" sz="900" dirty="0">
                <a:solidFill>
                  <a:srgbClr val="DC2626"/>
                </a:solidFill>
                <a:latin typeface="Calibri" pitchFamily="34" charset="0"/>
                <a:ea typeface="Calibri" pitchFamily="34" charset="-122"/>
                <a:cs typeface="Calibri" pitchFamily="34" charset="-120"/>
              </a:rPr>
              <a:t>      (Gross Foreign Liabilities)</a:t>
            </a:r>
            <a:endParaRPr lang="en-US" sz="900" dirty="0"/>
          </a:p>
        </p:txBody>
      </p:sp>
      <p:sp>
        <p:nvSpPr>
          <p:cNvPr id="47" name="Text 45"/>
          <p:cNvSpPr/>
          <p:nvPr/>
        </p:nvSpPr>
        <p:spPr>
          <a:xfrm>
            <a:off x="5029200" y="2866644"/>
            <a:ext cx="3721608"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Recognized rights of others</a:t>
            </a:r>
            <a:endParaRPr lang="en-US" sz="900" dirty="0"/>
          </a:p>
        </p:txBody>
      </p:sp>
      <p:sp>
        <p:nvSpPr>
          <p:cNvPr id="48" name="Text 46"/>
          <p:cNvSpPr/>
          <p:nvPr/>
        </p:nvSpPr>
        <p:spPr>
          <a:xfrm>
            <a:off x="5029200" y="3063240"/>
            <a:ext cx="3721608" cy="196596"/>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      to a place's wealth</a:t>
            </a:r>
            <a:endParaRPr lang="en-US" sz="900" dirty="0"/>
          </a:p>
        </p:txBody>
      </p:sp>
      <p:sp>
        <p:nvSpPr>
          <p:cNvPr id="49" name="Shape 47"/>
          <p:cNvSpPr/>
          <p:nvPr/>
        </p:nvSpPr>
        <p:spPr>
          <a:xfrm>
            <a:off x="4736592" y="3351276"/>
            <a:ext cx="4014216" cy="0"/>
          </a:xfrm>
          <a:prstGeom prst="line">
            <a:avLst/>
          </a:prstGeom>
          <a:noFill/>
          <a:ln w="25400">
            <a:solidFill>
              <a:srgbClr val="1E293B"/>
            </a:solidFill>
            <a:prstDash val="solid"/>
          </a:ln>
        </p:spPr>
        <p:txBody>
          <a:bodyPr/>
          <a:lstStyle/>
          <a:p>
            <a:endParaRPr lang="en-US"/>
          </a:p>
        </p:txBody>
      </p:sp>
      <p:sp>
        <p:nvSpPr>
          <p:cNvPr id="50" name="Shape 48"/>
          <p:cNvSpPr/>
          <p:nvPr/>
        </p:nvSpPr>
        <p:spPr>
          <a:xfrm>
            <a:off x="4672584" y="3474720"/>
            <a:ext cx="59436" cy="59436"/>
          </a:xfrm>
          <a:prstGeom prst="ellipse">
            <a:avLst/>
          </a:prstGeom>
          <a:solidFill>
            <a:srgbClr val="1E293B"/>
          </a:solidFill>
          <a:ln/>
        </p:spPr>
        <p:txBody>
          <a:bodyPr/>
          <a:lstStyle/>
          <a:p>
            <a:endParaRPr lang="en-US"/>
          </a:p>
        </p:txBody>
      </p:sp>
      <p:sp>
        <p:nvSpPr>
          <p:cNvPr id="51" name="Text 49"/>
          <p:cNvSpPr/>
          <p:nvPr/>
        </p:nvSpPr>
        <p:spPr>
          <a:xfrm>
            <a:off x="4773168" y="3424428"/>
            <a:ext cx="3200400" cy="214884"/>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1.2.4  Net Worth (NW)</a:t>
            </a:r>
            <a:endParaRPr lang="en-US" sz="1200" dirty="0"/>
          </a:p>
        </p:txBody>
      </p:sp>
      <p:sp>
        <p:nvSpPr>
          <p:cNvPr id="52" name="Text 50"/>
          <p:cNvSpPr/>
          <p:nvPr/>
        </p:nvSpPr>
        <p:spPr>
          <a:xfrm>
            <a:off x="5029200" y="3621024"/>
            <a:ext cx="3200400" cy="1965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Liability to the owners of the place</a:t>
            </a:r>
            <a:endParaRPr lang="en-US" sz="1000" dirty="0"/>
          </a:p>
        </p:txBody>
      </p:sp>
      <p:sp>
        <p:nvSpPr>
          <p:cNvPr id="53" name="Text 51"/>
          <p:cNvSpPr/>
          <p:nvPr/>
        </p:nvSpPr>
        <p:spPr>
          <a:xfrm>
            <a:off x="5029200" y="3817620"/>
            <a:ext cx="3200400" cy="196596"/>
          </a:xfrm>
          <a:prstGeom prst="rect">
            <a:avLst/>
          </a:prstGeom>
          <a:noFill/>
          <a:ln/>
        </p:spPr>
        <p:txBody>
          <a:bodyPr wrap="square" lIns="0" tIns="0" rIns="0" bIns="0" rtlCol="0" anchor="ctr"/>
          <a:lstStyle/>
          <a:p>
            <a:pPr marL="0" indent="0">
              <a:buNone/>
            </a:pPr>
            <a:r>
              <a:rPr lang="en-US" sz="1100" b="1" i="1" dirty="0">
                <a:solidFill>
                  <a:srgbClr val="1E293B"/>
                </a:solidFill>
                <a:latin typeface="Calibri" pitchFamily="34" charset="0"/>
                <a:ea typeface="Calibri" pitchFamily="34" charset="-122"/>
                <a:cs typeface="Calibri" pitchFamily="34" charset="-120"/>
              </a:rPr>
              <a:t>Whose net worth is it?</a:t>
            </a:r>
            <a:endParaRPr lang="en-US" sz="1100" dirty="0"/>
          </a:p>
        </p:txBody>
      </p:sp>
      <p:sp>
        <p:nvSpPr>
          <p:cNvPr id="54" name="Shape 52"/>
          <p:cNvSpPr/>
          <p:nvPr/>
        </p:nvSpPr>
        <p:spPr>
          <a:xfrm>
            <a:off x="4736592" y="4050792"/>
            <a:ext cx="4014216" cy="0"/>
          </a:xfrm>
          <a:prstGeom prst="line">
            <a:avLst/>
          </a:prstGeom>
          <a:noFill/>
          <a:ln w="19050">
            <a:solidFill>
              <a:srgbClr val="1E293B"/>
            </a:solidFill>
            <a:prstDash val="solid"/>
          </a:ln>
        </p:spPr>
        <p:txBody>
          <a:bodyPr/>
          <a:lstStyle/>
          <a:p>
            <a:endParaRPr lang="en-US"/>
          </a:p>
        </p:txBody>
      </p:sp>
      <p:sp>
        <p:nvSpPr>
          <p:cNvPr id="55" name="Shape 53"/>
          <p:cNvSpPr/>
          <p:nvPr/>
        </p:nvSpPr>
        <p:spPr>
          <a:xfrm>
            <a:off x="4736592" y="4096512"/>
            <a:ext cx="4014216" cy="0"/>
          </a:xfrm>
          <a:prstGeom prst="line">
            <a:avLst/>
          </a:prstGeom>
          <a:noFill/>
          <a:ln w="19050">
            <a:solidFill>
              <a:srgbClr val="1E293B"/>
            </a:solidFill>
            <a:prstDash val="solid"/>
          </a:ln>
        </p:spPr>
        <p:txBody>
          <a:bodyPr/>
          <a:lstStyle/>
          <a:p>
            <a:endParaRPr lang="en-US"/>
          </a:p>
        </p:txBody>
      </p:sp>
      <p:sp>
        <p:nvSpPr>
          <p:cNvPr id="56" name="Shape 54"/>
          <p:cNvSpPr/>
          <p:nvPr/>
        </p:nvSpPr>
        <p:spPr>
          <a:xfrm>
            <a:off x="320040" y="4818888"/>
            <a:ext cx="8503920" cy="329184"/>
          </a:xfrm>
          <a:prstGeom prst="rect">
            <a:avLst/>
          </a:prstGeom>
          <a:solidFill>
            <a:srgbClr val="1E293B"/>
          </a:solidFill>
          <a:ln/>
        </p:spPr>
        <p:txBody>
          <a:bodyPr/>
          <a:lstStyle/>
          <a:p>
            <a:endParaRPr lang="en-US"/>
          </a:p>
        </p:txBody>
      </p:sp>
      <p:sp>
        <p:nvSpPr>
          <p:cNvPr id="57" name="Text 55"/>
          <p:cNvSpPr/>
          <p:nvPr/>
        </p:nvSpPr>
        <p:spPr>
          <a:xfrm>
            <a:off x="320040" y="4818888"/>
            <a:ext cx="850392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Assets  =  Liabilities  +  Net Worth       |       NW = PA + NC + HR + SR – DM + CBA – CBL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Source Referral -- Every Number Has a Provenance</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Cherry-picked indicators let users verify our positions or find alternatives.</a:t>
            </a:r>
            <a:endParaRPr lang="en-US" sz="1300" dirty="0"/>
          </a:p>
        </p:txBody>
      </p:sp>
      <p:sp>
        <p:nvSpPr>
          <p:cNvPr id="4" name="Shape 2"/>
          <p:cNvSpPr/>
          <p:nvPr/>
        </p:nvSpPr>
        <p:spPr>
          <a:xfrm>
            <a:off x="731520" y="1371600"/>
            <a:ext cx="2377440" cy="822960"/>
          </a:xfrm>
          <a:prstGeom prst="rect">
            <a:avLst/>
          </a:prstGeom>
          <a:solidFill>
            <a:srgbClr val="FFFFFF"/>
          </a:solidFill>
          <a:ln w="19050">
            <a:solidFill>
              <a:srgbClr val="2563EB"/>
            </a:solidFill>
            <a:prstDash val="solid"/>
          </a:ln>
          <a:effectLst>
            <a:outerShdw blurRad="76200" dist="25400" dir="8100000" algn="bl" rotWithShape="0">
              <a:srgbClr val="000000">
                <a:alpha val="10000"/>
              </a:srgbClr>
            </a:outerShdw>
          </a:effectLst>
        </p:spPr>
        <p:txBody>
          <a:bodyPr/>
          <a:lstStyle/>
          <a:p>
            <a:endParaRPr lang="en-US"/>
          </a:p>
        </p:txBody>
      </p:sp>
      <p:sp>
        <p:nvSpPr>
          <p:cNvPr id="5" name="Text 3"/>
          <p:cNvSpPr/>
          <p:nvPr/>
        </p:nvSpPr>
        <p:spPr>
          <a:xfrm>
            <a:off x="822960" y="1417320"/>
            <a:ext cx="2194560" cy="731520"/>
          </a:xfrm>
          <a:prstGeom prst="rect">
            <a:avLst/>
          </a:prstGeom>
          <a:noFill/>
          <a:ln/>
        </p:spPr>
        <p:txBody>
          <a:bodyPr wrap="square" rtlCol="0" anchor="ctr"/>
          <a:lstStyle/>
          <a:p>
            <a:pPr marL="0" indent="0" algn="ctr">
              <a:buNone/>
            </a:pPr>
            <a:r>
              <a:rPr lang="en-US" sz="1300" b="1" dirty="0">
                <a:solidFill>
                  <a:srgbClr val="2563EB"/>
                </a:solidFill>
                <a:latin typeface="Calibri" pitchFamily="34" charset="0"/>
                <a:ea typeface="Calibri" pitchFamily="34" charset="-122"/>
                <a:cs typeface="Calibri" pitchFamily="34" charset="-120"/>
              </a:rPr>
              <a:t>FAND Value</a:t>
            </a:r>
            <a:endParaRPr lang="en-US" sz="1300" dirty="0"/>
          </a:p>
          <a:p>
            <a:pPr marL="0" indent="0" algn="ctr">
              <a:buNone/>
            </a:pPr>
            <a:r>
              <a:rPr lang="en-US" sz="1000" dirty="0">
                <a:solidFill>
                  <a:srgbClr val="64748B"/>
                </a:solidFill>
                <a:latin typeface="Calibri" pitchFamily="34" charset="0"/>
                <a:ea typeface="Calibri" pitchFamily="34" charset="-122"/>
                <a:cs typeface="Calibri" pitchFamily="34" charset="-120"/>
              </a:rPr>
              <a:t>e.g. NC Minerals: $4,200/pc</a:t>
            </a:r>
            <a:endParaRPr lang="en-US" sz="1300" dirty="0"/>
          </a:p>
        </p:txBody>
      </p:sp>
      <p:sp>
        <p:nvSpPr>
          <p:cNvPr id="6" name="Text 4"/>
          <p:cNvSpPr/>
          <p:nvPr/>
        </p:nvSpPr>
        <p:spPr>
          <a:xfrm>
            <a:off x="3063240" y="1554480"/>
            <a:ext cx="64008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-&gt;</a:t>
            </a:r>
            <a:endParaRPr lang="en-US" sz="1800" dirty="0"/>
          </a:p>
        </p:txBody>
      </p:sp>
      <p:sp>
        <p:nvSpPr>
          <p:cNvPr id="7" name="Shape 5"/>
          <p:cNvSpPr/>
          <p:nvPr/>
        </p:nvSpPr>
        <p:spPr>
          <a:xfrm>
            <a:off x="3657600" y="1371600"/>
            <a:ext cx="2377440" cy="822960"/>
          </a:xfrm>
          <a:prstGeom prst="rect">
            <a:avLst/>
          </a:prstGeom>
          <a:solidFill>
            <a:srgbClr val="FFFFFF"/>
          </a:solidFill>
          <a:ln w="19050">
            <a:solidFill>
              <a:srgbClr val="D97706"/>
            </a:solidFill>
            <a:prstDash val="solid"/>
          </a:ln>
          <a:effectLst>
            <a:outerShdw blurRad="76200" dist="25400" dir="8100000" algn="bl" rotWithShape="0">
              <a:srgbClr val="000000">
                <a:alpha val="10000"/>
              </a:srgbClr>
            </a:outerShdw>
          </a:effectLst>
        </p:spPr>
        <p:txBody>
          <a:bodyPr/>
          <a:lstStyle/>
          <a:p>
            <a:endParaRPr lang="en-US"/>
          </a:p>
        </p:txBody>
      </p:sp>
      <p:sp>
        <p:nvSpPr>
          <p:cNvPr id="8" name="Text 6"/>
          <p:cNvSpPr/>
          <p:nvPr/>
        </p:nvSpPr>
        <p:spPr>
          <a:xfrm>
            <a:off x="3749040" y="1417320"/>
            <a:ext cx="2194560" cy="731520"/>
          </a:xfrm>
          <a:prstGeom prst="rect">
            <a:avLst/>
          </a:prstGeom>
          <a:noFill/>
          <a:ln/>
        </p:spPr>
        <p:txBody>
          <a:bodyPr wrap="square" rtlCol="0" anchor="ctr"/>
          <a:lstStyle/>
          <a:p>
            <a:pPr marL="0" indent="0" algn="ctr">
              <a:buNone/>
            </a:pPr>
            <a:r>
              <a:rPr lang="en-US" sz="1300" b="1" dirty="0">
                <a:solidFill>
                  <a:srgbClr val="D97706"/>
                </a:solidFill>
                <a:latin typeface="Calibri" pitchFamily="34" charset="0"/>
                <a:ea typeface="Calibri" pitchFamily="34" charset="-122"/>
                <a:cs typeface="Calibri" pitchFamily="34" charset="-120"/>
              </a:rPr>
              <a:t>Source Link</a:t>
            </a:r>
            <a:endParaRPr lang="en-US" sz="1300" dirty="0"/>
          </a:p>
          <a:p>
            <a:pPr marL="0" indent="0" algn="ctr">
              <a:buNone/>
            </a:pPr>
            <a:r>
              <a:rPr lang="en-US" sz="1000" dirty="0">
                <a:solidFill>
                  <a:srgbClr val="64748B"/>
                </a:solidFill>
                <a:latin typeface="Calibri" pitchFamily="34" charset="0"/>
                <a:ea typeface="Calibri" pitchFamily="34" charset="-122"/>
                <a:cs typeface="Calibri" pitchFamily="34" charset="-120"/>
              </a:rPr>
              <a:t>USGS MCS 2026, Table 1</a:t>
            </a:r>
            <a:endParaRPr lang="en-US" sz="1300" dirty="0"/>
          </a:p>
        </p:txBody>
      </p:sp>
      <p:sp>
        <p:nvSpPr>
          <p:cNvPr id="9" name="Text 7"/>
          <p:cNvSpPr/>
          <p:nvPr/>
        </p:nvSpPr>
        <p:spPr>
          <a:xfrm>
            <a:off x="5989320" y="1554480"/>
            <a:ext cx="640080" cy="457200"/>
          </a:xfrm>
          <a:prstGeom prst="rect">
            <a:avLst/>
          </a:prstGeom>
          <a:noFill/>
          <a:ln/>
        </p:spPr>
        <p:txBody>
          <a:bodyPr wrap="square"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-&gt;</a:t>
            </a:r>
            <a:endParaRPr lang="en-US" sz="1800" dirty="0"/>
          </a:p>
        </p:txBody>
      </p:sp>
      <p:sp>
        <p:nvSpPr>
          <p:cNvPr id="10" name="Shape 8"/>
          <p:cNvSpPr/>
          <p:nvPr/>
        </p:nvSpPr>
        <p:spPr>
          <a:xfrm>
            <a:off x="6583680" y="1371600"/>
            <a:ext cx="2377440" cy="822960"/>
          </a:xfrm>
          <a:prstGeom prst="rect">
            <a:avLst/>
          </a:prstGeom>
          <a:solidFill>
            <a:srgbClr val="FFFFFF"/>
          </a:solidFill>
          <a:ln w="1905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11" name="Text 9"/>
          <p:cNvSpPr/>
          <p:nvPr/>
        </p:nvSpPr>
        <p:spPr>
          <a:xfrm>
            <a:off x="6675120" y="1417320"/>
            <a:ext cx="2194560" cy="731520"/>
          </a:xfrm>
          <a:prstGeom prst="rect">
            <a:avLst/>
          </a:prstGeom>
          <a:noFill/>
          <a:ln/>
        </p:spPr>
        <p:txBody>
          <a:bodyPr wrap="square" rtlCol="0" anchor="ctr"/>
          <a:lstStyle/>
          <a:p>
            <a:pPr marL="0" indent="0" algn="ctr">
              <a:buNone/>
            </a:pPr>
            <a:r>
              <a:rPr lang="en-US" sz="1300" b="1" dirty="0">
                <a:solidFill>
                  <a:srgbClr val="059669"/>
                </a:solidFill>
                <a:latin typeface="Calibri" pitchFamily="34" charset="0"/>
                <a:ea typeface="Calibri" pitchFamily="34" charset="-122"/>
                <a:cs typeface="Calibri" pitchFamily="34" charset="-120"/>
              </a:rPr>
              <a:t>Verification</a:t>
            </a:r>
            <a:endParaRPr lang="en-US" sz="1300" dirty="0"/>
          </a:p>
          <a:p>
            <a:pPr marL="0" indent="0" algn="ctr">
              <a:buNone/>
            </a:pPr>
            <a:r>
              <a:rPr lang="en-US" sz="1000" dirty="0">
                <a:solidFill>
                  <a:srgbClr val="64748B"/>
                </a:solidFill>
                <a:latin typeface="Calibri" pitchFamily="34" charset="0"/>
                <a:ea typeface="Calibri" pitchFamily="34" charset="-122"/>
                <a:cs typeface="Calibri" pitchFamily="34" charset="-120"/>
              </a:rPr>
              <a:t>User checks our inputs</a:t>
            </a:r>
            <a:endParaRPr lang="en-US" sz="1300" dirty="0"/>
          </a:p>
        </p:txBody>
      </p:sp>
      <p:sp>
        <p:nvSpPr>
          <p:cNvPr id="12" name="Text 10"/>
          <p:cNvSpPr/>
          <p:nvPr/>
        </p:nvSpPr>
        <p:spPr>
          <a:xfrm>
            <a:off x="731520" y="2560320"/>
            <a:ext cx="768096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International Sources</a:t>
            </a:r>
            <a:endParaRPr lang="en-US" sz="1300" dirty="0"/>
          </a:p>
        </p:txBody>
      </p:sp>
      <p:sp>
        <p:nvSpPr>
          <p:cNvPr id="13" name="Shape 11"/>
          <p:cNvSpPr/>
          <p:nvPr/>
        </p:nvSpPr>
        <p:spPr>
          <a:xfrm>
            <a:off x="731520" y="2926080"/>
            <a:ext cx="1828800" cy="256032"/>
          </a:xfrm>
          <a:prstGeom prst="rect">
            <a:avLst/>
          </a:prstGeom>
          <a:solidFill>
            <a:srgbClr val="FFFBEB"/>
          </a:solidFill>
          <a:ln w="12700">
            <a:solidFill>
              <a:srgbClr val="FDE68A"/>
            </a:solidFill>
            <a:prstDash val="solid"/>
          </a:ln>
        </p:spPr>
        <p:txBody>
          <a:bodyPr/>
          <a:lstStyle/>
          <a:p>
            <a:endParaRPr lang="en-US"/>
          </a:p>
        </p:txBody>
      </p:sp>
      <p:sp>
        <p:nvSpPr>
          <p:cNvPr id="14" name="Text 12"/>
          <p:cNvSpPr/>
          <p:nvPr/>
        </p:nvSpPr>
        <p:spPr>
          <a:xfrm>
            <a:off x="731520" y="292608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WDI (World Bank)</a:t>
            </a:r>
            <a:endParaRPr lang="en-US" sz="900" dirty="0"/>
          </a:p>
        </p:txBody>
      </p:sp>
      <p:sp>
        <p:nvSpPr>
          <p:cNvPr id="15" name="Shape 13"/>
          <p:cNvSpPr/>
          <p:nvPr/>
        </p:nvSpPr>
        <p:spPr>
          <a:xfrm>
            <a:off x="2743200" y="2926080"/>
            <a:ext cx="1828800" cy="256032"/>
          </a:xfrm>
          <a:prstGeom prst="rect">
            <a:avLst/>
          </a:prstGeom>
          <a:solidFill>
            <a:srgbClr val="FFFBEB"/>
          </a:solidFill>
          <a:ln w="12700">
            <a:solidFill>
              <a:srgbClr val="FDE68A"/>
            </a:solidFill>
            <a:prstDash val="solid"/>
          </a:ln>
        </p:spPr>
        <p:txBody>
          <a:bodyPr/>
          <a:lstStyle/>
          <a:p>
            <a:endParaRPr lang="en-US"/>
          </a:p>
        </p:txBody>
      </p:sp>
      <p:sp>
        <p:nvSpPr>
          <p:cNvPr id="16" name="Text 14"/>
          <p:cNvSpPr/>
          <p:nvPr/>
        </p:nvSpPr>
        <p:spPr>
          <a:xfrm>
            <a:off x="2743200" y="292608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IMF (IIP/IFS)</a:t>
            </a:r>
            <a:endParaRPr lang="en-US" sz="900" dirty="0"/>
          </a:p>
        </p:txBody>
      </p:sp>
      <p:sp>
        <p:nvSpPr>
          <p:cNvPr id="17" name="Shape 15"/>
          <p:cNvSpPr/>
          <p:nvPr/>
        </p:nvSpPr>
        <p:spPr>
          <a:xfrm>
            <a:off x="4754880" y="2926080"/>
            <a:ext cx="1828800" cy="256032"/>
          </a:xfrm>
          <a:prstGeom prst="rect">
            <a:avLst/>
          </a:prstGeom>
          <a:solidFill>
            <a:srgbClr val="FFFBEB"/>
          </a:solidFill>
          <a:ln w="12700">
            <a:solidFill>
              <a:srgbClr val="FDE68A"/>
            </a:solidFill>
            <a:prstDash val="solid"/>
          </a:ln>
        </p:spPr>
        <p:txBody>
          <a:bodyPr/>
          <a:lstStyle/>
          <a:p>
            <a:endParaRPr lang="en-US"/>
          </a:p>
        </p:txBody>
      </p:sp>
      <p:sp>
        <p:nvSpPr>
          <p:cNvPr id="18" name="Text 16"/>
          <p:cNvSpPr/>
          <p:nvPr/>
        </p:nvSpPr>
        <p:spPr>
          <a:xfrm>
            <a:off x="4754880" y="292608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FAO / FAOSTAT</a:t>
            </a:r>
            <a:endParaRPr lang="en-US" sz="900" dirty="0"/>
          </a:p>
        </p:txBody>
      </p:sp>
      <p:sp>
        <p:nvSpPr>
          <p:cNvPr id="19" name="Shape 17"/>
          <p:cNvSpPr/>
          <p:nvPr/>
        </p:nvSpPr>
        <p:spPr>
          <a:xfrm>
            <a:off x="6766560" y="2926080"/>
            <a:ext cx="1828800" cy="256032"/>
          </a:xfrm>
          <a:prstGeom prst="rect">
            <a:avLst/>
          </a:prstGeom>
          <a:solidFill>
            <a:srgbClr val="FFFBEB"/>
          </a:solidFill>
          <a:ln w="12700">
            <a:solidFill>
              <a:srgbClr val="FDE68A"/>
            </a:solidFill>
            <a:prstDash val="solid"/>
          </a:ln>
        </p:spPr>
        <p:txBody>
          <a:bodyPr/>
          <a:lstStyle/>
          <a:p>
            <a:endParaRPr lang="en-US"/>
          </a:p>
        </p:txBody>
      </p:sp>
      <p:sp>
        <p:nvSpPr>
          <p:cNvPr id="20" name="Text 18"/>
          <p:cNvSpPr/>
          <p:nvPr/>
        </p:nvSpPr>
        <p:spPr>
          <a:xfrm>
            <a:off x="6766560" y="292608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USGS Minerals</a:t>
            </a:r>
            <a:endParaRPr lang="en-US" sz="900" dirty="0"/>
          </a:p>
        </p:txBody>
      </p:sp>
      <p:sp>
        <p:nvSpPr>
          <p:cNvPr id="21" name="Shape 19"/>
          <p:cNvSpPr/>
          <p:nvPr/>
        </p:nvSpPr>
        <p:spPr>
          <a:xfrm>
            <a:off x="731520" y="3246120"/>
            <a:ext cx="1828800" cy="256032"/>
          </a:xfrm>
          <a:prstGeom prst="rect">
            <a:avLst/>
          </a:prstGeom>
          <a:solidFill>
            <a:srgbClr val="FFFBEB"/>
          </a:solidFill>
          <a:ln w="12700">
            <a:solidFill>
              <a:srgbClr val="FDE68A"/>
            </a:solidFill>
            <a:prstDash val="solid"/>
          </a:ln>
        </p:spPr>
        <p:txBody>
          <a:bodyPr/>
          <a:lstStyle/>
          <a:p>
            <a:endParaRPr lang="en-US"/>
          </a:p>
        </p:txBody>
      </p:sp>
      <p:sp>
        <p:nvSpPr>
          <p:cNvPr id="22" name="Text 20"/>
          <p:cNvSpPr/>
          <p:nvPr/>
        </p:nvSpPr>
        <p:spPr>
          <a:xfrm>
            <a:off x="731520" y="324612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EIA / Energy Inst.</a:t>
            </a:r>
            <a:endParaRPr lang="en-US" sz="900" dirty="0"/>
          </a:p>
        </p:txBody>
      </p:sp>
      <p:sp>
        <p:nvSpPr>
          <p:cNvPr id="23" name="Shape 21"/>
          <p:cNvSpPr/>
          <p:nvPr/>
        </p:nvSpPr>
        <p:spPr>
          <a:xfrm>
            <a:off x="2743200" y="3246120"/>
            <a:ext cx="1828800" cy="256032"/>
          </a:xfrm>
          <a:prstGeom prst="rect">
            <a:avLst/>
          </a:prstGeom>
          <a:solidFill>
            <a:srgbClr val="FFFBEB"/>
          </a:solidFill>
          <a:ln w="12700">
            <a:solidFill>
              <a:srgbClr val="FDE68A"/>
            </a:solidFill>
            <a:prstDash val="solid"/>
          </a:ln>
        </p:spPr>
        <p:txBody>
          <a:bodyPr/>
          <a:lstStyle/>
          <a:p>
            <a:endParaRPr lang="en-US"/>
          </a:p>
        </p:txBody>
      </p:sp>
      <p:sp>
        <p:nvSpPr>
          <p:cNvPr id="24" name="Text 22"/>
          <p:cNvSpPr/>
          <p:nvPr/>
        </p:nvSpPr>
        <p:spPr>
          <a:xfrm>
            <a:off x="2743200" y="324612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OECD Fixed Assets</a:t>
            </a:r>
            <a:endParaRPr lang="en-US" sz="900" dirty="0"/>
          </a:p>
        </p:txBody>
      </p:sp>
      <p:sp>
        <p:nvSpPr>
          <p:cNvPr id="25" name="Shape 23"/>
          <p:cNvSpPr/>
          <p:nvPr/>
        </p:nvSpPr>
        <p:spPr>
          <a:xfrm>
            <a:off x="4754880" y="3246120"/>
            <a:ext cx="1828800" cy="256032"/>
          </a:xfrm>
          <a:prstGeom prst="rect">
            <a:avLst/>
          </a:prstGeom>
          <a:solidFill>
            <a:srgbClr val="FFFBEB"/>
          </a:solidFill>
          <a:ln w="12700">
            <a:solidFill>
              <a:srgbClr val="FDE68A"/>
            </a:solidFill>
            <a:prstDash val="solid"/>
          </a:ln>
        </p:spPr>
        <p:txBody>
          <a:bodyPr/>
          <a:lstStyle/>
          <a:p>
            <a:endParaRPr lang="en-US"/>
          </a:p>
        </p:txBody>
      </p:sp>
      <p:sp>
        <p:nvSpPr>
          <p:cNvPr id="26" name="Text 24"/>
          <p:cNvSpPr/>
          <p:nvPr/>
        </p:nvSpPr>
        <p:spPr>
          <a:xfrm>
            <a:off x="4754880" y="324612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UN WPP</a:t>
            </a:r>
            <a:endParaRPr lang="en-US" sz="900" dirty="0"/>
          </a:p>
        </p:txBody>
      </p:sp>
      <p:sp>
        <p:nvSpPr>
          <p:cNvPr id="27" name="Shape 25"/>
          <p:cNvSpPr/>
          <p:nvPr/>
        </p:nvSpPr>
        <p:spPr>
          <a:xfrm>
            <a:off x="6766560" y="3246120"/>
            <a:ext cx="1828800" cy="256032"/>
          </a:xfrm>
          <a:prstGeom prst="rect">
            <a:avLst/>
          </a:prstGeom>
          <a:solidFill>
            <a:srgbClr val="FFFBEB"/>
          </a:solidFill>
          <a:ln w="12700">
            <a:solidFill>
              <a:srgbClr val="FDE68A"/>
            </a:solidFill>
            <a:prstDash val="solid"/>
          </a:ln>
        </p:spPr>
        <p:txBody>
          <a:bodyPr/>
          <a:lstStyle/>
          <a:p>
            <a:endParaRPr lang="en-US"/>
          </a:p>
        </p:txBody>
      </p:sp>
      <p:sp>
        <p:nvSpPr>
          <p:cNvPr id="28" name="Text 26"/>
          <p:cNvSpPr/>
          <p:nvPr/>
        </p:nvSpPr>
        <p:spPr>
          <a:xfrm>
            <a:off x="6766560" y="3246120"/>
            <a:ext cx="1828800" cy="256032"/>
          </a:xfrm>
          <a:prstGeom prst="rect">
            <a:avLst/>
          </a:prstGeom>
          <a:noFill/>
          <a:ln/>
        </p:spPr>
        <p:txBody>
          <a:bodyPr wrap="square" rtlCol="0" anchor="ctr"/>
          <a:lstStyle/>
          <a:p>
            <a:pPr marL="0" indent="0" algn="ctr">
              <a:buNone/>
            </a:pPr>
            <a:r>
              <a:rPr lang="en-US" sz="900" b="1" dirty="0">
                <a:solidFill>
                  <a:srgbClr val="92400E"/>
                </a:solidFill>
                <a:latin typeface="Calibri" pitchFamily="34" charset="0"/>
                <a:ea typeface="Calibri" pitchFamily="34" charset="-122"/>
                <a:cs typeface="Calibri" pitchFamily="34" charset="-120"/>
              </a:rPr>
              <a:t>BIS</a:t>
            </a:r>
            <a:endParaRPr lang="en-US" sz="900" dirty="0"/>
          </a:p>
        </p:txBody>
      </p:sp>
      <p:sp>
        <p:nvSpPr>
          <p:cNvPr id="29" name="Text 27"/>
          <p:cNvSpPr/>
          <p:nvPr/>
        </p:nvSpPr>
        <p:spPr>
          <a:xfrm>
            <a:off x="731520" y="3703320"/>
            <a:ext cx="768096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US Sources (State + County)</a:t>
            </a:r>
            <a:endParaRPr lang="en-US" sz="1300" dirty="0"/>
          </a:p>
        </p:txBody>
      </p:sp>
      <p:sp>
        <p:nvSpPr>
          <p:cNvPr id="30" name="Shape 28"/>
          <p:cNvSpPr/>
          <p:nvPr/>
        </p:nvSpPr>
        <p:spPr>
          <a:xfrm>
            <a:off x="731520" y="4069080"/>
            <a:ext cx="1828800" cy="256032"/>
          </a:xfrm>
          <a:prstGeom prst="rect">
            <a:avLst/>
          </a:prstGeom>
          <a:solidFill>
            <a:srgbClr val="EFF6FF"/>
          </a:solidFill>
          <a:ln w="12700">
            <a:solidFill>
              <a:srgbClr val="BFDBFE"/>
            </a:solidFill>
            <a:prstDash val="solid"/>
          </a:ln>
        </p:spPr>
        <p:txBody>
          <a:bodyPr/>
          <a:lstStyle/>
          <a:p>
            <a:endParaRPr lang="en-US"/>
          </a:p>
        </p:txBody>
      </p:sp>
      <p:sp>
        <p:nvSpPr>
          <p:cNvPr id="31" name="Text 29"/>
          <p:cNvSpPr/>
          <p:nvPr/>
        </p:nvSpPr>
        <p:spPr>
          <a:xfrm>
            <a:off x="731520" y="406908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BEA (GDP, Income)</a:t>
            </a:r>
            <a:endParaRPr lang="en-US" sz="900" dirty="0"/>
          </a:p>
        </p:txBody>
      </p:sp>
      <p:sp>
        <p:nvSpPr>
          <p:cNvPr id="32" name="Shape 30"/>
          <p:cNvSpPr/>
          <p:nvPr/>
        </p:nvSpPr>
        <p:spPr>
          <a:xfrm>
            <a:off x="2743200" y="4069080"/>
            <a:ext cx="1828800" cy="256032"/>
          </a:xfrm>
          <a:prstGeom prst="rect">
            <a:avLst/>
          </a:prstGeom>
          <a:solidFill>
            <a:srgbClr val="EFF6FF"/>
          </a:solidFill>
          <a:ln w="12700">
            <a:solidFill>
              <a:srgbClr val="BFDBFE"/>
            </a:solidFill>
            <a:prstDash val="solid"/>
          </a:ln>
        </p:spPr>
        <p:txBody>
          <a:bodyPr/>
          <a:lstStyle/>
          <a:p>
            <a:endParaRPr lang="en-US"/>
          </a:p>
        </p:txBody>
      </p:sp>
      <p:sp>
        <p:nvSpPr>
          <p:cNvPr id="33" name="Text 31"/>
          <p:cNvSpPr/>
          <p:nvPr/>
        </p:nvSpPr>
        <p:spPr>
          <a:xfrm>
            <a:off x="2743200" y="406908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BLS (QCEW Wages)</a:t>
            </a:r>
            <a:endParaRPr lang="en-US" sz="900" dirty="0"/>
          </a:p>
        </p:txBody>
      </p:sp>
      <p:sp>
        <p:nvSpPr>
          <p:cNvPr id="34" name="Shape 32"/>
          <p:cNvSpPr/>
          <p:nvPr/>
        </p:nvSpPr>
        <p:spPr>
          <a:xfrm>
            <a:off x="4754880" y="4069080"/>
            <a:ext cx="1828800" cy="256032"/>
          </a:xfrm>
          <a:prstGeom prst="rect">
            <a:avLst/>
          </a:prstGeom>
          <a:solidFill>
            <a:srgbClr val="EFF6FF"/>
          </a:solidFill>
          <a:ln w="12700">
            <a:solidFill>
              <a:srgbClr val="BFDBFE"/>
            </a:solidFill>
            <a:prstDash val="solid"/>
          </a:ln>
        </p:spPr>
        <p:txBody>
          <a:bodyPr/>
          <a:lstStyle/>
          <a:p>
            <a:endParaRPr lang="en-US"/>
          </a:p>
        </p:txBody>
      </p:sp>
      <p:sp>
        <p:nvSpPr>
          <p:cNvPr id="35" name="Text 33"/>
          <p:cNvSpPr/>
          <p:nvPr/>
        </p:nvSpPr>
        <p:spPr>
          <a:xfrm>
            <a:off x="4754880" y="406908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Census (ACS)</a:t>
            </a:r>
            <a:endParaRPr lang="en-US" sz="900" dirty="0"/>
          </a:p>
        </p:txBody>
      </p:sp>
      <p:sp>
        <p:nvSpPr>
          <p:cNvPr id="36" name="Shape 34"/>
          <p:cNvSpPr/>
          <p:nvPr/>
        </p:nvSpPr>
        <p:spPr>
          <a:xfrm>
            <a:off x="6766560" y="4069080"/>
            <a:ext cx="1828800" cy="256032"/>
          </a:xfrm>
          <a:prstGeom prst="rect">
            <a:avLst/>
          </a:prstGeom>
          <a:solidFill>
            <a:srgbClr val="EFF6FF"/>
          </a:solidFill>
          <a:ln w="12700">
            <a:solidFill>
              <a:srgbClr val="BFDBFE"/>
            </a:solidFill>
            <a:prstDash val="solid"/>
          </a:ln>
        </p:spPr>
        <p:txBody>
          <a:bodyPr/>
          <a:lstStyle/>
          <a:p>
            <a:endParaRPr lang="en-US"/>
          </a:p>
        </p:txBody>
      </p:sp>
      <p:sp>
        <p:nvSpPr>
          <p:cNvPr id="37" name="Text 35"/>
          <p:cNvSpPr/>
          <p:nvPr/>
        </p:nvSpPr>
        <p:spPr>
          <a:xfrm>
            <a:off x="6766560" y="406908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EIA (Energy)</a:t>
            </a:r>
            <a:endParaRPr lang="en-US" sz="900" dirty="0"/>
          </a:p>
        </p:txBody>
      </p:sp>
      <p:sp>
        <p:nvSpPr>
          <p:cNvPr id="38" name="Shape 36"/>
          <p:cNvSpPr/>
          <p:nvPr/>
        </p:nvSpPr>
        <p:spPr>
          <a:xfrm>
            <a:off x="731520" y="4389120"/>
            <a:ext cx="1828800" cy="256032"/>
          </a:xfrm>
          <a:prstGeom prst="rect">
            <a:avLst/>
          </a:prstGeom>
          <a:solidFill>
            <a:srgbClr val="EFF6FF"/>
          </a:solidFill>
          <a:ln w="12700">
            <a:solidFill>
              <a:srgbClr val="BFDBFE"/>
            </a:solidFill>
            <a:prstDash val="solid"/>
          </a:ln>
        </p:spPr>
        <p:txBody>
          <a:bodyPr/>
          <a:lstStyle/>
          <a:p>
            <a:endParaRPr lang="en-US"/>
          </a:p>
        </p:txBody>
      </p:sp>
      <p:sp>
        <p:nvSpPr>
          <p:cNvPr id="39" name="Text 37"/>
          <p:cNvSpPr/>
          <p:nvPr/>
        </p:nvSpPr>
        <p:spPr>
          <a:xfrm>
            <a:off x="731520" y="438912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USGS (Minerals)</a:t>
            </a:r>
            <a:endParaRPr lang="en-US" sz="900" dirty="0"/>
          </a:p>
        </p:txBody>
      </p:sp>
      <p:sp>
        <p:nvSpPr>
          <p:cNvPr id="40" name="Shape 38"/>
          <p:cNvSpPr/>
          <p:nvPr/>
        </p:nvSpPr>
        <p:spPr>
          <a:xfrm>
            <a:off x="2743200" y="4389120"/>
            <a:ext cx="1828800" cy="256032"/>
          </a:xfrm>
          <a:prstGeom prst="rect">
            <a:avLst/>
          </a:prstGeom>
          <a:solidFill>
            <a:srgbClr val="EFF6FF"/>
          </a:solidFill>
          <a:ln w="12700">
            <a:solidFill>
              <a:srgbClr val="BFDBFE"/>
            </a:solidFill>
            <a:prstDash val="solid"/>
          </a:ln>
        </p:spPr>
        <p:txBody>
          <a:bodyPr/>
          <a:lstStyle/>
          <a:p>
            <a:endParaRPr lang="en-US"/>
          </a:p>
        </p:txBody>
      </p:sp>
      <p:sp>
        <p:nvSpPr>
          <p:cNvPr id="41" name="Text 39"/>
          <p:cNvSpPr/>
          <p:nvPr/>
        </p:nvSpPr>
        <p:spPr>
          <a:xfrm>
            <a:off x="2743200" y="438912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NOAA (Fisheries)</a:t>
            </a:r>
            <a:endParaRPr lang="en-US" sz="900" dirty="0"/>
          </a:p>
        </p:txBody>
      </p:sp>
      <p:sp>
        <p:nvSpPr>
          <p:cNvPr id="42" name="Shape 40"/>
          <p:cNvSpPr/>
          <p:nvPr/>
        </p:nvSpPr>
        <p:spPr>
          <a:xfrm>
            <a:off x="4754880" y="4389120"/>
            <a:ext cx="1828800" cy="256032"/>
          </a:xfrm>
          <a:prstGeom prst="rect">
            <a:avLst/>
          </a:prstGeom>
          <a:solidFill>
            <a:srgbClr val="EFF6FF"/>
          </a:solidFill>
          <a:ln w="12700">
            <a:solidFill>
              <a:srgbClr val="BFDBFE"/>
            </a:solidFill>
            <a:prstDash val="solid"/>
          </a:ln>
        </p:spPr>
        <p:txBody>
          <a:bodyPr/>
          <a:lstStyle/>
          <a:p>
            <a:endParaRPr lang="en-US"/>
          </a:p>
        </p:txBody>
      </p:sp>
      <p:sp>
        <p:nvSpPr>
          <p:cNvPr id="43" name="Text 41"/>
          <p:cNvSpPr/>
          <p:nvPr/>
        </p:nvSpPr>
        <p:spPr>
          <a:xfrm>
            <a:off x="4754880" y="438912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USDA NASS (Ag)</a:t>
            </a:r>
            <a:endParaRPr lang="en-US" sz="900" dirty="0"/>
          </a:p>
        </p:txBody>
      </p:sp>
      <p:sp>
        <p:nvSpPr>
          <p:cNvPr id="44" name="Shape 42"/>
          <p:cNvSpPr/>
          <p:nvPr/>
        </p:nvSpPr>
        <p:spPr>
          <a:xfrm>
            <a:off x="6766560" y="4389120"/>
            <a:ext cx="1828800" cy="256032"/>
          </a:xfrm>
          <a:prstGeom prst="rect">
            <a:avLst/>
          </a:prstGeom>
          <a:solidFill>
            <a:srgbClr val="EFF6FF"/>
          </a:solidFill>
          <a:ln w="12700">
            <a:solidFill>
              <a:srgbClr val="BFDBFE"/>
            </a:solidFill>
            <a:prstDash val="solid"/>
          </a:ln>
        </p:spPr>
        <p:txBody>
          <a:bodyPr/>
          <a:lstStyle/>
          <a:p>
            <a:endParaRPr lang="en-US"/>
          </a:p>
        </p:txBody>
      </p:sp>
      <p:sp>
        <p:nvSpPr>
          <p:cNvPr id="45" name="Text 43"/>
          <p:cNvSpPr/>
          <p:nvPr/>
        </p:nvSpPr>
        <p:spPr>
          <a:xfrm>
            <a:off x="6766560" y="4389120"/>
            <a:ext cx="1828800" cy="256032"/>
          </a:xfrm>
          <a:prstGeom prst="rect">
            <a:avLst/>
          </a:prstGeom>
          <a:noFill/>
          <a:ln/>
        </p:spPr>
        <p:txBody>
          <a:bodyPr wrap="square" rtlCol="0" anchor="ctr"/>
          <a:lstStyle/>
          <a:p>
            <a:pPr marL="0" indent="0" algn="ctr">
              <a:buNone/>
            </a:pPr>
            <a:r>
              <a:rPr lang="en-US" sz="900" b="1" dirty="0">
                <a:solidFill>
                  <a:srgbClr val="1E40AF"/>
                </a:solidFill>
                <a:latin typeface="Calibri" pitchFamily="34" charset="0"/>
                <a:ea typeface="Calibri" pitchFamily="34" charset="-122"/>
                <a:cs typeface="Calibri" pitchFamily="34" charset="-120"/>
              </a:rPr>
              <a:t>IHME/CHR (LE)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NUSAP -- Data Quality You Can See</a:t>
            </a:r>
            <a:endParaRPr lang="en-US" sz="2400" dirty="0"/>
          </a:p>
        </p:txBody>
      </p:sp>
      <p:sp>
        <p:nvSpPr>
          <p:cNvPr id="3" name="Text 1"/>
          <p:cNvSpPr/>
          <p:nvPr/>
        </p:nvSpPr>
        <p:spPr>
          <a:xfrm>
            <a:off x="731520" y="731520"/>
            <a:ext cx="7680960" cy="32004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Most data portals show a number. We show how much to trust it.</a:t>
            </a:r>
            <a:endParaRPr lang="en-US" sz="1300" dirty="0"/>
          </a:p>
        </p:txBody>
      </p:sp>
      <p:sp>
        <p:nvSpPr>
          <p:cNvPr id="4" name="Shape 2"/>
          <p:cNvSpPr/>
          <p:nvPr/>
        </p:nvSpPr>
        <p:spPr>
          <a:xfrm>
            <a:off x="640080" y="1280160"/>
            <a:ext cx="457200" cy="457200"/>
          </a:xfrm>
          <a:prstGeom prst="ellipse">
            <a:avLst/>
          </a:prstGeom>
          <a:solidFill>
            <a:srgbClr val="7C3AED"/>
          </a:solidFill>
          <a:ln/>
        </p:spPr>
        <p:txBody>
          <a:bodyPr/>
          <a:lstStyle/>
          <a:p>
            <a:endParaRPr lang="en-US"/>
          </a:p>
        </p:txBody>
      </p:sp>
      <p:sp>
        <p:nvSpPr>
          <p:cNvPr id="5" name="Text 3"/>
          <p:cNvSpPr/>
          <p:nvPr/>
        </p:nvSpPr>
        <p:spPr>
          <a:xfrm>
            <a:off x="640080" y="1280160"/>
            <a:ext cx="457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N</a:t>
            </a:r>
            <a:endParaRPr lang="en-US" sz="2000" dirty="0"/>
          </a:p>
        </p:txBody>
      </p:sp>
      <p:sp>
        <p:nvSpPr>
          <p:cNvPr id="6" name="Text 4"/>
          <p:cNvSpPr/>
          <p:nvPr/>
        </p:nvSpPr>
        <p:spPr>
          <a:xfrm>
            <a:off x="1280160" y="1280160"/>
            <a:ext cx="1828800" cy="237744"/>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Numeral</a:t>
            </a:r>
            <a:endParaRPr lang="en-US" sz="1400" dirty="0"/>
          </a:p>
        </p:txBody>
      </p:sp>
      <p:sp>
        <p:nvSpPr>
          <p:cNvPr id="7" name="Text 5"/>
          <p:cNvSpPr/>
          <p:nvPr/>
        </p:nvSpPr>
        <p:spPr>
          <a:xfrm>
            <a:off x="1280160" y="1499616"/>
            <a:ext cx="182880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The value itself</a:t>
            </a:r>
            <a:endParaRPr lang="en-US" sz="1100" dirty="0"/>
          </a:p>
        </p:txBody>
      </p:sp>
      <p:sp>
        <p:nvSpPr>
          <p:cNvPr id="8" name="Text 6"/>
          <p:cNvSpPr/>
          <p:nvPr/>
        </p:nvSpPr>
        <p:spPr>
          <a:xfrm>
            <a:off x="3657600" y="1280160"/>
            <a:ext cx="38404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$4,200 per capita</a:t>
            </a:r>
            <a:endParaRPr lang="en-US" sz="1200" dirty="0"/>
          </a:p>
        </p:txBody>
      </p:sp>
      <p:sp>
        <p:nvSpPr>
          <p:cNvPr id="9" name="Shape 7"/>
          <p:cNvSpPr/>
          <p:nvPr/>
        </p:nvSpPr>
        <p:spPr>
          <a:xfrm>
            <a:off x="7772400" y="1371600"/>
            <a:ext cx="822960" cy="256032"/>
          </a:xfrm>
          <a:prstGeom prst="rect">
            <a:avLst/>
          </a:prstGeom>
          <a:solidFill>
            <a:srgbClr val="059669"/>
          </a:solidFill>
          <a:ln/>
        </p:spPr>
        <p:txBody>
          <a:bodyPr/>
          <a:lstStyle/>
          <a:p>
            <a:endParaRPr lang="en-US"/>
          </a:p>
        </p:txBody>
      </p:sp>
      <p:sp>
        <p:nvSpPr>
          <p:cNvPr id="10" name="Text 8"/>
          <p:cNvSpPr/>
          <p:nvPr/>
        </p:nvSpPr>
        <p:spPr>
          <a:xfrm>
            <a:off x="7772400" y="1371600"/>
            <a:ext cx="82296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VISIBLE</a:t>
            </a:r>
            <a:endParaRPr lang="en-US" sz="800" dirty="0"/>
          </a:p>
        </p:txBody>
      </p:sp>
      <p:sp>
        <p:nvSpPr>
          <p:cNvPr id="11" name="Shape 9"/>
          <p:cNvSpPr/>
          <p:nvPr/>
        </p:nvSpPr>
        <p:spPr>
          <a:xfrm>
            <a:off x="640080" y="1938528"/>
            <a:ext cx="457200" cy="457200"/>
          </a:xfrm>
          <a:prstGeom prst="ellipse">
            <a:avLst/>
          </a:prstGeom>
          <a:solidFill>
            <a:srgbClr val="7C3AED"/>
          </a:solidFill>
          <a:ln/>
        </p:spPr>
        <p:txBody>
          <a:bodyPr/>
          <a:lstStyle/>
          <a:p>
            <a:endParaRPr lang="en-US"/>
          </a:p>
        </p:txBody>
      </p:sp>
      <p:sp>
        <p:nvSpPr>
          <p:cNvPr id="12" name="Text 10"/>
          <p:cNvSpPr/>
          <p:nvPr/>
        </p:nvSpPr>
        <p:spPr>
          <a:xfrm>
            <a:off x="640080" y="1938528"/>
            <a:ext cx="457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U</a:t>
            </a:r>
            <a:endParaRPr lang="en-US" sz="2000" dirty="0"/>
          </a:p>
        </p:txBody>
      </p:sp>
      <p:sp>
        <p:nvSpPr>
          <p:cNvPr id="13" name="Text 11"/>
          <p:cNvSpPr/>
          <p:nvPr/>
        </p:nvSpPr>
        <p:spPr>
          <a:xfrm>
            <a:off x="1280160" y="1938528"/>
            <a:ext cx="1828800" cy="237744"/>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Unit</a:t>
            </a:r>
            <a:endParaRPr lang="en-US" sz="1400" dirty="0"/>
          </a:p>
        </p:txBody>
      </p:sp>
      <p:sp>
        <p:nvSpPr>
          <p:cNvPr id="14" name="Text 12"/>
          <p:cNvSpPr/>
          <p:nvPr/>
        </p:nvSpPr>
        <p:spPr>
          <a:xfrm>
            <a:off x="1280160" y="2157984"/>
            <a:ext cx="182880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What it is measured in</a:t>
            </a:r>
            <a:endParaRPr lang="en-US" sz="1100" dirty="0"/>
          </a:p>
        </p:txBody>
      </p:sp>
      <p:sp>
        <p:nvSpPr>
          <p:cNvPr id="15" name="Text 13"/>
          <p:cNvSpPr/>
          <p:nvPr/>
        </p:nvSpPr>
        <p:spPr>
          <a:xfrm>
            <a:off x="3657600" y="1938528"/>
            <a:ext cx="38404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Current Atlas USD</a:t>
            </a:r>
            <a:endParaRPr lang="en-US" sz="1200" dirty="0"/>
          </a:p>
        </p:txBody>
      </p:sp>
      <p:sp>
        <p:nvSpPr>
          <p:cNvPr id="16" name="Shape 14"/>
          <p:cNvSpPr/>
          <p:nvPr/>
        </p:nvSpPr>
        <p:spPr>
          <a:xfrm>
            <a:off x="7772400" y="2029968"/>
            <a:ext cx="822960" cy="256032"/>
          </a:xfrm>
          <a:prstGeom prst="rect">
            <a:avLst/>
          </a:prstGeom>
          <a:solidFill>
            <a:srgbClr val="059669"/>
          </a:solidFill>
          <a:ln/>
        </p:spPr>
        <p:txBody>
          <a:bodyPr/>
          <a:lstStyle/>
          <a:p>
            <a:endParaRPr lang="en-US"/>
          </a:p>
        </p:txBody>
      </p:sp>
      <p:sp>
        <p:nvSpPr>
          <p:cNvPr id="17" name="Text 15"/>
          <p:cNvSpPr/>
          <p:nvPr/>
        </p:nvSpPr>
        <p:spPr>
          <a:xfrm>
            <a:off x="7772400" y="2029968"/>
            <a:ext cx="82296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VISIBLE</a:t>
            </a:r>
            <a:endParaRPr lang="en-US" sz="800" dirty="0"/>
          </a:p>
        </p:txBody>
      </p:sp>
      <p:sp>
        <p:nvSpPr>
          <p:cNvPr id="18" name="Shape 16"/>
          <p:cNvSpPr/>
          <p:nvPr/>
        </p:nvSpPr>
        <p:spPr>
          <a:xfrm>
            <a:off x="640080" y="2596896"/>
            <a:ext cx="457200" cy="457200"/>
          </a:xfrm>
          <a:prstGeom prst="ellipse">
            <a:avLst/>
          </a:prstGeom>
          <a:solidFill>
            <a:srgbClr val="7C3AED"/>
          </a:solidFill>
          <a:ln/>
        </p:spPr>
        <p:txBody>
          <a:bodyPr/>
          <a:lstStyle/>
          <a:p>
            <a:endParaRPr lang="en-US"/>
          </a:p>
        </p:txBody>
      </p:sp>
      <p:sp>
        <p:nvSpPr>
          <p:cNvPr id="19" name="Text 17"/>
          <p:cNvSpPr/>
          <p:nvPr/>
        </p:nvSpPr>
        <p:spPr>
          <a:xfrm>
            <a:off x="640080" y="2596896"/>
            <a:ext cx="457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S</a:t>
            </a:r>
            <a:endParaRPr lang="en-US" sz="2000" dirty="0"/>
          </a:p>
        </p:txBody>
      </p:sp>
      <p:sp>
        <p:nvSpPr>
          <p:cNvPr id="20" name="Text 18"/>
          <p:cNvSpPr/>
          <p:nvPr/>
        </p:nvSpPr>
        <p:spPr>
          <a:xfrm>
            <a:off x="1280160" y="2596896"/>
            <a:ext cx="1828800" cy="237744"/>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Spread</a:t>
            </a:r>
            <a:endParaRPr lang="en-US" sz="1400" dirty="0"/>
          </a:p>
        </p:txBody>
      </p:sp>
      <p:sp>
        <p:nvSpPr>
          <p:cNvPr id="21" name="Text 19"/>
          <p:cNvSpPr/>
          <p:nvPr/>
        </p:nvSpPr>
        <p:spPr>
          <a:xfrm>
            <a:off x="1280160" y="2816352"/>
            <a:ext cx="182880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Uncertainty range</a:t>
            </a:r>
            <a:endParaRPr lang="en-US" sz="1100" dirty="0"/>
          </a:p>
        </p:txBody>
      </p:sp>
      <p:sp>
        <p:nvSpPr>
          <p:cNvPr id="22" name="Text 20"/>
          <p:cNvSpPr/>
          <p:nvPr/>
        </p:nvSpPr>
        <p:spPr>
          <a:xfrm>
            <a:off x="3657600" y="2596896"/>
            <a:ext cx="38404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+/-$300 (confidence band)</a:t>
            </a:r>
            <a:endParaRPr lang="en-US" sz="1200" dirty="0"/>
          </a:p>
        </p:txBody>
      </p:sp>
      <p:sp>
        <p:nvSpPr>
          <p:cNvPr id="23" name="Shape 21"/>
          <p:cNvSpPr/>
          <p:nvPr/>
        </p:nvSpPr>
        <p:spPr>
          <a:xfrm>
            <a:off x="7772400" y="2688336"/>
            <a:ext cx="822960" cy="256032"/>
          </a:xfrm>
          <a:prstGeom prst="rect">
            <a:avLst/>
          </a:prstGeom>
          <a:solidFill>
            <a:srgbClr val="D97706"/>
          </a:solidFill>
          <a:ln/>
        </p:spPr>
        <p:txBody>
          <a:bodyPr/>
          <a:lstStyle/>
          <a:p>
            <a:endParaRPr lang="en-US"/>
          </a:p>
        </p:txBody>
      </p:sp>
      <p:sp>
        <p:nvSpPr>
          <p:cNvPr id="24" name="Text 22"/>
          <p:cNvSpPr/>
          <p:nvPr/>
        </p:nvSpPr>
        <p:spPr>
          <a:xfrm>
            <a:off x="7772400" y="2688336"/>
            <a:ext cx="82296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ON CLICK</a:t>
            </a:r>
            <a:endParaRPr lang="en-US" sz="800" dirty="0"/>
          </a:p>
        </p:txBody>
      </p:sp>
      <p:sp>
        <p:nvSpPr>
          <p:cNvPr id="25" name="Shape 23"/>
          <p:cNvSpPr/>
          <p:nvPr/>
        </p:nvSpPr>
        <p:spPr>
          <a:xfrm>
            <a:off x="640080" y="3255264"/>
            <a:ext cx="457200" cy="457200"/>
          </a:xfrm>
          <a:prstGeom prst="ellipse">
            <a:avLst/>
          </a:prstGeom>
          <a:solidFill>
            <a:srgbClr val="7C3AED"/>
          </a:solidFill>
          <a:ln/>
        </p:spPr>
        <p:txBody>
          <a:bodyPr/>
          <a:lstStyle/>
          <a:p>
            <a:endParaRPr lang="en-US"/>
          </a:p>
        </p:txBody>
      </p:sp>
      <p:sp>
        <p:nvSpPr>
          <p:cNvPr id="26" name="Text 24"/>
          <p:cNvSpPr/>
          <p:nvPr/>
        </p:nvSpPr>
        <p:spPr>
          <a:xfrm>
            <a:off x="640080" y="3255264"/>
            <a:ext cx="457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27" name="Text 25"/>
          <p:cNvSpPr/>
          <p:nvPr/>
        </p:nvSpPr>
        <p:spPr>
          <a:xfrm>
            <a:off x="1280160" y="3255264"/>
            <a:ext cx="1828800" cy="237744"/>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Assessment</a:t>
            </a:r>
            <a:endParaRPr lang="en-US" sz="1400" dirty="0"/>
          </a:p>
        </p:txBody>
      </p:sp>
      <p:sp>
        <p:nvSpPr>
          <p:cNvPr id="28" name="Text 26"/>
          <p:cNvSpPr/>
          <p:nvPr/>
        </p:nvSpPr>
        <p:spPr>
          <a:xfrm>
            <a:off x="1280160" y="3474720"/>
            <a:ext cx="182880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Reliability rating</a:t>
            </a:r>
            <a:endParaRPr lang="en-US" sz="1100" dirty="0"/>
          </a:p>
        </p:txBody>
      </p:sp>
      <p:sp>
        <p:nvSpPr>
          <p:cNvPr id="29" name="Text 27"/>
          <p:cNvSpPr/>
          <p:nvPr/>
        </p:nvSpPr>
        <p:spPr>
          <a:xfrm>
            <a:off x="3657600" y="3255264"/>
            <a:ext cx="38404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HIGH / MEDIUM / LOW</a:t>
            </a:r>
            <a:endParaRPr lang="en-US" sz="1200" dirty="0"/>
          </a:p>
        </p:txBody>
      </p:sp>
      <p:sp>
        <p:nvSpPr>
          <p:cNvPr id="30" name="Shape 28"/>
          <p:cNvSpPr/>
          <p:nvPr/>
        </p:nvSpPr>
        <p:spPr>
          <a:xfrm>
            <a:off x="7772400" y="3346704"/>
            <a:ext cx="822960" cy="256032"/>
          </a:xfrm>
          <a:prstGeom prst="rect">
            <a:avLst/>
          </a:prstGeom>
          <a:solidFill>
            <a:srgbClr val="D97706"/>
          </a:solidFill>
          <a:ln/>
        </p:spPr>
        <p:txBody>
          <a:bodyPr/>
          <a:lstStyle/>
          <a:p>
            <a:endParaRPr lang="en-US"/>
          </a:p>
        </p:txBody>
      </p:sp>
      <p:sp>
        <p:nvSpPr>
          <p:cNvPr id="31" name="Text 29"/>
          <p:cNvSpPr/>
          <p:nvPr/>
        </p:nvSpPr>
        <p:spPr>
          <a:xfrm>
            <a:off x="7772400" y="3346704"/>
            <a:ext cx="82296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ON CLICK</a:t>
            </a:r>
            <a:endParaRPr lang="en-US" sz="800" dirty="0"/>
          </a:p>
        </p:txBody>
      </p:sp>
      <p:sp>
        <p:nvSpPr>
          <p:cNvPr id="32" name="Shape 30"/>
          <p:cNvSpPr/>
          <p:nvPr/>
        </p:nvSpPr>
        <p:spPr>
          <a:xfrm>
            <a:off x="640080" y="3913632"/>
            <a:ext cx="457200" cy="457200"/>
          </a:xfrm>
          <a:prstGeom prst="ellipse">
            <a:avLst/>
          </a:prstGeom>
          <a:solidFill>
            <a:srgbClr val="7C3AED"/>
          </a:solidFill>
          <a:ln/>
        </p:spPr>
        <p:txBody>
          <a:bodyPr/>
          <a:lstStyle/>
          <a:p>
            <a:endParaRPr lang="en-US"/>
          </a:p>
        </p:txBody>
      </p:sp>
      <p:sp>
        <p:nvSpPr>
          <p:cNvPr id="33" name="Text 31"/>
          <p:cNvSpPr/>
          <p:nvPr/>
        </p:nvSpPr>
        <p:spPr>
          <a:xfrm>
            <a:off x="640080" y="3913632"/>
            <a:ext cx="457200" cy="45720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P</a:t>
            </a:r>
            <a:endParaRPr lang="en-US" sz="2000" dirty="0"/>
          </a:p>
        </p:txBody>
      </p:sp>
      <p:sp>
        <p:nvSpPr>
          <p:cNvPr id="34" name="Text 32"/>
          <p:cNvSpPr/>
          <p:nvPr/>
        </p:nvSpPr>
        <p:spPr>
          <a:xfrm>
            <a:off x="1280160" y="3913632"/>
            <a:ext cx="1828800" cy="237744"/>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Pedigree</a:t>
            </a:r>
            <a:endParaRPr lang="en-US" sz="1400" dirty="0"/>
          </a:p>
        </p:txBody>
      </p:sp>
      <p:sp>
        <p:nvSpPr>
          <p:cNvPr id="35" name="Text 33"/>
          <p:cNvSpPr/>
          <p:nvPr/>
        </p:nvSpPr>
        <p:spPr>
          <a:xfrm>
            <a:off x="1280160" y="4133088"/>
            <a:ext cx="1828800" cy="201168"/>
          </a:xfrm>
          <a:prstGeom prst="rect">
            <a:avLst/>
          </a:prstGeom>
          <a:noFill/>
          <a:ln/>
        </p:spPr>
        <p:txBody>
          <a:bodyPr wrap="square" lIns="0" tIns="0" rIns="0" bIns="0" rtlCol="0" anchor="t"/>
          <a:lstStyle/>
          <a:p>
            <a:pPr marL="0" indent="0">
              <a:buNone/>
            </a:pPr>
            <a:r>
              <a:rPr lang="en-US" sz="1100" dirty="0">
                <a:solidFill>
                  <a:srgbClr val="64748B"/>
                </a:solidFill>
                <a:latin typeface="Calibri" pitchFamily="34" charset="0"/>
                <a:ea typeface="Calibri" pitchFamily="34" charset="-122"/>
                <a:cs typeface="Calibri" pitchFamily="34" charset="-120"/>
              </a:rPr>
              <a:t>Full provenance chain</a:t>
            </a:r>
            <a:endParaRPr lang="en-US" sz="1100" dirty="0"/>
          </a:p>
        </p:txBody>
      </p:sp>
      <p:sp>
        <p:nvSpPr>
          <p:cNvPr id="36" name="Text 34"/>
          <p:cNvSpPr/>
          <p:nvPr/>
        </p:nvSpPr>
        <p:spPr>
          <a:xfrm>
            <a:off x="3657600" y="3913632"/>
            <a:ext cx="384048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USGS MCS &gt; Tier 1 &gt; ratio-spliced</a:t>
            </a:r>
            <a:endParaRPr lang="en-US" sz="1200" dirty="0"/>
          </a:p>
        </p:txBody>
      </p:sp>
      <p:sp>
        <p:nvSpPr>
          <p:cNvPr id="37" name="Shape 35"/>
          <p:cNvSpPr/>
          <p:nvPr/>
        </p:nvSpPr>
        <p:spPr>
          <a:xfrm>
            <a:off x="7772400" y="4005072"/>
            <a:ext cx="822960" cy="256032"/>
          </a:xfrm>
          <a:prstGeom prst="rect">
            <a:avLst/>
          </a:prstGeom>
          <a:solidFill>
            <a:srgbClr val="D97706"/>
          </a:solidFill>
          <a:ln/>
        </p:spPr>
        <p:txBody>
          <a:bodyPr/>
          <a:lstStyle/>
          <a:p>
            <a:endParaRPr lang="en-US"/>
          </a:p>
        </p:txBody>
      </p:sp>
      <p:sp>
        <p:nvSpPr>
          <p:cNvPr id="38" name="Text 36"/>
          <p:cNvSpPr/>
          <p:nvPr/>
        </p:nvSpPr>
        <p:spPr>
          <a:xfrm>
            <a:off x="7772400" y="4005072"/>
            <a:ext cx="822960"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ON CLICK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Site Map -- The Pages</a:t>
            </a:r>
            <a:endParaRPr lang="en-US" sz="2400" dirty="0"/>
          </a:p>
        </p:txBody>
      </p:sp>
      <p:sp>
        <p:nvSpPr>
          <p:cNvPr id="3" name="Shape 1"/>
          <p:cNvSpPr/>
          <p:nvPr/>
        </p:nvSpPr>
        <p:spPr>
          <a:xfrm>
            <a:off x="457200" y="1005840"/>
            <a:ext cx="2560320" cy="1463040"/>
          </a:xfrm>
          <a:prstGeom prst="rect">
            <a:avLst/>
          </a:prstGeom>
          <a:solidFill>
            <a:srgbClr val="FFFFFF"/>
          </a:solidFill>
          <a:ln w="19050">
            <a:solidFill>
              <a:srgbClr val="1E293B"/>
            </a:solidFill>
            <a:prstDash val="solid"/>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457200" y="1005840"/>
            <a:ext cx="2560320" cy="320040"/>
          </a:xfrm>
          <a:prstGeom prst="rect">
            <a:avLst/>
          </a:prstGeom>
          <a:solidFill>
            <a:srgbClr val="1E293B"/>
          </a:solidFill>
          <a:ln/>
        </p:spPr>
        <p:txBody>
          <a:bodyPr/>
          <a:lstStyle/>
          <a:p>
            <a:endParaRPr lang="en-US"/>
          </a:p>
        </p:txBody>
      </p:sp>
      <p:sp>
        <p:nvSpPr>
          <p:cNvPr id="5" name="Text 3"/>
          <p:cNvSpPr/>
          <p:nvPr/>
        </p:nvSpPr>
        <p:spPr>
          <a:xfrm>
            <a:off x="457200" y="100584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Landing</a:t>
            </a:r>
            <a:endParaRPr lang="en-US" sz="1300" dirty="0"/>
          </a:p>
        </p:txBody>
      </p:sp>
      <p:sp>
        <p:nvSpPr>
          <p:cNvPr id="6" name="Text 4"/>
          <p:cNvSpPr/>
          <p:nvPr/>
        </p:nvSpPr>
        <p:spPr>
          <a:xfrm>
            <a:off x="548640" y="1371600"/>
            <a:ext cx="2377440" cy="201168"/>
          </a:xfrm>
          <a:prstGeom prst="rect">
            <a:avLst/>
          </a:prstGeom>
          <a:noFill/>
          <a:ln/>
        </p:spPr>
        <p:txBody>
          <a:bodyPr wrap="square"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The 30-second hook</a:t>
            </a:r>
            <a:endParaRPr lang="en-US" sz="1000" dirty="0"/>
          </a:p>
        </p:txBody>
      </p:sp>
      <p:sp>
        <p:nvSpPr>
          <p:cNvPr id="7" name="Text 5"/>
          <p:cNvSpPr/>
          <p:nvPr/>
        </p:nvSpPr>
        <p:spPr>
          <a:xfrm>
            <a:off x="548640" y="160020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Video embed, three pathway cards, one headline stat</a:t>
            </a:r>
            <a:endParaRPr lang="en-US" sz="1000" dirty="0"/>
          </a:p>
        </p:txBody>
      </p:sp>
      <p:sp>
        <p:nvSpPr>
          <p:cNvPr id="8" name="Shape 6"/>
          <p:cNvSpPr/>
          <p:nvPr/>
        </p:nvSpPr>
        <p:spPr>
          <a:xfrm>
            <a:off x="3291840" y="1005840"/>
            <a:ext cx="2560320" cy="1463040"/>
          </a:xfrm>
          <a:prstGeom prst="rect">
            <a:avLst/>
          </a:prstGeom>
          <a:solidFill>
            <a:srgbClr val="FFFFFF"/>
          </a:solidFill>
          <a:ln w="19050">
            <a:solidFill>
              <a:srgbClr val="059669"/>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3291840" y="1005840"/>
            <a:ext cx="2560320" cy="320040"/>
          </a:xfrm>
          <a:prstGeom prst="rect">
            <a:avLst/>
          </a:prstGeom>
          <a:solidFill>
            <a:srgbClr val="059669"/>
          </a:solidFill>
          <a:ln/>
        </p:spPr>
        <p:txBody>
          <a:bodyPr/>
          <a:lstStyle/>
          <a:p>
            <a:endParaRPr lang="en-US"/>
          </a:p>
        </p:txBody>
      </p:sp>
      <p:sp>
        <p:nvSpPr>
          <p:cNvPr id="10" name="Text 8"/>
          <p:cNvSpPr/>
          <p:nvPr/>
        </p:nvSpPr>
        <p:spPr>
          <a:xfrm>
            <a:off x="3291840" y="100584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11" name="Text 9"/>
          <p:cNvSpPr/>
          <p:nvPr/>
        </p:nvSpPr>
        <p:spPr>
          <a:xfrm>
            <a:off x="3383280" y="1371600"/>
            <a:ext cx="2377440" cy="201168"/>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Results &amp; data views</a:t>
            </a:r>
            <a:endParaRPr lang="en-US" sz="1000" dirty="0"/>
          </a:p>
        </p:txBody>
      </p:sp>
      <p:sp>
        <p:nvSpPr>
          <p:cNvPr id="12" name="Text 10"/>
          <p:cNvSpPr/>
          <p:nvPr/>
        </p:nvSpPr>
        <p:spPr>
          <a:xfrm>
            <a:off x="3383280" y="160020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Global overview, US deep dive (state&gt;county), country samplers, FAND vs mainstream comparison</a:t>
            </a:r>
            <a:endParaRPr lang="en-US" sz="1000" dirty="0"/>
          </a:p>
        </p:txBody>
      </p:sp>
      <p:sp>
        <p:nvSpPr>
          <p:cNvPr id="13" name="Shape 11"/>
          <p:cNvSpPr/>
          <p:nvPr/>
        </p:nvSpPr>
        <p:spPr>
          <a:xfrm>
            <a:off x="6126480" y="1005840"/>
            <a:ext cx="2560320" cy="1463040"/>
          </a:xfrm>
          <a:prstGeom prst="rect">
            <a:avLst/>
          </a:prstGeom>
          <a:solidFill>
            <a:srgbClr val="FFFFFF"/>
          </a:solidFill>
          <a:ln w="19050">
            <a:solidFill>
              <a:srgbClr val="2563EB"/>
            </a:solidFill>
            <a:prstDash val="solid"/>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6126480" y="1005840"/>
            <a:ext cx="2560320" cy="320040"/>
          </a:xfrm>
          <a:prstGeom prst="rect">
            <a:avLst/>
          </a:prstGeom>
          <a:solidFill>
            <a:srgbClr val="2563EB"/>
          </a:solidFill>
          <a:ln/>
        </p:spPr>
        <p:txBody>
          <a:bodyPr/>
          <a:lstStyle/>
          <a:p>
            <a:endParaRPr lang="en-US"/>
          </a:p>
        </p:txBody>
      </p:sp>
      <p:sp>
        <p:nvSpPr>
          <p:cNvPr id="15" name="Text 13"/>
          <p:cNvSpPr/>
          <p:nvPr/>
        </p:nvSpPr>
        <p:spPr>
          <a:xfrm>
            <a:off x="6126480" y="100584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Framework</a:t>
            </a:r>
            <a:endParaRPr lang="en-US" sz="1300" dirty="0"/>
          </a:p>
        </p:txBody>
      </p:sp>
      <p:sp>
        <p:nvSpPr>
          <p:cNvPr id="16" name="Text 14"/>
          <p:cNvSpPr/>
          <p:nvPr/>
        </p:nvSpPr>
        <p:spPr>
          <a:xfrm>
            <a:off x="6217920" y="1371600"/>
            <a:ext cx="2377440" cy="201168"/>
          </a:xfrm>
          <a:prstGeom prst="rect">
            <a:avLst/>
          </a:prstGeom>
          <a:noFill/>
          <a:ln/>
        </p:spPr>
        <p:txBody>
          <a:bodyPr wrap="square"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Architecture &amp; glossary</a:t>
            </a:r>
            <a:endParaRPr lang="en-US" sz="1000" dirty="0"/>
          </a:p>
        </p:txBody>
      </p:sp>
      <p:sp>
        <p:nvSpPr>
          <p:cNvPr id="17" name="Text 15"/>
          <p:cNvSpPr/>
          <p:nvPr/>
        </p:nvSpPr>
        <p:spPr>
          <a:xfrm>
            <a:off x="6217920" y="160020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Balance sheet equation, What hierarchy tree, interactive glossary (30 terms), five spatial scales</a:t>
            </a:r>
            <a:endParaRPr lang="en-US" sz="1000" dirty="0"/>
          </a:p>
        </p:txBody>
      </p:sp>
      <p:sp>
        <p:nvSpPr>
          <p:cNvPr id="18" name="Shape 16"/>
          <p:cNvSpPr/>
          <p:nvPr/>
        </p:nvSpPr>
        <p:spPr>
          <a:xfrm>
            <a:off x="457200" y="2743200"/>
            <a:ext cx="2560320" cy="1463040"/>
          </a:xfrm>
          <a:prstGeom prst="rect">
            <a:avLst/>
          </a:prstGeom>
          <a:solidFill>
            <a:srgbClr val="FFFFFF"/>
          </a:solidFill>
          <a:ln w="19050">
            <a:solidFill>
              <a:srgbClr val="7C3AED"/>
            </a:solidFill>
            <a:prstDash val="solid"/>
          </a:ln>
          <a:effectLst>
            <a:outerShdw blurRad="76200" dist="25400" dir="8100000" algn="bl" rotWithShape="0">
              <a:srgbClr val="000000">
                <a:alpha val="10000"/>
              </a:srgbClr>
            </a:outerShdw>
          </a:effectLst>
        </p:spPr>
        <p:txBody>
          <a:bodyPr/>
          <a:lstStyle/>
          <a:p>
            <a:endParaRPr lang="en-US"/>
          </a:p>
        </p:txBody>
      </p:sp>
      <p:sp>
        <p:nvSpPr>
          <p:cNvPr id="19" name="Shape 17"/>
          <p:cNvSpPr/>
          <p:nvPr/>
        </p:nvSpPr>
        <p:spPr>
          <a:xfrm>
            <a:off x="457200" y="2743200"/>
            <a:ext cx="2560320" cy="320040"/>
          </a:xfrm>
          <a:prstGeom prst="rect">
            <a:avLst/>
          </a:prstGeom>
          <a:solidFill>
            <a:srgbClr val="7C3AED"/>
          </a:solidFill>
          <a:ln/>
        </p:spPr>
        <p:txBody>
          <a:bodyPr/>
          <a:lstStyle/>
          <a:p>
            <a:endParaRPr lang="en-US"/>
          </a:p>
        </p:txBody>
      </p:sp>
      <p:sp>
        <p:nvSpPr>
          <p:cNvPr id="20" name="Text 18"/>
          <p:cNvSpPr/>
          <p:nvPr/>
        </p:nvSpPr>
        <p:spPr>
          <a:xfrm>
            <a:off x="457200" y="274320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Methodology</a:t>
            </a:r>
            <a:endParaRPr lang="en-US" sz="1300" dirty="0"/>
          </a:p>
        </p:txBody>
      </p:sp>
      <p:sp>
        <p:nvSpPr>
          <p:cNvPr id="21" name="Text 19"/>
          <p:cNvSpPr/>
          <p:nvPr/>
        </p:nvSpPr>
        <p:spPr>
          <a:xfrm>
            <a:off x="548640" y="3108960"/>
            <a:ext cx="2377440" cy="201168"/>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OGs + NUSAP + sources</a:t>
            </a:r>
            <a:endParaRPr lang="en-US" sz="1000" dirty="0"/>
          </a:p>
        </p:txBody>
      </p:sp>
      <p:sp>
        <p:nvSpPr>
          <p:cNvPr id="22" name="Text 20"/>
          <p:cNvSpPr/>
          <p:nvPr/>
        </p:nvSpPr>
        <p:spPr>
          <a:xfrm>
            <a:off x="548640" y="333756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10 Operational Guidelines (accordion), NUSAP legend, source directory, replication package link</a:t>
            </a:r>
            <a:endParaRPr lang="en-US" sz="1000" dirty="0"/>
          </a:p>
        </p:txBody>
      </p:sp>
      <p:sp>
        <p:nvSpPr>
          <p:cNvPr id="23" name="Shape 21"/>
          <p:cNvSpPr/>
          <p:nvPr/>
        </p:nvSpPr>
        <p:spPr>
          <a:xfrm>
            <a:off x="3291840" y="2743200"/>
            <a:ext cx="2560320" cy="1463040"/>
          </a:xfrm>
          <a:prstGeom prst="rect">
            <a:avLst/>
          </a:prstGeom>
          <a:solidFill>
            <a:srgbClr val="FFFFFF"/>
          </a:solidFill>
          <a:ln w="19050">
            <a:solidFill>
              <a:srgbClr val="64748B"/>
            </a:solidFill>
            <a:prstDash val="solid"/>
          </a:ln>
          <a:effectLst>
            <a:outerShdw blurRad="76200" dist="25400" dir="8100000" algn="bl" rotWithShape="0">
              <a:srgbClr val="000000">
                <a:alpha val="10000"/>
              </a:srgbClr>
            </a:outerShdw>
          </a:effectLst>
        </p:spPr>
        <p:txBody>
          <a:bodyPr/>
          <a:lstStyle/>
          <a:p>
            <a:endParaRPr lang="en-US"/>
          </a:p>
        </p:txBody>
      </p:sp>
      <p:sp>
        <p:nvSpPr>
          <p:cNvPr id="24" name="Shape 22"/>
          <p:cNvSpPr/>
          <p:nvPr/>
        </p:nvSpPr>
        <p:spPr>
          <a:xfrm>
            <a:off x="3291840" y="2743200"/>
            <a:ext cx="2560320" cy="320040"/>
          </a:xfrm>
          <a:prstGeom prst="rect">
            <a:avLst/>
          </a:prstGeom>
          <a:solidFill>
            <a:srgbClr val="64748B"/>
          </a:solidFill>
          <a:ln/>
        </p:spPr>
        <p:txBody>
          <a:bodyPr/>
          <a:lstStyle/>
          <a:p>
            <a:endParaRPr lang="en-US"/>
          </a:p>
        </p:txBody>
      </p:sp>
      <p:sp>
        <p:nvSpPr>
          <p:cNvPr id="25" name="Text 23"/>
          <p:cNvSpPr/>
          <p:nvPr/>
        </p:nvSpPr>
        <p:spPr>
          <a:xfrm>
            <a:off x="3291840" y="274320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About</a:t>
            </a:r>
            <a:endParaRPr lang="en-US" sz="1300" dirty="0"/>
          </a:p>
        </p:txBody>
      </p:sp>
      <p:sp>
        <p:nvSpPr>
          <p:cNvPr id="26" name="Text 24"/>
          <p:cNvSpPr/>
          <p:nvPr/>
        </p:nvSpPr>
        <p:spPr>
          <a:xfrm>
            <a:off x="3383280" y="3108960"/>
            <a:ext cx="2377440" cy="201168"/>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Lineage &amp; team</a:t>
            </a:r>
            <a:endParaRPr lang="en-US" sz="1000" dirty="0"/>
          </a:p>
        </p:txBody>
      </p:sp>
      <p:sp>
        <p:nvSpPr>
          <p:cNvPr id="27" name="Text 25"/>
          <p:cNvSpPr/>
          <p:nvPr/>
        </p:nvSpPr>
        <p:spPr>
          <a:xfrm>
            <a:off x="3383280" y="333756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Career timeline: IMF 1964 &gt; DataBank &gt; MEP 1995 &gt; OconEco. AI-augmented research note. Contact.</a:t>
            </a:r>
            <a:endParaRPr lang="en-US" sz="1000" dirty="0"/>
          </a:p>
        </p:txBody>
      </p:sp>
      <p:sp>
        <p:nvSpPr>
          <p:cNvPr id="28" name="Shape 26"/>
          <p:cNvSpPr/>
          <p:nvPr/>
        </p:nvSpPr>
        <p:spPr>
          <a:xfrm>
            <a:off x="6126480" y="2743200"/>
            <a:ext cx="2560320" cy="1463040"/>
          </a:xfrm>
          <a:prstGeom prst="rect">
            <a:avLst/>
          </a:prstGeom>
          <a:solidFill>
            <a:srgbClr val="FFFFFF"/>
          </a:solidFill>
          <a:ln w="19050">
            <a:solidFill>
              <a:srgbClr val="7C3AED"/>
            </a:solidFill>
            <a:prstDash val="solid"/>
          </a:ln>
          <a:effectLst>
            <a:outerShdw blurRad="76200" dist="25400" dir="8100000" algn="bl" rotWithShape="0">
              <a:srgbClr val="000000">
                <a:alpha val="10000"/>
              </a:srgbClr>
            </a:outerShdw>
          </a:effectLst>
        </p:spPr>
        <p:txBody>
          <a:bodyPr/>
          <a:lstStyle/>
          <a:p>
            <a:endParaRPr lang="en-US"/>
          </a:p>
        </p:txBody>
      </p:sp>
      <p:sp>
        <p:nvSpPr>
          <p:cNvPr id="29" name="Shape 27"/>
          <p:cNvSpPr/>
          <p:nvPr/>
        </p:nvSpPr>
        <p:spPr>
          <a:xfrm>
            <a:off x="6126480" y="2743200"/>
            <a:ext cx="2560320" cy="320040"/>
          </a:xfrm>
          <a:prstGeom prst="rect">
            <a:avLst/>
          </a:prstGeom>
          <a:solidFill>
            <a:srgbClr val="7C3AED"/>
          </a:solidFill>
          <a:ln/>
        </p:spPr>
        <p:txBody>
          <a:bodyPr/>
          <a:lstStyle/>
          <a:p>
            <a:endParaRPr lang="en-US"/>
          </a:p>
        </p:txBody>
      </p:sp>
      <p:sp>
        <p:nvSpPr>
          <p:cNvPr id="30" name="Text 28"/>
          <p:cNvSpPr/>
          <p:nvPr/>
        </p:nvSpPr>
        <p:spPr>
          <a:xfrm>
            <a:off x="6126480" y="2743200"/>
            <a:ext cx="256032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Deep Dive</a:t>
            </a:r>
            <a:endParaRPr lang="en-US" sz="1300" dirty="0"/>
          </a:p>
        </p:txBody>
      </p:sp>
      <p:sp>
        <p:nvSpPr>
          <p:cNvPr id="31" name="Text 29"/>
          <p:cNvSpPr/>
          <p:nvPr/>
        </p:nvSpPr>
        <p:spPr>
          <a:xfrm>
            <a:off x="6217920" y="3108960"/>
            <a:ext cx="2377440" cy="201168"/>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PASSWORD PROTECTED</a:t>
            </a:r>
            <a:endParaRPr lang="en-US" sz="1000" dirty="0"/>
          </a:p>
        </p:txBody>
      </p:sp>
      <p:sp>
        <p:nvSpPr>
          <p:cNvPr id="32" name="Text 30"/>
          <p:cNvSpPr/>
          <p:nvPr/>
        </p:nvSpPr>
        <p:spPr>
          <a:xfrm>
            <a:off x="6217920" y="3337560"/>
            <a:ext cx="2377440" cy="777240"/>
          </a:xfrm>
          <a:prstGeom prst="rect">
            <a:avLst/>
          </a:prstGeom>
          <a:noFill/>
          <a:ln/>
        </p:spPr>
        <p:txBody>
          <a:bodyPr wrap="square" rtlCol="0" anchor="t"/>
          <a:lstStyle/>
          <a:p>
            <a:pPr marL="0" indent="0">
              <a:buNone/>
            </a:pPr>
            <a:r>
              <a:rPr lang="en-US" sz="1000" dirty="0">
                <a:solidFill>
                  <a:srgbClr val="64748B"/>
                </a:solidFill>
                <a:latin typeface="Calibri" pitchFamily="34" charset="0"/>
                <a:ea typeface="Calibri" pitchFamily="34" charset="-122"/>
                <a:cs typeface="Calibri" pitchFamily="34" charset="-120"/>
              </a:rPr>
              <a:t>Full papers, downloadable workbooks, replication package, full OG documents. For named institutional reviewers.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64008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Next Steps</a:t>
            </a:r>
            <a:endParaRPr lang="en-US" sz="3200" dirty="0"/>
          </a:p>
        </p:txBody>
      </p:sp>
      <p:sp>
        <p:nvSpPr>
          <p:cNvPr id="3" name="Text 1"/>
          <p:cNvSpPr/>
          <p:nvPr/>
        </p:nvSpPr>
        <p:spPr>
          <a:xfrm>
            <a:off x="731520" y="1828800"/>
            <a:ext cx="7680960" cy="22860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1.  Content packets delivered page by page (6-8 sessions)</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2.  Developer builds from packets -- layout only, no editorial</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3.  Phase 1: static + video + gated downloads</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4.  Phase 2: interactive visualizations (D3, maps, tree)</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5.  Phase 3: public launch (~September 2026)</a:t>
            </a:r>
            <a:endParaRPr lang="en-US" sz="1600" dirty="0"/>
          </a:p>
        </p:txBody>
      </p:sp>
      <p:sp>
        <p:nvSpPr>
          <p:cNvPr id="4" name="Text 2"/>
          <p:cNvSpPr/>
          <p:nvPr/>
        </p:nvSpPr>
        <p:spPr>
          <a:xfrm>
            <a:off x="731520" y="4389120"/>
            <a:ext cx="7680960" cy="365760"/>
          </a:xfrm>
          <a:prstGeom prst="rect">
            <a:avLst/>
          </a:prstGeom>
          <a:noFill/>
          <a:ln/>
        </p:spPr>
        <p:txBody>
          <a:bodyPr wrap="square" rtlCol="0" anchor="ctr"/>
          <a:lstStyle/>
          <a:p>
            <a:pPr marL="0" indent="0" algn="ctr">
              <a:buNone/>
            </a:pPr>
            <a:r>
              <a:rPr lang="en-US" sz="1800" i="1" dirty="0">
                <a:solidFill>
                  <a:srgbClr val="0891B2"/>
                </a:solidFill>
                <a:latin typeface="Georgia" pitchFamily="34" charset="0"/>
                <a:ea typeface="Georgia" pitchFamily="34" charset="-122"/>
                <a:cs typeface="Georgia" pitchFamily="34" charset="-120"/>
              </a:rPr>
              <a:t>oconeco.com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2419</Words>
  <Application>Microsoft Office PowerPoint</Application>
  <PresentationFormat>On-screen Show (16:9)</PresentationFormat>
  <Paragraphs>233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OconEco Website Vision v5</dc:title>
  <dc:subject>PptxGenJS Presentation</dc:subject>
  <dc:creator>John O'Connor / OconEco</dc:creator>
  <cp:lastModifiedBy>John O'Connor</cp:lastModifiedBy>
  <cp:revision>1</cp:revision>
  <dcterms:created xsi:type="dcterms:W3CDTF">2026-05-11T21:41:39Z</dcterms:created>
  <dcterms:modified xsi:type="dcterms:W3CDTF">2026-05-11T22:20:49Z</dcterms:modified>
</cp:coreProperties>
</file>