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(IND): 555 leaves, 1184.6B population, Spearman rho = 0.020.
Density is uncorrelated with income (ρ ≈ 0). Dense and sparse places are equally poor by global standards. India alone fills the Dense+Poor quadrant that the global analysis flagged as under-measured.
Left panel: population in millions and share of country total. Right panel: number of administrative units (leaves). Empty cells (dashes) mean no india leaf falls in that global quintile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China (CHN): 359 leaves, 1414B population, Spearman rho = 0.339.
China shows a significant positive correlation (ρ = 0.34): denser prefectures tend to be richer. This is the opposite of the global pattern — consistent with a manufacturing-led urbanization model that has pulled coastal areas ahead.
Left panel: population in millions and share of country total. Right panel: number of administrative units (leaves). Empty cells (dashes) mean no china leaf falls in that global quintile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United States (USA): 3112 leaves, 331.4B population, Spearman rho = 0.031.
Income barely varies on the global scale (ρ ≈ 0). The measurement asymmetry is vivid: 2,057 counties describe 44M sparse Americans; 157 counties cover 144M dense ones. All are wealthy by world standards.
Left panel: population in millions and share of country total. Right panel: number of administrative units (leaves). Empty cells (dashes) mean no united states leaf falls in that global quintile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India: Through the Global Lens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0" y="91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555 leaves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1.18B people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ρ = 0.020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India falls within global Q1–Q3 for wealth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(millions)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09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14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18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22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5720" y="22402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5840" y="1508760"/>
            <a:ext cx="704088" cy="502920"/>
          </a:xfrm>
          <a:prstGeom prst="rect">
            <a:avLst/>
          </a:prstGeom>
          <a:solidFill>
            <a:srgbClr val="FEF3D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09928" y="1508760"/>
            <a:ext cx="704088" cy="502920"/>
          </a:xfrm>
          <a:prstGeom prst="rect">
            <a:avLst/>
          </a:prstGeom>
          <a:solidFill>
            <a:srgbClr val="FEF3D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09928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14016" y="1508760"/>
            <a:ext cx="704088" cy="502920"/>
          </a:xfrm>
          <a:prstGeom prst="rect">
            <a:avLst/>
          </a:prstGeom>
          <a:solidFill>
            <a:srgbClr val="FEF3D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4016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14016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118104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22192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05840" y="201168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709928" y="201168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9928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09928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414016" y="201168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14016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14016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18104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22192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05840" y="251460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709928" y="2514600"/>
            <a:ext cx="704088" cy="502920"/>
          </a:xfrm>
          <a:prstGeom prst="rect">
            <a:avLst/>
          </a:prstGeom>
          <a:solidFill>
            <a:srgbClr val="FBD38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09928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709928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414016" y="251460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14016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14016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118104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18104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22192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22192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05840" y="301752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5840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709928" y="3017520"/>
            <a:ext cx="704088" cy="502920"/>
          </a:xfrm>
          <a:prstGeom prst="rect">
            <a:avLst/>
          </a:prstGeom>
          <a:solidFill>
            <a:srgbClr val="F6AD5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09928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197.0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709928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414016" y="301752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14016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14016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18104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18104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22192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22192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05840" y="352044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05840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05840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709928" y="3520440"/>
            <a:ext cx="704088" cy="502920"/>
          </a:xfrm>
          <a:prstGeom prst="rect">
            <a:avLst/>
          </a:prstGeom>
          <a:solidFill>
            <a:srgbClr val="ED893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09928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252.2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709928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414016" y="352044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14016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414016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118104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18104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822192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22192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074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count (leaves)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577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281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986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690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394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74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074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5074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solidFill>
            <a:srgbClr val="5DAD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5074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solidFill>
            <a:srgbClr val="5DAD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5074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solidFill>
            <a:srgbClr val="5DAD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5" name="Shape 143"/>
          <p:cNvSpPr/>
          <p:nvPr/>
        </p:nvSpPr>
        <p:spPr>
          <a:xfrm>
            <a:off x="457200" y="411480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6" name="Text 144"/>
          <p:cNvSpPr/>
          <p:nvPr/>
        </p:nvSpPr>
        <p:spPr>
          <a:xfrm>
            <a:off x="640080" y="4133088"/>
            <a:ext cx="7909560" cy="8229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is uncorrelated with income (ρ ≈ 0). Dense and sparse places are equally poor by global standards. India alone fills the Dense+Poor quadrant that the global analysis flagged as under-measured.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China: Through the Global Lens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0" y="91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359 leaves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1.41B people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ρ = 0.339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Chinese prefecture falls below global Q3 for wealth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(millions)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09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14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18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22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5720" y="22402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5840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09928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14016" y="150876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4016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14016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118104" y="150876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18104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18104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822192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05840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09928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09928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14016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18104" y="2011680"/>
            <a:ext cx="704088" cy="502920"/>
          </a:xfrm>
          <a:prstGeom prst="rect">
            <a:avLst/>
          </a:prstGeom>
          <a:solidFill>
            <a:srgbClr val="FBD38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18104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179.6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18104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822192" y="201168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2192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22192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05840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09928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9928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14016" y="251460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14016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14016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118104" y="2514600"/>
            <a:ext cx="704088" cy="502920"/>
          </a:xfrm>
          <a:prstGeom prst="rect">
            <a:avLst/>
          </a:prstGeom>
          <a:solidFill>
            <a:srgbClr val="ED893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18104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371.5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118104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822192" y="251460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22192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05840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09928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09928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414016" y="301752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14016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414016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118104" y="3017520"/>
            <a:ext cx="704088" cy="502920"/>
          </a:xfrm>
          <a:prstGeom prst="rect">
            <a:avLst/>
          </a:prstGeom>
          <a:solidFill>
            <a:srgbClr val="ED893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18104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371.5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118104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822192" y="301752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22192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822192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05840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5840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709928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09928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414016" y="3520440"/>
            <a:ext cx="704088" cy="502920"/>
          </a:xfrm>
          <a:prstGeom prst="rect">
            <a:avLst/>
          </a:prstGeom>
          <a:solidFill>
            <a:srgbClr val="FEF3D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14016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414016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118104" y="3520440"/>
            <a:ext cx="704088" cy="502920"/>
          </a:xfrm>
          <a:prstGeom prst="rect">
            <a:avLst/>
          </a:prstGeom>
          <a:solidFill>
            <a:srgbClr val="FFF3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18104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18104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822192" y="3520440"/>
            <a:ext cx="704088" cy="502920"/>
          </a:xfrm>
          <a:prstGeom prst="rect">
            <a:avLst/>
          </a:prstGeom>
          <a:solidFill>
            <a:srgbClr val="FEEBC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22192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822192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074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count (leaves)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577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81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986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690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394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074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074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solidFill>
            <a:srgbClr val="5DAD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5074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5074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solidFill>
            <a:srgbClr val="5DAD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5074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457200" y="411480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0080" y="4133088"/>
            <a:ext cx="7909560" cy="8229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shows a significant positive correlation (ρ = 0.34): denser prefectures tend to be richer. This is the opposite of the global pattern — consistent with a manufacturing-led urbanization model that has pulled coastal areas ahead.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USA: Through the Global Lens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0" y="91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3,112 leaves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0.33B people</a:t>
            </a:r>
            <a:pPr algn="r"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|  </a:t>
            </a:r>
            <a:pPr algn="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ρ = 0.031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 entire country occupies a single column: Q5 wealth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(millions)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09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14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18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22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5720" y="22402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5840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09928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14016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4016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18104" y="1508760"/>
            <a:ext cx="704088" cy="502920"/>
          </a:xfrm>
          <a:prstGeom prst="rect">
            <a:avLst/>
          </a:prstGeom>
          <a:solidFill>
            <a:srgbClr val="FEF3D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18104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18104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822192" y="1508760"/>
            <a:ext cx="704088" cy="502920"/>
          </a:xfrm>
          <a:prstGeom prst="rect">
            <a:avLst/>
          </a:prstGeom>
          <a:solidFill>
            <a:srgbClr val="FBD38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150876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22192" y="176022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05840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09928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09928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14016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18104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18104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22192" y="2011680"/>
            <a:ext cx="704088" cy="502920"/>
          </a:xfrm>
          <a:prstGeom prst="rect">
            <a:avLst/>
          </a:prstGeom>
          <a:solidFill>
            <a:srgbClr val="FBD38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201168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22192" y="226314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05840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09928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09928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14016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14016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18104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18104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22192" y="2514600"/>
            <a:ext cx="704088" cy="502920"/>
          </a:xfrm>
          <a:prstGeom prst="rect">
            <a:avLst/>
          </a:prstGeom>
          <a:solidFill>
            <a:srgbClr val="FBD38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22192" y="251460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22192" y="276606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05840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09928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09928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14016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14016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18104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18104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22192" y="3017520"/>
            <a:ext cx="704088" cy="502920"/>
          </a:xfrm>
          <a:prstGeom prst="rect">
            <a:avLst/>
          </a:prstGeom>
          <a:solidFill>
            <a:srgbClr val="F6AD5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22192" y="301752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822192" y="326898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05840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5840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709928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09928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14016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14016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118104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18104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822192" y="3520440"/>
            <a:ext cx="704088" cy="502920"/>
          </a:xfrm>
          <a:prstGeom prst="rect">
            <a:avLst/>
          </a:prstGeom>
          <a:solidFill>
            <a:srgbClr val="DD6B2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22192" y="3520440"/>
            <a:ext cx="70408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22192" y="3771900"/>
            <a:ext cx="7040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43.6%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0749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count (leaves)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577840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281928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986016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90104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394192" y="114300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74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81928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86016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90104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solidFill>
            <a:srgbClr val="1B4F7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94192" y="150876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2,051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074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77840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81928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86016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90104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solidFill>
            <a:srgbClr val="1B4F7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94192" y="201168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074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577840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81928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986016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90104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94192" y="251460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074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77840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81928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86016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90104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94192" y="301752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5074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  <a:p>
            <a:pPr algn="r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577840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81928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986016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690104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solidFill>
            <a:srgbClr val="2E86C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394192" y="3520440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457200" y="411480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7" name="Text 135"/>
          <p:cNvSpPr/>
          <p:nvPr/>
        </p:nvSpPr>
        <p:spPr>
          <a:xfrm>
            <a:off x="640080" y="4133088"/>
            <a:ext cx="7909560" cy="8229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barely varies on the global scale (ρ ≈ 0). The measurement asymmetry is vivid: 2,057 counties describe 44M sparse Americans; 157 counties cover 144M dense ones. All are wealthy by world standards.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Country Cross-Tabulations: India, China, USA</dc:title>
  <dc:subject>PptxGenJS Presentation</dc:subject>
  <dc:creator>John O'Connor &amp; Claude</dc:creator>
  <cp:lastModifiedBy>John O'Connor &amp; Claude</cp:lastModifiedBy>
  <cp:revision>1</cp:revision>
  <dcterms:created xsi:type="dcterms:W3CDTF">2026-03-04T23:31:24Z</dcterms:created>
  <dcterms:modified xsi:type="dcterms:W3CDTF">2026-03-04T23:31:24Z</dcterms:modified>
</cp:coreProperties>
</file>