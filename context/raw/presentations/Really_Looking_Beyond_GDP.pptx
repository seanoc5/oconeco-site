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720A79-3A50-4D56-9223-36E006065F34}" v="361" dt="2026-05-25T11:49:36.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6" autoAdjust="0"/>
    <p:restoredTop sz="68721" autoAdjust="0"/>
  </p:normalViewPr>
  <p:slideViewPr>
    <p:cSldViewPr snapToGrid="0" snapToObjects="1">
      <p:cViewPr varScale="1">
        <p:scale>
          <a:sx n="80" d="100"/>
          <a:sy n="80" d="100"/>
        </p:scale>
        <p:origin x="666" y="48"/>
      </p:cViewPr>
      <p:guideLst/>
    </p:cSldViewPr>
  </p:slideViewPr>
  <p:outlineViewPr>
    <p:cViewPr>
      <p:scale>
        <a:sx n="33" d="100"/>
        <a:sy n="33" d="100"/>
      </p:scale>
      <p:origin x="0" y="0"/>
    </p:cViewPr>
  </p:outlineViewPr>
  <p:notesTextViewPr>
    <p:cViewPr>
      <p:scale>
        <a:sx n="1" d="1"/>
        <a:sy n="1" d="1"/>
      </p:scale>
      <p:origin x="0" y="-873"/>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undo custSel modSld">
      <pc:chgData name="John O'Connor" userId="f7385dc4-3ae7-4722-a367-bcb8024ecc52" providerId="ADAL" clId="{D1113808-6EF2-45F3-A052-BF7C3C4820FF}" dt="2026-05-25T11:49:35.730" v="2728" actId="20577"/>
      <pc:docMkLst>
        <pc:docMk/>
      </pc:docMkLst>
      <pc:sldChg chg="addSp modSp mod modNotesTx">
        <pc:chgData name="John O'Connor" userId="f7385dc4-3ae7-4722-a367-bcb8024ecc52" providerId="ADAL" clId="{D1113808-6EF2-45F3-A052-BF7C3C4820FF}" dt="2026-05-25T11:37:43.080" v="2305" actId="20577"/>
        <pc:sldMkLst>
          <pc:docMk/>
          <pc:sldMk cId="0" sldId="256"/>
        </pc:sldMkLst>
        <pc:spChg chg="mod">
          <ac:chgData name="John O'Connor" userId="f7385dc4-3ae7-4722-a367-bcb8024ecc52" providerId="ADAL" clId="{D1113808-6EF2-45F3-A052-BF7C3C4820FF}" dt="2026-05-25T11:08:17.761" v="573" actId="1076"/>
          <ac:spMkLst>
            <pc:docMk/>
            <pc:sldMk cId="0" sldId="256"/>
            <ac:spMk id="3" creationId="{00000000-0000-0000-0000-000000000000}"/>
          </ac:spMkLst>
        </pc:spChg>
        <pc:spChg chg="mod">
          <ac:chgData name="John O'Connor" userId="f7385dc4-3ae7-4722-a367-bcb8024ecc52" providerId="ADAL" clId="{D1113808-6EF2-45F3-A052-BF7C3C4820FF}" dt="2026-05-25T11:08:25.250" v="574" actId="1076"/>
          <ac:spMkLst>
            <pc:docMk/>
            <pc:sldMk cId="0" sldId="256"/>
            <ac:spMk id="4" creationId="{00000000-0000-0000-0000-000000000000}"/>
          </ac:spMkLst>
        </pc:spChg>
        <pc:spChg chg="add mod">
          <ac:chgData name="John O'Connor" userId="f7385dc4-3ae7-4722-a367-bcb8024ecc52" providerId="ADAL" clId="{D1113808-6EF2-45F3-A052-BF7C3C4820FF}" dt="2026-05-25T11:10:54.870" v="659" actId="20577"/>
          <ac:spMkLst>
            <pc:docMk/>
            <pc:sldMk cId="0" sldId="256"/>
            <ac:spMk id="8" creationId="{30F12733-AA13-82EF-746E-3845DE5666F7}"/>
          </ac:spMkLst>
        </pc:spChg>
        <pc:picChg chg="add mod">
          <ac:chgData name="John O'Connor" userId="f7385dc4-3ae7-4722-a367-bcb8024ecc52" providerId="ADAL" clId="{D1113808-6EF2-45F3-A052-BF7C3C4820FF}" dt="2026-05-25T10:57:41.836" v="344" actId="1076"/>
          <ac:picMkLst>
            <pc:docMk/>
            <pc:sldMk cId="0" sldId="256"/>
            <ac:picMk id="7" creationId="{7E5186C3-C622-2913-0173-1AAA967AB958}"/>
          </ac:picMkLst>
        </pc:picChg>
      </pc:sldChg>
      <pc:sldChg chg="addSp modSp mod">
        <pc:chgData name="John O'Connor" userId="f7385dc4-3ae7-4722-a367-bcb8024ecc52" providerId="ADAL" clId="{D1113808-6EF2-45F3-A052-BF7C3C4820FF}" dt="2026-05-25T11:38:34.277" v="2306" actId="1076"/>
        <pc:sldMkLst>
          <pc:docMk/>
          <pc:sldMk cId="0" sldId="257"/>
        </pc:sldMkLst>
        <pc:spChg chg="mod">
          <ac:chgData name="John O'Connor" userId="f7385dc4-3ae7-4722-a367-bcb8024ecc52" providerId="ADAL" clId="{D1113808-6EF2-45F3-A052-BF7C3C4820FF}" dt="2026-05-25T11:38:34.277" v="2306" actId="1076"/>
          <ac:spMkLst>
            <pc:docMk/>
            <pc:sldMk cId="0" sldId="257"/>
            <ac:spMk id="3" creationId="{00000000-0000-0000-0000-000000000000}"/>
          </ac:spMkLst>
        </pc:spChg>
        <pc:spChg chg="mod">
          <ac:chgData name="John O'Connor" userId="f7385dc4-3ae7-4722-a367-bcb8024ecc52" providerId="ADAL" clId="{D1113808-6EF2-45F3-A052-BF7C3C4820FF}" dt="2026-05-25T10:49:57.593" v="41" actId="6549"/>
          <ac:spMkLst>
            <pc:docMk/>
            <pc:sldMk cId="0" sldId="257"/>
            <ac:spMk id="7" creationId="{00000000-0000-0000-0000-000000000000}"/>
          </ac:spMkLst>
        </pc:spChg>
        <pc:picChg chg="add mod">
          <ac:chgData name="John O'Connor" userId="f7385dc4-3ae7-4722-a367-bcb8024ecc52" providerId="ADAL" clId="{D1113808-6EF2-45F3-A052-BF7C3C4820FF}" dt="2026-05-25T10:57:55.005" v="345"/>
          <ac:picMkLst>
            <pc:docMk/>
            <pc:sldMk cId="0" sldId="257"/>
            <ac:picMk id="19" creationId="{DEA879B9-2FC4-640E-CB45-22C5E3794CC0}"/>
          </ac:picMkLst>
        </pc:picChg>
      </pc:sldChg>
      <pc:sldChg chg="addSp modSp mod">
        <pc:chgData name="John O'Connor" userId="f7385dc4-3ae7-4722-a367-bcb8024ecc52" providerId="ADAL" clId="{D1113808-6EF2-45F3-A052-BF7C3C4820FF}" dt="2026-05-25T11:39:33.800" v="2344" actId="6549"/>
        <pc:sldMkLst>
          <pc:docMk/>
          <pc:sldMk cId="0" sldId="258"/>
        </pc:sldMkLst>
        <pc:spChg chg="mod">
          <ac:chgData name="John O'Connor" userId="f7385dc4-3ae7-4722-a367-bcb8024ecc52" providerId="ADAL" clId="{D1113808-6EF2-45F3-A052-BF7C3C4820FF}" dt="2026-05-25T11:39:33.800" v="2344" actId="6549"/>
          <ac:spMkLst>
            <pc:docMk/>
            <pc:sldMk cId="0" sldId="258"/>
            <ac:spMk id="8" creationId="{00000000-0000-0000-0000-000000000000}"/>
          </ac:spMkLst>
        </pc:spChg>
        <pc:picChg chg="add mod">
          <ac:chgData name="John O'Connor" userId="f7385dc4-3ae7-4722-a367-bcb8024ecc52" providerId="ADAL" clId="{D1113808-6EF2-45F3-A052-BF7C3C4820FF}" dt="2026-05-25T10:57:58.547" v="346"/>
          <ac:picMkLst>
            <pc:docMk/>
            <pc:sldMk cId="0" sldId="258"/>
            <ac:picMk id="10" creationId="{683E17BD-551F-0535-83C4-8F504DE5C6EF}"/>
          </ac:picMkLst>
        </pc:picChg>
      </pc:sldChg>
      <pc:sldChg chg="addSp modSp mod">
        <pc:chgData name="John O'Connor" userId="f7385dc4-3ae7-4722-a367-bcb8024ecc52" providerId="ADAL" clId="{D1113808-6EF2-45F3-A052-BF7C3C4820FF}" dt="2026-05-25T11:40:13.235" v="2367" actId="20577"/>
        <pc:sldMkLst>
          <pc:docMk/>
          <pc:sldMk cId="0" sldId="259"/>
        </pc:sldMkLst>
        <pc:spChg chg="mod">
          <ac:chgData name="John O'Connor" userId="f7385dc4-3ae7-4722-a367-bcb8024ecc52" providerId="ADAL" clId="{D1113808-6EF2-45F3-A052-BF7C3C4820FF}" dt="2026-05-25T11:40:13.235" v="2367" actId="20577"/>
          <ac:spMkLst>
            <pc:docMk/>
            <pc:sldMk cId="0" sldId="259"/>
            <ac:spMk id="3" creationId="{00000000-0000-0000-0000-000000000000}"/>
          </ac:spMkLst>
        </pc:spChg>
        <pc:picChg chg="add mod">
          <ac:chgData name="John O'Connor" userId="f7385dc4-3ae7-4722-a367-bcb8024ecc52" providerId="ADAL" clId="{D1113808-6EF2-45F3-A052-BF7C3C4820FF}" dt="2026-05-25T10:58:01.111" v="347"/>
          <ac:picMkLst>
            <pc:docMk/>
            <pc:sldMk cId="0" sldId="259"/>
            <ac:picMk id="19" creationId="{3F91B565-2554-8144-1C11-C63076D132D4}"/>
          </ac:picMkLst>
        </pc:picChg>
      </pc:sldChg>
      <pc:sldChg chg="addSp modSp">
        <pc:chgData name="John O'Connor" userId="f7385dc4-3ae7-4722-a367-bcb8024ecc52" providerId="ADAL" clId="{D1113808-6EF2-45F3-A052-BF7C3C4820FF}" dt="2026-05-25T10:58:05.979" v="348"/>
        <pc:sldMkLst>
          <pc:docMk/>
          <pc:sldMk cId="0" sldId="260"/>
        </pc:sldMkLst>
        <pc:picChg chg="add mod">
          <ac:chgData name="John O'Connor" userId="f7385dc4-3ae7-4722-a367-bcb8024ecc52" providerId="ADAL" clId="{D1113808-6EF2-45F3-A052-BF7C3C4820FF}" dt="2026-05-25T10:58:05.979" v="348"/>
          <ac:picMkLst>
            <pc:docMk/>
            <pc:sldMk cId="0" sldId="260"/>
            <ac:picMk id="8" creationId="{58F35A2F-3948-CC64-A28E-DD50096CEDFD}"/>
          </ac:picMkLst>
        </pc:picChg>
      </pc:sldChg>
      <pc:sldChg chg="addSp modSp modNotesTx">
        <pc:chgData name="John O'Connor" userId="f7385dc4-3ae7-4722-a367-bcb8024ecc52" providerId="ADAL" clId="{D1113808-6EF2-45F3-A052-BF7C3C4820FF}" dt="2026-05-25T11:44:10.708" v="2480" actId="20577"/>
        <pc:sldMkLst>
          <pc:docMk/>
          <pc:sldMk cId="0" sldId="261"/>
        </pc:sldMkLst>
        <pc:picChg chg="add mod">
          <ac:chgData name="John O'Connor" userId="f7385dc4-3ae7-4722-a367-bcb8024ecc52" providerId="ADAL" clId="{D1113808-6EF2-45F3-A052-BF7C3C4820FF}" dt="2026-05-25T10:58:14.028" v="349"/>
          <ac:picMkLst>
            <pc:docMk/>
            <pc:sldMk cId="0" sldId="261"/>
            <ac:picMk id="14" creationId="{67EDB9A6-1E2F-3F01-F6D6-97804288625C}"/>
          </ac:picMkLst>
        </pc:picChg>
      </pc:sldChg>
      <pc:sldChg chg="addSp modSp modNotesTx">
        <pc:chgData name="John O'Connor" userId="f7385dc4-3ae7-4722-a367-bcb8024ecc52" providerId="ADAL" clId="{D1113808-6EF2-45F3-A052-BF7C3C4820FF}" dt="2026-05-25T11:49:35.730" v="2728" actId="20577"/>
        <pc:sldMkLst>
          <pc:docMk/>
          <pc:sldMk cId="0" sldId="262"/>
        </pc:sldMkLst>
        <pc:picChg chg="add mod">
          <ac:chgData name="John O'Connor" userId="f7385dc4-3ae7-4722-a367-bcb8024ecc52" providerId="ADAL" clId="{D1113808-6EF2-45F3-A052-BF7C3C4820FF}" dt="2026-05-25T10:58:17.619" v="350"/>
          <ac:picMkLst>
            <pc:docMk/>
            <pc:sldMk cId="0" sldId="262"/>
            <ac:picMk id="36" creationId="{5E44BAE7-E17B-51BE-22C0-E6830887EA3E}"/>
          </ac:picMkLst>
        </pc:picChg>
      </pc:sldChg>
      <pc:sldChg chg="addSp modSp">
        <pc:chgData name="John O'Connor" userId="f7385dc4-3ae7-4722-a367-bcb8024ecc52" providerId="ADAL" clId="{D1113808-6EF2-45F3-A052-BF7C3C4820FF}" dt="2026-05-25T10:58:20.116" v="351"/>
        <pc:sldMkLst>
          <pc:docMk/>
          <pc:sldMk cId="0" sldId="263"/>
        </pc:sldMkLst>
        <pc:picChg chg="add mod">
          <ac:chgData name="John O'Connor" userId="f7385dc4-3ae7-4722-a367-bcb8024ecc52" providerId="ADAL" clId="{D1113808-6EF2-45F3-A052-BF7C3C4820FF}" dt="2026-05-25T10:58:20.116" v="351"/>
          <ac:picMkLst>
            <pc:docMk/>
            <pc:sldMk cId="0" sldId="263"/>
            <ac:picMk id="6" creationId="{205E2AF4-A273-A397-AF00-54BBAA999EF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85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World Bank Chief of Comparative Analysis &amp; Data from 1986-1992, I both defended its per capita income for operational guideline purposes and helped many outsiders test alternatives, notably UNDP’s Human Development Index. My previous 21 years designing and managing IMF decision support systems left me certain they are trying to get income statements to do the work of balance sheets. I transferred as Senior Advisor in the Environment Department to upgrade the Bank’s social and environment indicators, on the understanding my goal was such a balance sheet. It is the buried lede, on page 65, of the Bank’s1995 Monitoring Environmental Progress, or MEP. There, wealth is a capitalized form of per capita income for operational guideline purposes. That morphed into the Bank’s Changing Wealth of Nations or CWoN database, for 1995-2020. As explained in another video, CWoN severed ties to operational guidelines. I have constructed the First Agentic Navigator for Development, or FAND, to show policy implications, with time series for most nations for 1950-2025. This video is designed to encourage those used to ‘real growth’ analyses to suspend disbelief long enough to consider the results. Release to expert reviewers is scheduled for June 2026, with wider release some months later.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Correction Era (GPI, ISEW) led to the 1995 MEP. Those advocates correctly identified that GDP is ‘gross’. It</a:t>
            </a:r>
            <a:r>
              <a:rPr lang="en-US" baseline="0" dirty="0"/>
              <a:t> </a:t>
            </a:r>
            <a:r>
              <a:rPr lang="en-US" dirty="0"/>
              <a:t>treats consumption of resources as income, but their remedy was to impute environmental and social costs, rather than assigning</a:t>
            </a:r>
            <a:r>
              <a:rPr lang="en-US" baseline="0" dirty="0"/>
              <a:t> a value to the depletable </a:t>
            </a:r>
            <a:r>
              <a:rPr lang="en-US" baseline="0" dirty="0" err="1"/>
              <a:t>asset</a:t>
            </a:r>
            <a:r>
              <a:rPr lang="en-US" dirty="0" err="1"/>
              <a:t>from</a:t>
            </a:r>
            <a:r>
              <a:rPr lang="en-US" dirty="0"/>
              <a:t> the flow — making an income statement do what a balance sheet must do.
The Dashboard Era (Stiglitz-Sen-Fitoussi commission, 2009) moved away from a single adjusted number toward multi-dimensional indices. The OECD Better Life Index and the SDGs are its legacy. This era excelled at identifying what we value — health, education, environment — but never valued them as balance sheet assets that could change the Bank’s financial preferences.
The Vulnerability Era (MVI, Beyond GDP Alliance, Sevilla Commitment 2025) finally converges on the FAND concern: income per capita ignores the structural vulnerability and capital stocks that determine whether a country can access capital markets. The Multidimensional Vulnerability Index was designed specifically to challenge GNI-based lending rules for Small Island Developing States.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mechanical reason why Beyond GDP advocates fail to change the Bank’s operational preferences. They are asking the income statement to carry information that belongs on the balance sheet.
The left column describes the standard advocacy position: GDP is unfair, so adjust it, and use the adjusted number to argue for lower interest rates. This turns national accounting into a political arena — every faction argues over what to include or subtract, yielding competing indices that dilute each other.
The right column is the FAND approach: capitalize the income annuity into Comprehensive Wealth (CW), then decompose it into independently valued asset classes. The question reverses: not “how do we adjust the flow?” but “what does the nation own, and where is the deficit?”
The footer line is important: Total Factor Productivity (the Solow residual in KLEMS accounting) is the flow-side expression of what FAND measures as a capitalized stock — Other Substantive Rights. We are not anti-KLEMS. We are measuring the same phenomenon from the asset side.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conceptual core. The framework is Wesley Hohfeld’s jural-relations taxonomy (1913, 1917), which identifies four correlative pairs in two orders.
First order (what positive law recognizes):
• Right / Duty — the SNA asset boundary. A claim-right holder can go to court. PA, NC, and cross-border financial claims all sit here.
• Liberty / No-right — invisible to SNA. Where slavery is abolished, a human’s right to the fruit of her labor is a Liberty: the holder is free to use her productive capacity, and no other party has a claim-right over it. SNA does not and probably never will recognize or value HR.
Second order (powers operating on first-order relations):
• Power / Liability — the capacity to alter jural relations.
• Immunity / Disability — protection from alteration.
OSR (institutional quality, rule of law, ecosystem services) occupies these Liberty, Power, and Immunity positions. No counterparty has a legally enforceable Duty to provide judicial independence or mangrove flood protection. That is why the SNA draws its asset boundary short of these factors.
FAND widens the boundary. The identity CW = PA + NC + HR + OSR makes explicit: the gold-colored terms on the left are what SNA counts. The white terms on the right are what FAND restores. Together they account for the full income annuity.
The HR regression (200 countries, 75 years, R² = 0.497) separates HR from OSR empirically. The same coefficients apply at national, state, and county levels — they are structural parameters of the education-health-wealth relationship, not scale-specific artifacts.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Articles carefully. The constitutional mandate of the World Bank is about ensuring members have access to capital markets at reasonable cost. The Articles do NOT mention poverty alleviation, democracy, governance, or any of the other desiderata that have accumulated over 80 years of administrative interpretation.
Everything else — IDA eligibility, graduation thresholds, CPIA scores, the Multidimensional Vulnerability Index — is administrative interpretation of this core commitment. The question FAND answers is: what determines whether a country can access capital at reasonable cost? The answer is the balance sheet. Where produced assets and natural capital suffice as collateral, private markets lend. Where they don’t, the Bank intermediates.
This framing from the Articles is from Appendix E of the Comparative Analysis (v6, May 2026).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take-off concept comes from MEP Redux Figure 5 (in another FAND video), which plots selected countries’ real income per capita (ICP/PWT International$ 2023) as a percentage of the US level in 1950.
This is not a high bar. About a third of the US population was below its own poverty line in 1950. But it was the standard the Bretton Woods signatories implicitly committed to when the Bank began lending beyond reconstruction — when there was effectively one high-income economy, the United States.
McNamara’s $375 threshold (IDA/R73-7, March 1973) was the diplomatic price of admission for new donors. Saudi Arabia’s first $50M contribution to IDA4 needed assurance that funds reached the poorest, not the middle-income borrowers. The timing — collapse of par values, OPEC repricing — was not coincidental. McNamara positioned IDA as the vehicle for recycling petrodollar surpluses.
The 1989 graduation threshold paper (I was a main author) set the “High Income” ceiling at a level that coincided with what would have been average for high-income economies circa 1950. The serious meaning: a country that has reached the prosperity level of the US of 1950 should be able to access capital on its own terms. The multi-tiered preference scheme — IDA-Only, Blend, IBRD, Graduation — is a ladder of diminishing risk premiums, culminating in the Bank’s determination that its intermediation is no longer required.
Again as detailed in a later video, half the world’s population is in nations still awaiting take-off. A fifth will still fall short even projecting an unprecedented 5% p.a. real growth until the Bank is a hundred.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MEP’s Social Infrastructure (SI) = CW − PA − NC − HR was the unexplained residual — everything that makes a society productive beyond its physical and human endowments. SI can be negative (institutional drag).
FAND refines this with Hohfeld and, as a rule-of-thumb, sets a 20% structural floor: every society has some positive institutional capital. When SI falls below 0.20 × CW, the decomposition separates:
• OSR (Other Substantive Rights) = max(SI, 0.20 × CW) — the asset side, always non-negative.
• DM (Deferred Maintenance) = max(0, 0.20 × CW − SI) — the liability side, quantifying the trust-infrastructure deficit.
The identity SI = OSR − DM always holds.
DM is the stock measure of why intermediation is needed. Where DM is large, private markets cannot find adequate collateral — the gap between what markets can collateralize (PA + NC) and what the income annuity implies should exist (CW). The policy directive: invest in how people collaborate and compete (reduce DM) before buying more produced capital.
In 2020, 96 of 194 countries are floor-binding (DM &gt; 0). These are the countries where the Bank’s constitutional mandate — supplementing private capital where it is not available on reasonable terms — is most binding. 
This draws on Espeland &amp; Stevens (1998) on commensuration and Porter (1995) on quantification as a social strategy for trust across distance. DM is what the Bank has been intermediating all along, now given a </a:t>
            </a:r>
            <a:r>
              <a:rPr lang="en-US"/>
              <a:t>number. FAND also expresses DM as risk premia </a:t>
            </a:r>
            <a:r>
              <a:rPr lang="en-US" i="1"/>
              <a:t>within </a:t>
            </a:r>
            <a:r>
              <a:rPr lang="en-US" i="0"/>
              <a:t>the cohort of Bank borrowers.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argument: FAND shifts the international policy directive away from pleading for flow-based sympathy and toward targeted balance sheet repairs.
The argument arc in full:
1. The Bank’s constitutional mandate is access to capital at reasonable cost (Articles of Agreement).
2. McNamara’s IDA/R73-7 was the first administrative contract operationalizing this mandate via income thresholds.
3. The graduation threshold (“High Income” ceiling) was set at US-1950 prosperity levels — enough collateral for private markets.
4. The four-tier preference scheme is a ladder of diminishing risk premiums.
5. Graduation is the moment SI has compressed the premium enough for unaided market access.
6. Recent studies confirm poverty and bribery correlate with sovereign risk — but these are instances, not the thing itself.
7. The SI residual and DM quantify the whole phenomenon — the substrate the Bank has been intermediating all along.
8. This completes the commensuration: thin description (GNI per capita, CPIA scores, credit ratings) → thick description (SI as the structural deficit).
The FAND prototype covers 200+ countries, 1950–2025, with independently computed PA, NC (5 branches + 2 ES), HR, OSR, and DM. Expert review is scheduled for June 2026 with password-protected access.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txBody>
          <a:bodyPr/>
          <a:lstStyle/>
          <a:p>
            <a:endParaRPr lang="en-US"/>
          </a:p>
        </p:txBody>
      </p:sp>
      <p:sp>
        <p:nvSpPr>
          <p:cNvPr id="3" name="Text 1"/>
          <p:cNvSpPr/>
          <p:nvPr/>
        </p:nvSpPr>
        <p:spPr>
          <a:xfrm>
            <a:off x="579718" y="694944"/>
            <a:ext cx="7808856" cy="915219"/>
          </a:xfrm>
          <a:prstGeom prst="rect">
            <a:avLst/>
          </a:prstGeom>
          <a:noFill/>
          <a:ln/>
        </p:spPr>
        <p:txBody>
          <a:bodyPr wrap="square" rtlCol="0" anchor="ctr"/>
          <a:lstStyle/>
          <a:p>
            <a:pPr marL="0" indent="0">
              <a:lnSpc>
                <a:spcPct val="115000"/>
              </a:lnSpc>
              <a:buNone/>
            </a:pPr>
            <a:r>
              <a:rPr lang="en-US" sz="4000" b="1" dirty="0">
                <a:solidFill>
                  <a:srgbClr val="FFFFFF"/>
                </a:solidFill>
                <a:latin typeface="Georgia" pitchFamily="34" charset="0"/>
                <a:ea typeface="Georgia" pitchFamily="34" charset="-122"/>
                <a:cs typeface="Georgia" pitchFamily="34" charset="-120"/>
              </a:rPr>
              <a:t>Really Looking Beyond GDP</a:t>
            </a:r>
            <a:endParaRPr lang="en-US" sz="4000" dirty="0"/>
          </a:p>
        </p:txBody>
      </p:sp>
      <p:sp>
        <p:nvSpPr>
          <p:cNvPr id="4" name="Text 2"/>
          <p:cNvSpPr/>
          <p:nvPr/>
        </p:nvSpPr>
        <p:spPr>
          <a:xfrm>
            <a:off x="707614" y="1701603"/>
            <a:ext cx="7680960" cy="548640"/>
          </a:xfrm>
          <a:prstGeom prst="rect">
            <a:avLst/>
          </a:prstGeom>
          <a:noFill/>
          <a:ln/>
        </p:spPr>
        <p:txBody>
          <a:bodyPr wrap="square" rtlCol="0" anchor="ctr"/>
          <a:lstStyle/>
          <a:p>
            <a:r>
              <a:rPr lang="en-US" sz="2000" i="1" dirty="0">
                <a:solidFill>
                  <a:srgbClr val="C9A84C"/>
                </a:solidFill>
                <a:latin typeface="Calibri" pitchFamily="34" charset="0"/>
                <a:ea typeface="Calibri" pitchFamily="34" charset="-122"/>
                <a:cs typeface="Calibri" pitchFamily="34" charset="-120"/>
              </a:rPr>
              <a:t>From Income Statements to Diagnostic Balance Sheets</a:t>
            </a:r>
            <a:endParaRPr lang="en-US" sz="2000" dirty="0"/>
          </a:p>
        </p:txBody>
      </p:sp>
      <p:sp>
        <p:nvSpPr>
          <p:cNvPr id="5" name="Text 3"/>
          <p:cNvSpPr/>
          <p:nvPr/>
        </p:nvSpPr>
        <p:spPr>
          <a:xfrm>
            <a:off x="731520" y="4206240"/>
            <a:ext cx="7680960" cy="365760"/>
          </a:xfrm>
          <a:prstGeom prst="rect">
            <a:avLst/>
          </a:prstGeom>
          <a:noFill/>
          <a:ln/>
        </p:spPr>
        <p:txBody>
          <a:bodyPr wrap="square" rtlCol="0" anchor="ctr"/>
          <a:lstStyle/>
          <a:p>
            <a:pPr marL="0" indent="0">
              <a:buNone/>
            </a:pPr>
            <a:r>
              <a:rPr lang="en-US" sz="1400" dirty="0">
                <a:solidFill>
                  <a:srgbClr val="8899BB"/>
                </a:solidFill>
                <a:latin typeface="Calibri" pitchFamily="34" charset="0"/>
                <a:ea typeface="Calibri" pitchFamily="34" charset="-122"/>
                <a:cs typeface="Calibri" pitchFamily="34" charset="-120"/>
              </a:rPr>
              <a:t>John O'Connor  •  OconEco  •  May 2026</a:t>
            </a:r>
            <a:endParaRPr lang="en-US" sz="1400" dirty="0"/>
          </a:p>
        </p:txBody>
      </p:sp>
      <p:pic>
        <p:nvPicPr>
          <p:cNvPr id="7" name="Picture 6">
            <a:extLst>
              <a:ext uri="{FF2B5EF4-FFF2-40B4-BE49-F238E27FC236}">
                <a16:creationId xmlns:a16="http://schemas.microsoft.com/office/drawing/2014/main" id="{7E5186C3-C622-2913-0173-1AAA967AB958}"/>
              </a:ext>
            </a:extLst>
          </p:cNvPr>
          <p:cNvPicPr>
            <a:picLocks noChangeAspect="1"/>
          </p:cNvPicPr>
          <p:nvPr/>
        </p:nvPicPr>
        <p:blipFill>
          <a:blip r:embed="rId3"/>
          <a:stretch>
            <a:fillRect/>
          </a:stretch>
        </p:blipFill>
        <p:spPr>
          <a:xfrm>
            <a:off x="8278517" y="4257381"/>
            <a:ext cx="865483" cy="886119"/>
          </a:xfrm>
          <a:prstGeom prst="rect">
            <a:avLst/>
          </a:prstGeom>
        </p:spPr>
      </p:pic>
      <p:sp>
        <p:nvSpPr>
          <p:cNvPr id="8" name="TextBox 7">
            <a:extLst>
              <a:ext uri="{FF2B5EF4-FFF2-40B4-BE49-F238E27FC236}">
                <a16:creationId xmlns:a16="http://schemas.microsoft.com/office/drawing/2014/main" id="{30F12733-AA13-82EF-746E-3845DE5666F7}"/>
              </a:ext>
            </a:extLst>
          </p:cNvPr>
          <p:cNvSpPr txBox="1"/>
          <p:nvPr/>
        </p:nvSpPr>
        <p:spPr>
          <a:xfrm>
            <a:off x="259379" y="2407041"/>
            <a:ext cx="8071820" cy="923330"/>
          </a:xfrm>
          <a:prstGeom prst="rect">
            <a:avLst/>
          </a:prstGeom>
          <a:noFill/>
        </p:spPr>
        <p:txBody>
          <a:bodyPr wrap="square" rtlCol="0">
            <a:spAutoFit/>
          </a:bodyPr>
          <a:lstStyle/>
          <a:p>
            <a:pPr algn="ctr"/>
            <a:r>
              <a:rPr lang="en-US" b="1" dirty="0">
                <a:solidFill>
                  <a:schemeClr val="bg1"/>
                </a:solidFill>
              </a:rPr>
              <a:t>If we want a concept of income which is to be a tool of analysis, </a:t>
            </a:r>
          </a:p>
          <a:p>
            <a:pPr algn="ctr"/>
            <a:r>
              <a:rPr lang="en-US" b="1" dirty="0">
                <a:solidFill>
                  <a:schemeClr val="bg1"/>
                </a:solidFill>
              </a:rPr>
              <a:t>we must not expect it to be a very sharp. </a:t>
            </a:r>
          </a:p>
          <a:p>
            <a:pPr algn="ctr"/>
            <a:r>
              <a:rPr lang="en-US" dirty="0">
                <a:solidFill>
                  <a:schemeClr val="bg1"/>
                </a:solidFill>
              </a:rPr>
              <a:t>J.R. Hicks, </a:t>
            </a:r>
            <a:r>
              <a:rPr lang="en-US" i="1" dirty="0">
                <a:solidFill>
                  <a:schemeClr val="bg1"/>
                </a:solidFill>
              </a:rPr>
              <a:t>Value and Capital</a:t>
            </a:r>
            <a:r>
              <a:rPr lang="en-US" dirty="0">
                <a:solidFill>
                  <a:schemeClr val="bg1"/>
                </a:solidFill>
              </a:rPr>
              <a:t>, page 171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dirty="0">
                <a:solidFill>
                  <a:srgbClr val="1E2761"/>
                </a:solidFill>
                <a:latin typeface="Georgia" pitchFamily="34" charset="0"/>
                <a:ea typeface="Georgia" pitchFamily="34" charset="-122"/>
                <a:cs typeface="Georgia" pitchFamily="34" charset="-120"/>
              </a:rPr>
              <a:t>Three Decades of “Beyond GDP” Advocacy</a:t>
            </a:r>
            <a:endParaRPr lang="en-US" sz="3200" dirty="0"/>
          </a:p>
        </p:txBody>
      </p:sp>
      <p:sp>
        <p:nvSpPr>
          <p:cNvPr id="3" name="Text 1"/>
          <p:cNvSpPr/>
          <p:nvPr/>
        </p:nvSpPr>
        <p:spPr>
          <a:xfrm>
            <a:off x="457200" y="1028700"/>
            <a:ext cx="8046720" cy="365760"/>
          </a:xfrm>
          <a:prstGeom prst="rect">
            <a:avLst/>
          </a:prstGeom>
          <a:noFill/>
          <a:ln/>
        </p:spPr>
        <p:txBody>
          <a:bodyPr wrap="square" rtlCol="0" anchor="ctr"/>
          <a:lstStyle/>
          <a:p>
            <a:pPr marL="0" indent="0">
              <a:buNone/>
            </a:pPr>
            <a:r>
              <a:rPr lang="en-US" sz="1400" i="1" dirty="0">
                <a:solidFill>
                  <a:srgbClr val="2D3748"/>
                </a:solidFill>
                <a:latin typeface="Calibri" pitchFamily="34" charset="0"/>
                <a:ea typeface="Calibri" pitchFamily="34" charset="-122"/>
                <a:cs typeface="Calibri" pitchFamily="34" charset="-120"/>
              </a:rPr>
              <a:t>Each era tried to fix the income statement. None built a balance sheet.</a:t>
            </a:r>
            <a:endParaRPr lang="en-US" sz="1400" dirty="0"/>
          </a:p>
        </p:txBody>
      </p:sp>
      <p:sp>
        <p:nvSpPr>
          <p:cNvPr id="4" name="Shape 2"/>
          <p:cNvSpPr/>
          <p:nvPr/>
        </p:nvSpPr>
        <p:spPr>
          <a:xfrm>
            <a:off x="457200" y="1417320"/>
            <a:ext cx="2651760" cy="32918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457200" y="1417320"/>
            <a:ext cx="2651760" cy="73152"/>
          </a:xfrm>
          <a:prstGeom prst="rect">
            <a:avLst/>
          </a:prstGeom>
          <a:solidFill>
            <a:srgbClr val="C75050"/>
          </a:solidFill>
          <a:ln/>
        </p:spPr>
        <p:txBody>
          <a:bodyPr/>
          <a:lstStyle/>
          <a:p>
            <a:endParaRPr lang="en-US"/>
          </a:p>
        </p:txBody>
      </p:sp>
      <p:sp>
        <p:nvSpPr>
          <p:cNvPr id="6" name="Text 4"/>
          <p:cNvSpPr/>
          <p:nvPr/>
        </p:nvSpPr>
        <p:spPr>
          <a:xfrm>
            <a:off x="594360" y="1600200"/>
            <a:ext cx="2377440" cy="36576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Correction Era</a:t>
            </a:r>
            <a:endParaRPr lang="en-US" sz="1600" dirty="0"/>
          </a:p>
        </p:txBody>
      </p:sp>
      <p:sp>
        <p:nvSpPr>
          <p:cNvPr id="7" name="Text 5"/>
          <p:cNvSpPr/>
          <p:nvPr/>
        </p:nvSpPr>
        <p:spPr>
          <a:xfrm>
            <a:off x="594360" y="1920240"/>
            <a:ext cx="2377440" cy="274320"/>
          </a:xfrm>
          <a:prstGeom prst="rect">
            <a:avLst/>
          </a:prstGeom>
          <a:noFill/>
          <a:ln/>
        </p:spPr>
        <p:txBody>
          <a:bodyPr wrap="square" lIns="0" tIns="0" rIns="0" bIns="0" rtlCol="0" anchor="ctr"/>
          <a:lstStyle/>
          <a:p>
            <a:pPr marL="0" indent="0">
              <a:buNone/>
            </a:pPr>
            <a:r>
              <a:rPr lang="en-US" sz="1100" b="1" dirty="0">
                <a:solidFill>
                  <a:srgbClr val="C75050"/>
                </a:solidFill>
                <a:latin typeface="Calibri" pitchFamily="34" charset="0"/>
                <a:ea typeface="Calibri" pitchFamily="34" charset="-122"/>
                <a:cs typeface="Calibri" pitchFamily="34" charset="-120"/>
              </a:rPr>
              <a:t>1980s–2000s</a:t>
            </a:r>
            <a:endParaRPr lang="en-US" sz="1100" dirty="0"/>
          </a:p>
        </p:txBody>
      </p:sp>
      <p:sp>
        <p:nvSpPr>
          <p:cNvPr id="8" name="Text 6"/>
          <p:cNvSpPr/>
          <p:nvPr/>
        </p:nvSpPr>
        <p:spPr>
          <a:xfrm>
            <a:off x="594360" y="2240280"/>
            <a:ext cx="2377440" cy="2286000"/>
          </a:xfrm>
          <a:prstGeom prst="rect">
            <a:avLst/>
          </a:prstGeom>
          <a:noFill/>
          <a:ln/>
        </p:spPr>
        <p:txBody>
          <a:bodyPr wrap="square" lIns="0" tIns="0" rIns="0" bIns="0" rtlCol="0" anchor="ctr"/>
          <a:lstStyle/>
          <a:p>
            <a:pPr marL="0" indent="0">
              <a:lnSpc>
                <a:spcPct val="120000"/>
              </a:lnSpc>
              <a:buNone/>
            </a:pPr>
            <a:r>
              <a:rPr lang="en-US" sz="1200" dirty="0">
                <a:solidFill>
                  <a:srgbClr val="2D3748"/>
                </a:solidFill>
                <a:latin typeface="Calibri" pitchFamily="34" charset="0"/>
                <a:ea typeface="Calibri" pitchFamily="34" charset="-122"/>
                <a:cs typeface="Calibri" pitchFamily="34" charset="-120"/>
              </a:rPr>
              <a:t>GPI, ISEW: subtract “bads” from GDP.</a:t>
            </a:r>
            <a:endParaRPr lang="en-US" sz="1200" dirty="0"/>
          </a:p>
          <a:p>
            <a:pPr marL="0" indent="0">
              <a:lnSpc>
                <a:spcPct val="120000"/>
              </a:lnSpc>
              <a:buNone/>
            </a:pPr>
            <a:endParaRPr lang="en-US" sz="1200" dirty="0"/>
          </a:p>
          <a:p>
            <a:pPr marL="0" indent="0">
              <a:lnSpc>
                <a:spcPct val="120000"/>
              </a:lnSpc>
              <a:buNone/>
            </a:pPr>
            <a:r>
              <a:rPr lang="en-US" sz="1200" dirty="0">
                <a:solidFill>
                  <a:srgbClr val="2D3748"/>
                </a:solidFill>
                <a:latin typeface="Calibri" pitchFamily="34" charset="0"/>
                <a:ea typeface="Calibri" pitchFamily="34" charset="-122"/>
                <a:cs typeface="Calibri" pitchFamily="34" charset="-120"/>
              </a:rPr>
              <a:t>Treated resource depletion as an income cost rather than asset liquidation on the balance sheet.</a:t>
            </a:r>
            <a:endParaRPr lang="en-US" sz="1200" dirty="0"/>
          </a:p>
        </p:txBody>
      </p:sp>
      <p:sp>
        <p:nvSpPr>
          <p:cNvPr id="9" name="Shape 7"/>
          <p:cNvSpPr/>
          <p:nvPr/>
        </p:nvSpPr>
        <p:spPr>
          <a:xfrm>
            <a:off x="3291840" y="1417320"/>
            <a:ext cx="2651760" cy="32918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91840" y="1417320"/>
            <a:ext cx="2651760" cy="73152"/>
          </a:xfrm>
          <a:prstGeom prst="rect">
            <a:avLst/>
          </a:prstGeom>
          <a:solidFill>
            <a:srgbClr val="2B8C8C"/>
          </a:solidFill>
          <a:ln/>
        </p:spPr>
        <p:txBody>
          <a:bodyPr/>
          <a:lstStyle/>
          <a:p>
            <a:endParaRPr lang="en-US"/>
          </a:p>
        </p:txBody>
      </p:sp>
      <p:sp>
        <p:nvSpPr>
          <p:cNvPr id="11" name="Text 9"/>
          <p:cNvSpPr/>
          <p:nvPr/>
        </p:nvSpPr>
        <p:spPr>
          <a:xfrm>
            <a:off x="3429000" y="1600200"/>
            <a:ext cx="2377440" cy="36576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Dashboard Era</a:t>
            </a:r>
            <a:endParaRPr lang="en-US" sz="1600" dirty="0"/>
          </a:p>
        </p:txBody>
      </p:sp>
      <p:sp>
        <p:nvSpPr>
          <p:cNvPr id="12" name="Text 10"/>
          <p:cNvSpPr/>
          <p:nvPr/>
        </p:nvSpPr>
        <p:spPr>
          <a:xfrm>
            <a:off x="3429000" y="1920240"/>
            <a:ext cx="2377440" cy="274320"/>
          </a:xfrm>
          <a:prstGeom prst="rect">
            <a:avLst/>
          </a:prstGeom>
          <a:noFill/>
          <a:ln/>
        </p:spPr>
        <p:txBody>
          <a:bodyPr wrap="square" lIns="0" tIns="0" rIns="0" bIns="0" rtlCol="0" anchor="ctr"/>
          <a:lstStyle/>
          <a:p>
            <a:pPr marL="0" indent="0">
              <a:buNone/>
            </a:pPr>
            <a:r>
              <a:rPr lang="en-US" sz="1100" b="1" dirty="0">
                <a:solidFill>
                  <a:srgbClr val="2B8C8C"/>
                </a:solidFill>
                <a:latin typeface="Calibri" pitchFamily="34" charset="0"/>
                <a:ea typeface="Calibri" pitchFamily="34" charset="-122"/>
                <a:cs typeface="Calibri" pitchFamily="34" charset="-120"/>
              </a:rPr>
              <a:t>2008–2015</a:t>
            </a:r>
            <a:endParaRPr lang="en-US" sz="1100" dirty="0"/>
          </a:p>
        </p:txBody>
      </p:sp>
      <p:sp>
        <p:nvSpPr>
          <p:cNvPr id="13" name="Text 11"/>
          <p:cNvSpPr/>
          <p:nvPr/>
        </p:nvSpPr>
        <p:spPr>
          <a:xfrm>
            <a:off x="3429000" y="2240280"/>
            <a:ext cx="2377440" cy="2286000"/>
          </a:xfrm>
          <a:prstGeom prst="rect">
            <a:avLst/>
          </a:prstGeom>
          <a:noFill/>
          <a:ln/>
        </p:spPr>
        <p:txBody>
          <a:bodyPr wrap="square" lIns="0" tIns="0" rIns="0" bIns="0" rtlCol="0" anchor="ctr"/>
          <a:lstStyle/>
          <a:p>
            <a:pPr marL="0" indent="0">
              <a:lnSpc>
                <a:spcPct val="120000"/>
              </a:lnSpc>
              <a:buNone/>
            </a:pPr>
            <a:r>
              <a:rPr lang="en-US" sz="1200" dirty="0">
                <a:solidFill>
                  <a:srgbClr val="2D3748"/>
                </a:solidFill>
                <a:latin typeface="Calibri" pitchFamily="34" charset="0"/>
                <a:ea typeface="Calibri" pitchFamily="34" charset="-122"/>
                <a:cs typeface="Calibri" pitchFamily="34" charset="-120"/>
              </a:rPr>
              <a:t>Stiglitz-Sen-Fitoussi, OECD Better Life Index, SDGs.</a:t>
            </a:r>
            <a:endParaRPr lang="en-US" sz="1200" dirty="0"/>
          </a:p>
          <a:p>
            <a:pPr marL="0" indent="0">
              <a:lnSpc>
                <a:spcPct val="120000"/>
              </a:lnSpc>
              <a:buNone/>
            </a:pPr>
            <a:endParaRPr lang="en-US" sz="1200" dirty="0"/>
          </a:p>
          <a:p>
            <a:pPr marL="0" indent="0">
              <a:lnSpc>
                <a:spcPct val="120000"/>
              </a:lnSpc>
              <a:buNone/>
            </a:pPr>
            <a:r>
              <a:rPr lang="en-US" sz="1200" dirty="0">
                <a:solidFill>
                  <a:srgbClr val="2D3748"/>
                </a:solidFill>
                <a:latin typeface="Calibri" pitchFamily="34" charset="0"/>
                <a:ea typeface="Calibri" pitchFamily="34" charset="-122"/>
                <a:cs typeface="Calibri" pitchFamily="34" charset="-120"/>
              </a:rPr>
              <a:t>Identified what we value but never valued it as an asset that could change lending preferences.</a:t>
            </a:r>
            <a:endParaRPr lang="en-US" sz="1200" dirty="0"/>
          </a:p>
        </p:txBody>
      </p:sp>
      <p:sp>
        <p:nvSpPr>
          <p:cNvPr id="14" name="Shape 12"/>
          <p:cNvSpPr/>
          <p:nvPr/>
        </p:nvSpPr>
        <p:spPr>
          <a:xfrm>
            <a:off x="6126480" y="1417320"/>
            <a:ext cx="2651760" cy="32918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6126480" y="1417320"/>
            <a:ext cx="2651760" cy="73152"/>
          </a:xfrm>
          <a:prstGeom prst="rect">
            <a:avLst/>
          </a:prstGeom>
          <a:solidFill>
            <a:srgbClr val="C9A84C"/>
          </a:solidFill>
          <a:ln/>
        </p:spPr>
        <p:txBody>
          <a:bodyPr/>
          <a:lstStyle/>
          <a:p>
            <a:endParaRPr lang="en-US"/>
          </a:p>
        </p:txBody>
      </p:sp>
      <p:sp>
        <p:nvSpPr>
          <p:cNvPr id="16" name="Text 14"/>
          <p:cNvSpPr/>
          <p:nvPr/>
        </p:nvSpPr>
        <p:spPr>
          <a:xfrm>
            <a:off x="6263640" y="1600200"/>
            <a:ext cx="2377440" cy="36576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Vulnerability Era</a:t>
            </a:r>
            <a:endParaRPr lang="en-US" sz="1600" dirty="0"/>
          </a:p>
        </p:txBody>
      </p:sp>
      <p:sp>
        <p:nvSpPr>
          <p:cNvPr id="17" name="Text 15"/>
          <p:cNvSpPr/>
          <p:nvPr/>
        </p:nvSpPr>
        <p:spPr>
          <a:xfrm>
            <a:off x="6263640" y="1920240"/>
            <a:ext cx="2377440" cy="274320"/>
          </a:xfrm>
          <a:prstGeom prst="rect">
            <a:avLst/>
          </a:prstGeom>
          <a:noFill/>
          <a:ln/>
        </p:spPr>
        <p:txBody>
          <a:bodyPr wrap="square" lIns="0" tIns="0" rIns="0" bIns="0" rtlCol="0" anchor="ctr"/>
          <a:lstStyle/>
          <a:p>
            <a:pPr marL="0" indent="0">
              <a:buNone/>
            </a:pPr>
            <a:r>
              <a:rPr lang="en-US" sz="1100" b="1" dirty="0">
                <a:solidFill>
                  <a:srgbClr val="C9A84C"/>
                </a:solidFill>
                <a:latin typeface="Calibri" pitchFamily="34" charset="0"/>
                <a:ea typeface="Calibri" pitchFamily="34" charset="-122"/>
                <a:cs typeface="Calibri" pitchFamily="34" charset="-120"/>
              </a:rPr>
              <a:t>2020–present</a:t>
            </a:r>
            <a:endParaRPr lang="en-US" sz="1100" dirty="0"/>
          </a:p>
        </p:txBody>
      </p:sp>
      <p:sp>
        <p:nvSpPr>
          <p:cNvPr id="18" name="Text 16"/>
          <p:cNvSpPr/>
          <p:nvPr/>
        </p:nvSpPr>
        <p:spPr>
          <a:xfrm>
            <a:off x="6263640" y="2240280"/>
            <a:ext cx="2377440" cy="2286000"/>
          </a:xfrm>
          <a:prstGeom prst="rect">
            <a:avLst/>
          </a:prstGeom>
          <a:noFill/>
          <a:ln/>
        </p:spPr>
        <p:txBody>
          <a:bodyPr wrap="square" lIns="0" tIns="0" rIns="0" bIns="0" rtlCol="0" anchor="ctr"/>
          <a:lstStyle/>
          <a:p>
            <a:pPr marL="0" indent="0">
              <a:lnSpc>
                <a:spcPct val="120000"/>
              </a:lnSpc>
              <a:buNone/>
            </a:pPr>
            <a:r>
              <a:rPr lang="en-US" sz="1200" dirty="0">
                <a:solidFill>
                  <a:srgbClr val="2D3748"/>
                </a:solidFill>
                <a:latin typeface="Calibri" pitchFamily="34" charset="0"/>
                <a:ea typeface="Calibri" pitchFamily="34" charset="-122"/>
                <a:cs typeface="Calibri" pitchFamily="34" charset="-120"/>
              </a:rPr>
              <a:t>MVI, Beyond GDP Alliance, Sevilla Commitment.</a:t>
            </a:r>
            <a:endParaRPr lang="en-US" sz="1200" dirty="0"/>
          </a:p>
          <a:p>
            <a:pPr marL="0" indent="0">
              <a:lnSpc>
                <a:spcPct val="120000"/>
              </a:lnSpc>
              <a:buNone/>
            </a:pPr>
            <a:endParaRPr lang="en-US" sz="1200" dirty="0"/>
          </a:p>
          <a:p>
            <a:pPr marL="0" indent="0">
              <a:lnSpc>
                <a:spcPct val="120000"/>
              </a:lnSpc>
              <a:buNone/>
            </a:pPr>
            <a:r>
              <a:rPr lang="en-US" sz="1200" dirty="0">
                <a:solidFill>
                  <a:srgbClr val="2D3748"/>
                </a:solidFill>
                <a:latin typeface="Calibri" pitchFamily="34" charset="0"/>
                <a:ea typeface="Calibri" pitchFamily="34" charset="-122"/>
                <a:cs typeface="Calibri" pitchFamily="34" charset="-120"/>
              </a:rPr>
              <a:t>Finally mirrors the FAND concern: income ignores structural vulnerability and capital stocks.</a:t>
            </a:r>
            <a:endParaRPr lang="en-US" sz="1200" dirty="0"/>
          </a:p>
        </p:txBody>
      </p:sp>
      <p:pic>
        <p:nvPicPr>
          <p:cNvPr id="19" name="Picture 18">
            <a:extLst>
              <a:ext uri="{FF2B5EF4-FFF2-40B4-BE49-F238E27FC236}">
                <a16:creationId xmlns:a16="http://schemas.microsoft.com/office/drawing/2014/main" id="{DEA879B9-2FC4-640E-CB45-22C5E3794CC0}"/>
              </a:ext>
            </a:extLst>
          </p:cNvPr>
          <p:cNvPicPr>
            <a:picLocks noChangeAspect="1"/>
          </p:cNvPicPr>
          <p:nvPr/>
        </p:nvPicPr>
        <p:blipFill>
          <a:blip r:embed="rId3"/>
          <a:stretch>
            <a:fillRect/>
          </a:stretch>
        </p:blipFill>
        <p:spPr>
          <a:xfrm>
            <a:off x="8278517" y="4257381"/>
            <a:ext cx="865483" cy="8861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dirty="0">
                <a:solidFill>
                  <a:srgbClr val="1E2761"/>
                </a:solidFill>
                <a:latin typeface="Georgia" pitchFamily="34" charset="0"/>
                <a:ea typeface="Georgia" pitchFamily="34" charset="-122"/>
                <a:cs typeface="Georgia" pitchFamily="34" charset="-120"/>
              </a:rPr>
              <a:t>The FAND Alternative: Audit the Stock</a:t>
            </a:r>
            <a:endParaRPr lang="en-US" sz="3200" dirty="0"/>
          </a:p>
        </p:txBody>
      </p:sp>
      <p:sp>
        <p:nvSpPr>
          <p:cNvPr id="3" name="Shape 1"/>
          <p:cNvSpPr/>
          <p:nvPr/>
        </p:nvSpPr>
        <p:spPr>
          <a:xfrm>
            <a:off x="457200" y="1097280"/>
            <a:ext cx="3840480" cy="3474720"/>
          </a:xfrm>
          <a:prstGeom prst="rect">
            <a:avLst/>
          </a:prstGeom>
          <a:solidFill>
            <a:srgbClr val="FFF0F0"/>
          </a:solidFill>
          <a:ln/>
          <a:effectLst>
            <a:outerShdw blurRad="101600" dist="38100" dir="8100000" algn="bl" rotWithShape="0">
              <a:srgbClr val="000000">
                <a:alpha val="12000"/>
              </a:srgbClr>
            </a:outerShdw>
          </a:effectLst>
        </p:spPr>
        <p:txBody>
          <a:bodyPr/>
          <a:lstStyle/>
          <a:p>
            <a:endParaRPr lang="en-US"/>
          </a:p>
        </p:txBody>
      </p:sp>
      <p:sp>
        <p:nvSpPr>
          <p:cNvPr id="4" name="Text 2"/>
          <p:cNvSpPr/>
          <p:nvPr/>
        </p:nvSpPr>
        <p:spPr>
          <a:xfrm>
            <a:off x="640080" y="1234440"/>
            <a:ext cx="3474720" cy="365760"/>
          </a:xfrm>
          <a:prstGeom prst="rect">
            <a:avLst/>
          </a:prstGeom>
          <a:noFill/>
          <a:ln/>
        </p:spPr>
        <p:txBody>
          <a:bodyPr wrap="square" lIns="0" tIns="0" rIns="0" bIns="0" rtlCol="0" anchor="ctr"/>
          <a:lstStyle/>
          <a:p>
            <a:pPr marL="0" indent="0">
              <a:buNone/>
            </a:pPr>
            <a:r>
              <a:rPr lang="en-US" sz="1800" b="1" dirty="0">
                <a:solidFill>
                  <a:srgbClr val="C75050"/>
                </a:solidFill>
                <a:latin typeface="Georgia" pitchFamily="34" charset="0"/>
                <a:ea typeface="Georgia" pitchFamily="34" charset="-122"/>
                <a:cs typeface="Georgia" pitchFamily="34" charset="-120"/>
              </a:rPr>
              <a:t>Flow Advocacy</a:t>
            </a:r>
            <a:endParaRPr lang="en-US" sz="1800" dirty="0"/>
          </a:p>
        </p:txBody>
      </p:sp>
      <p:sp>
        <p:nvSpPr>
          <p:cNvPr id="5" name="Text 3"/>
          <p:cNvSpPr/>
          <p:nvPr/>
        </p:nvSpPr>
        <p:spPr>
          <a:xfrm>
            <a:off x="640080" y="1737360"/>
            <a:ext cx="3474720" cy="2560320"/>
          </a:xfrm>
          <a:prstGeom prst="rect">
            <a:avLst/>
          </a:prstGeom>
          <a:noFill/>
          <a:ln/>
        </p:spPr>
        <p:txBody>
          <a:bodyPr wrap="square" lIns="0" tIns="0" rIns="0" bIns="0" rtlCol="0" anchor="ctr"/>
          <a:lstStyle/>
          <a:p>
            <a:pPr marL="0" indent="0">
              <a:lnSpc>
                <a:spcPct val="130000"/>
              </a:lnSpc>
              <a:spcAft>
                <a:spcPts val="1000"/>
              </a:spcAft>
              <a:buNone/>
            </a:pPr>
            <a:r>
              <a:rPr lang="en-US" sz="1300" b="1" dirty="0">
                <a:solidFill>
                  <a:srgbClr val="2D3748"/>
                </a:solidFill>
                <a:latin typeface="Calibri" pitchFamily="34" charset="0"/>
                <a:ea typeface="Calibri" pitchFamily="34" charset="-122"/>
                <a:cs typeface="Calibri" pitchFamily="34" charset="-120"/>
              </a:rPr>
              <a:t>Metric: </a:t>
            </a:r>
            <a:r>
              <a:rPr lang="en-US" sz="1300" dirty="0">
                <a:solidFill>
                  <a:srgbClr val="2D3748"/>
                </a:solidFill>
                <a:latin typeface="Calibri" pitchFamily="34" charset="0"/>
                <a:ea typeface="Calibri" pitchFamily="34" charset="-122"/>
                <a:cs typeface="Calibri" pitchFamily="34" charset="-120"/>
              </a:rPr>
              <a:t>Adjusted GNI / GDP</a:t>
            </a:r>
            <a:endParaRPr lang="en-US" sz="1300" dirty="0"/>
          </a:p>
          <a:p>
            <a:pPr marL="0" indent="0">
              <a:lnSpc>
                <a:spcPct val="130000"/>
              </a:lnSpc>
              <a:spcAft>
                <a:spcPts val="1000"/>
              </a:spcAft>
              <a:buNone/>
            </a:pPr>
            <a:r>
              <a:rPr lang="en-US" sz="1300" b="1" dirty="0">
                <a:solidFill>
                  <a:srgbClr val="2D3748"/>
                </a:solidFill>
                <a:latin typeface="Calibri" pitchFamily="34" charset="0"/>
                <a:ea typeface="Calibri" pitchFamily="34" charset="-122"/>
                <a:cs typeface="Calibri" pitchFamily="34" charset="-120"/>
              </a:rPr>
              <a:t>Logic: </a:t>
            </a:r>
            <a:r>
              <a:rPr lang="en-US" sz="1300" dirty="0">
                <a:solidFill>
                  <a:srgbClr val="2D3748"/>
                </a:solidFill>
                <a:latin typeface="Calibri" pitchFamily="34" charset="0"/>
                <a:ea typeface="Calibri" pitchFamily="34" charset="-122"/>
                <a:cs typeface="Calibri" pitchFamily="34" charset="-120"/>
              </a:rPr>
              <a:t>“We are poor because we have low income.”</a:t>
            </a:r>
            <a:endParaRPr lang="en-US" sz="1300" dirty="0"/>
          </a:p>
          <a:p>
            <a:pPr marL="0" indent="0">
              <a:lnSpc>
                <a:spcPct val="130000"/>
              </a:lnSpc>
              <a:spcAft>
                <a:spcPts val="1000"/>
              </a:spcAft>
              <a:buNone/>
            </a:pPr>
            <a:r>
              <a:rPr lang="en-US" sz="1300" b="1" dirty="0">
                <a:solidFill>
                  <a:srgbClr val="2D3748"/>
                </a:solidFill>
                <a:latin typeface="Calibri" pitchFamily="34" charset="0"/>
                <a:ea typeface="Calibri" pitchFamily="34" charset="-122"/>
                <a:cs typeface="Calibri" pitchFamily="34" charset="-120"/>
              </a:rPr>
              <a:t>Fix: </a:t>
            </a:r>
            <a:r>
              <a:rPr lang="en-US" sz="1300" dirty="0">
                <a:solidFill>
                  <a:srgbClr val="2D3748"/>
                </a:solidFill>
                <a:latin typeface="Calibri" pitchFamily="34" charset="0"/>
                <a:ea typeface="Calibri" pitchFamily="34" charset="-122"/>
                <a:cs typeface="Calibri" pitchFamily="34" charset="-120"/>
              </a:rPr>
              <a:t>Lower the interest rate because the income measure is unfair.</a:t>
            </a:r>
            <a:endParaRPr lang="en-US" sz="1300" dirty="0"/>
          </a:p>
          <a:p>
            <a:pPr marL="0" indent="0">
              <a:lnSpc>
                <a:spcPct val="130000"/>
              </a:lnSpc>
              <a:spcAft>
                <a:spcPts val="1000"/>
              </a:spcAft>
              <a:buNone/>
            </a:pPr>
            <a:r>
              <a:rPr lang="en-US" sz="1300" b="1" dirty="0">
                <a:solidFill>
                  <a:srgbClr val="2D3748"/>
                </a:solidFill>
                <a:latin typeface="Calibri" pitchFamily="34" charset="0"/>
                <a:ea typeface="Calibri" pitchFamily="34" charset="-122"/>
                <a:cs typeface="Calibri" pitchFamily="34" charset="-120"/>
              </a:rPr>
              <a:t>Goal: </a:t>
            </a:r>
            <a:r>
              <a:rPr lang="en-US" sz="1300" dirty="0">
                <a:solidFill>
                  <a:srgbClr val="2D3748"/>
                </a:solidFill>
                <a:latin typeface="Calibri" pitchFamily="34" charset="0"/>
                <a:ea typeface="Calibri" pitchFamily="34" charset="-122"/>
                <a:cs typeface="Calibri" pitchFamily="34" charset="-120"/>
              </a:rPr>
              <a:t>Temporary relief via preferences.</a:t>
            </a:r>
            <a:endParaRPr lang="en-US" sz="1300" dirty="0"/>
          </a:p>
        </p:txBody>
      </p:sp>
      <p:sp>
        <p:nvSpPr>
          <p:cNvPr id="6" name="Shape 4"/>
          <p:cNvSpPr/>
          <p:nvPr/>
        </p:nvSpPr>
        <p:spPr>
          <a:xfrm>
            <a:off x="4846320" y="1097280"/>
            <a:ext cx="3840480" cy="3474720"/>
          </a:xfrm>
          <a:prstGeom prst="rect">
            <a:avLst/>
          </a:prstGeom>
          <a:solidFill>
            <a:srgbClr val="F0F5FF"/>
          </a:solidFill>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5029200" y="1234440"/>
            <a:ext cx="3474720" cy="36576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FAND Balance Sheet</a:t>
            </a:r>
            <a:endParaRPr lang="en-US" sz="1800" dirty="0"/>
          </a:p>
        </p:txBody>
      </p:sp>
      <p:sp>
        <p:nvSpPr>
          <p:cNvPr id="8" name="Text 6"/>
          <p:cNvSpPr/>
          <p:nvPr/>
        </p:nvSpPr>
        <p:spPr>
          <a:xfrm>
            <a:off x="5029200" y="1737360"/>
            <a:ext cx="3474720" cy="2560320"/>
          </a:xfrm>
          <a:prstGeom prst="rect">
            <a:avLst/>
          </a:prstGeom>
          <a:noFill/>
          <a:ln/>
        </p:spPr>
        <p:txBody>
          <a:bodyPr wrap="square" lIns="0" tIns="0" rIns="0" bIns="0" rtlCol="0" anchor="ctr"/>
          <a:lstStyle/>
          <a:p>
            <a:pPr marL="0" indent="0">
              <a:lnSpc>
                <a:spcPct val="130000"/>
              </a:lnSpc>
              <a:spcAft>
                <a:spcPts val="1000"/>
              </a:spcAft>
              <a:buNone/>
            </a:pPr>
            <a:r>
              <a:rPr lang="en-US" sz="1300" b="1" dirty="0">
                <a:solidFill>
                  <a:srgbClr val="2D3748"/>
                </a:solidFill>
                <a:latin typeface="Calibri" pitchFamily="34" charset="0"/>
                <a:ea typeface="Calibri" pitchFamily="34" charset="-122"/>
                <a:cs typeface="Calibri" pitchFamily="34" charset="-120"/>
              </a:rPr>
              <a:t>Metric: </a:t>
            </a:r>
            <a:r>
              <a:rPr lang="en-US" sz="1300" dirty="0">
                <a:solidFill>
                  <a:srgbClr val="2D3748"/>
                </a:solidFill>
                <a:latin typeface="Calibri" pitchFamily="34" charset="0"/>
                <a:ea typeface="Calibri" pitchFamily="34" charset="-122"/>
                <a:cs typeface="Calibri" pitchFamily="34" charset="-120"/>
              </a:rPr>
              <a:t>Comprehensive Wealth (capitalized stock)</a:t>
            </a:r>
            <a:endParaRPr lang="en-US" sz="1300" dirty="0"/>
          </a:p>
          <a:p>
            <a:pPr marL="0" indent="0">
              <a:lnSpc>
                <a:spcPct val="130000"/>
              </a:lnSpc>
              <a:spcAft>
                <a:spcPts val="1000"/>
              </a:spcAft>
              <a:buNone/>
            </a:pPr>
            <a:r>
              <a:rPr lang="en-US" sz="1300" b="1" dirty="0">
                <a:solidFill>
                  <a:srgbClr val="2D3748"/>
                </a:solidFill>
                <a:latin typeface="Calibri" pitchFamily="34" charset="0"/>
                <a:ea typeface="Calibri" pitchFamily="34" charset="-122"/>
                <a:cs typeface="Calibri" pitchFamily="34" charset="-120"/>
              </a:rPr>
              <a:t>Logic: </a:t>
            </a:r>
            <a:r>
              <a:rPr lang="en-US" sz="1300" dirty="0">
                <a:solidFill>
                  <a:srgbClr val="2D3748"/>
                </a:solidFill>
                <a:latin typeface="Calibri" pitchFamily="34" charset="0"/>
                <a:ea typeface="Calibri" pitchFamily="34" charset="-122"/>
                <a:cs typeface="Calibri" pitchFamily="34" charset="-120"/>
              </a:rPr>
              <a:t>“We have low income because our SI is impaired.”</a:t>
            </a:r>
            <a:endParaRPr lang="en-US" sz="1300" dirty="0"/>
          </a:p>
          <a:p>
            <a:pPr marL="0" indent="0">
              <a:lnSpc>
                <a:spcPct val="130000"/>
              </a:lnSpc>
              <a:spcAft>
                <a:spcPts val="1000"/>
              </a:spcAft>
              <a:buNone/>
            </a:pPr>
            <a:r>
              <a:rPr lang="en-US" sz="1300" b="1" dirty="0">
                <a:solidFill>
                  <a:srgbClr val="2D3748"/>
                </a:solidFill>
                <a:latin typeface="Calibri" pitchFamily="34" charset="0"/>
                <a:ea typeface="Calibri" pitchFamily="34" charset="-122"/>
                <a:cs typeface="Calibri" pitchFamily="34" charset="-120"/>
              </a:rPr>
              <a:t>Fix: </a:t>
            </a:r>
            <a:r>
              <a:rPr lang="en-US" sz="1300" dirty="0">
                <a:solidFill>
                  <a:srgbClr val="2D3748"/>
                </a:solidFill>
                <a:latin typeface="Calibri" pitchFamily="34" charset="0"/>
                <a:ea typeface="Calibri" pitchFamily="34" charset="-122"/>
                <a:cs typeface="Calibri" pitchFamily="34" charset="-120"/>
              </a:rPr>
              <a:t>Value the Social Infrastructure to target the investment.</a:t>
            </a:r>
            <a:endParaRPr lang="en-US" sz="1300" dirty="0"/>
          </a:p>
          <a:p>
            <a:pPr marL="0" indent="0">
              <a:lnSpc>
                <a:spcPct val="130000"/>
              </a:lnSpc>
              <a:spcAft>
                <a:spcPts val="1000"/>
              </a:spcAft>
              <a:buNone/>
            </a:pPr>
            <a:r>
              <a:rPr lang="en-US" sz="1300" b="1" dirty="0">
                <a:solidFill>
                  <a:srgbClr val="2D3748"/>
                </a:solidFill>
                <a:latin typeface="Calibri" pitchFamily="34" charset="0"/>
                <a:ea typeface="Calibri" pitchFamily="34" charset="-122"/>
                <a:cs typeface="Calibri" pitchFamily="34" charset="-120"/>
              </a:rPr>
              <a:t>Goal: </a:t>
            </a:r>
            <a:r>
              <a:rPr lang="en-US" sz="1300" dirty="0">
                <a:solidFill>
                  <a:srgbClr val="2D3748"/>
                </a:solidFill>
                <a:latin typeface="Calibri" pitchFamily="34" charset="0"/>
                <a:ea typeface="Calibri" pitchFamily="34" charset="-122"/>
                <a:cs typeface="Calibri" pitchFamily="34" charset="-120"/>
              </a:rPr>
              <a:t>Long-term wealth accounting and targeted resource allocation.</a:t>
            </a:r>
            <a:endParaRPr lang="en-US" sz="1300" dirty="0"/>
          </a:p>
        </p:txBody>
      </p:sp>
      <p:sp>
        <p:nvSpPr>
          <p:cNvPr id="9" name="Text 7"/>
          <p:cNvSpPr/>
          <p:nvPr/>
        </p:nvSpPr>
        <p:spPr>
          <a:xfrm>
            <a:off x="457200" y="4709160"/>
            <a:ext cx="8229600" cy="320040"/>
          </a:xfrm>
          <a:prstGeom prst="rect">
            <a:avLst/>
          </a:prstGeom>
          <a:noFill/>
          <a:ln/>
        </p:spPr>
        <p:txBody>
          <a:bodyPr wrap="square" rtlCol="0" anchor="ctr"/>
          <a:lstStyle/>
          <a:p>
            <a:pPr marL="0" indent="0">
              <a:buNone/>
            </a:pPr>
            <a:r>
              <a:rPr lang="en-US" sz="1300" i="1" dirty="0">
                <a:solidFill>
                  <a:srgbClr val="8899BB"/>
                </a:solidFill>
                <a:latin typeface="Calibri" pitchFamily="34" charset="0"/>
                <a:ea typeface="Calibri" pitchFamily="34" charset="-122"/>
                <a:cs typeface="Calibri" pitchFamily="34" charset="-120"/>
              </a:rPr>
              <a:t>TFP (the Solow residual) is the flow expression of what FAND measures as a stock.</a:t>
            </a:r>
            <a:endParaRPr lang="en-US" sz="1300" dirty="0"/>
          </a:p>
        </p:txBody>
      </p:sp>
      <p:pic>
        <p:nvPicPr>
          <p:cNvPr id="10" name="Picture 9">
            <a:extLst>
              <a:ext uri="{FF2B5EF4-FFF2-40B4-BE49-F238E27FC236}">
                <a16:creationId xmlns:a16="http://schemas.microsoft.com/office/drawing/2014/main" id="{683E17BD-551F-0535-83C4-8F504DE5C6EF}"/>
              </a:ext>
            </a:extLst>
          </p:cNvPr>
          <p:cNvPicPr>
            <a:picLocks noChangeAspect="1"/>
          </p:cNvPicPr>
          <p:nvPr/>
        </p:nvPicPr>
        <p:blipFill>
          <a:blip r:embed="rId3"/>
          <a:stretch>
            <a:fillRect/>
          </a:stretch>
        </p:blipFill>
        <p:spPr>
          <a:xfrm>
            <a:off x="8278517" y="4257381"/>
            <a:ext cx="865483" cy="8861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Expanding the Asset Boundary</a:t>
            </a:r>
            <a:endParaRPr lang="en-US" sz="3000" dirty="0"/>
          </a:p>
        </p:txBody>
      </p:sp>
      <p:sp>
        <p:nvSpPr>
          <p:cNvPr id="3" name="Text 1"/>
          <p:cNvSpPr/>
          <p:nvPr/>
        </p:nvSpPr>
        <p:spPr>
          <a:xfrm>
            <a:off x="548640" y="731520"/>
            <a:ext cx="8046720" cy="365760"/>
          </a:xfrm>
          <a:prstGeom prst="rect">
            <a:avLst/>
          </a:prstGeom>
          <a:noFill/>
          <a:ln/>
        </p:spPr>
        <p:txBody>
          <a:bodyPr wrap="square" rtlCol="0" anchor="ctr"/>
          <a:lstStyle/>
          <a:p>
            <a:pPr marL="0" indent="0">
              <a:buNone/>
            </a:pPr>
            <a:r>
              <a:rPr lang="en-US" sz="1400" i="1" dirty="0">
                <a:solidFill>
                  <a:srgbClr val="2D3748"/>
                </a:solidFill>
                <a:latin typeface="Calibri" pitchFamily="34" charset="0"/>
                <a:ea typeface="Calibri" pitchFamily="34" charset="-122"/>
                <a:cs typeface="Calibri" pitchFamily="34" charset="-120"/>
              </a:rPr>
              <a:t>SNA recognizes only claim-rights. FAND values what SNA cannot see—but governments must.</a:t>
            </a:r>
            <a:endParaRPr lang="en-US" sz="1400" dirty="0"/>
          </a:p>
        </p:txBody>
      </p:sp>
      <p:sp>
        <p:nvSpPr>
          <p:cNvPr id="4" name="Shape 2"/>
          <p:cNvSpPr/>
          <p:nvPr/>
        </p:nvSpPr>
        <p:spPr>
          <a:xfrm>
            <a:off x="457200" y="1234440"/>
            <a:ext cx="8229600" cy="822960"/>
          </a:xfrm>
          <a:prstGeom prst="rect">
            <a:avLst/>
          </a:prstGeom>
          <a:solidFill>
            <a:srgbClr val="141B3D"/>
          </a:solidFill>
          <a:ln/>
        </p:spPr>
        <p:txBody>
          <a:bodyPr/>
          <a:lstStyle/>
          <a:p>
            <a:endParaRPr lang="en-US"/>
          </a:p>
        </p:txBody>
      </p:sp>
      <p:sp>
        <p:nvSpPr>
          <p:cNvPr id="5" name="Text 3"/>
          <p:cNvSpPr/>
          <p:nvPr/>
        </p:nvSpPr>
        <p:spPr>
          <a:xfrm>
            <a:off x="640080" y="1234440"/>
            <a:ext cx="7863840" cy="411480"/>
          </a:xfrm>
          <a:prstGeom prst="rect">
            <a:avLst/>
          </a:prstGeom>
          <a:noFill/>
          <a:ln/>
        </p:spPr>
        <p:txBody>
          <a:bodyPr wrap="square" rtlCol="0" anchor="ctr"/>
          <a:lstStyle/>
          <a:p>
            <a:pPr marL="0" indent="0">
              <a:buNone/>
            </a:pPr>
            <a:r>
              <a:rPr lang="en-US" sz="1800" b="1" dirty="0">
                <a:solidFill>
                  <a:srgbClr val="C9A84C"/>
                </a:solidFill>
                <a:latin typeface="Consolas" pitchFamily="34" charset="0"/>
                <a:ea typeface="Consolas" pitchFamily="34" charset="-122"/>
                <a:cs typeface="Consolas" pitchFamily="34" charset="-120"/>
              </a:rPr>
              <a:t>CW = PA + NC</a:t>
            </a:r>
            <a:r>
              <a:rPr lang="en-US" sz="1800" dirty="0">
                <a:solidFill>
                  <a:srgbClr val="8899BB"/>
                </a:solidFill>
                <a:latin typeface="Consolas" pitchFamily="34" charset="0"/>
                <a:ea typeface="Consolas" pitchFamily="34" charset="-122"/>
                <a:cs typeface="Consolas" pitchFamily="34" charset="-120"/>
              </a:rPr>
              <a:t>  +  </a:t>
            </a:r>
            <a:r>
              <a:rPr lang="en-US" sz="1800" b="1" dirty="0">
                <a:solidFill>
                  <a:srgbClr val="FFFFFF"/>
                </a:solidFill>
                <a:latin typeface="Consolas" pitchFamily="34" charset="0"/>
                <a:ea typeface="Consolas" pitchFamily="34" charset="-122"/>
                <a:cs typeface="Consolas" pitchFamily="34" charset="-120"/>
              </a:rPr>
              <a:t>HR + OSR</a:t>
            </a:r>
            <a:endParaRPr lang="en-US" sz="1800" dirty="0"/>
          </a:p>
        </p:txBody>
      </p:sp>
      <p:sp>
        <p:nvSpPr>
          <p:cNvPr id="6" name="Text 4"/>
          <p:cNvSpPr/>
          <p:nvPr/>
        </p:nvSpPr>
        <p:spPr>
          <a:xfrm>
            <a:off x="640080" y="1627632"/>
            <a:ext cx="7863840" cy="320040"/>
          </a:xfrm>
          <a:prstGeom prst="rect">
            <a:avLst/>
          </a:prstGeom>
          <a:noFill/>
          <a:ln/>
        </p:spPr>
        <p:txBody>
          <a:bodyPr wrap="square" rtlCol="0" anchor="ctr"/>
          <a:lstStyle/>
          <a:p>
            <a:pPr marL="0" indent="0">
              <a:buNone/>
            </a:pPr>
            <a:r>
              <a:rPr lang="en-US" sz="1100" dirty="0">
                <a:solidFill>
                  <a:srgbClr val="C9A84C"/>
                </a:solidFill>
                <a:latin typeface="Calibri" pitchFamily="34" charset="0"/>
                <a:ea typeface="Calibri" pitchFamily="34" charset="-122"/>
                <a:cs typeface="Calibri" pitchFamily="34" charset="-120"/>
              </a:rPr>
              <a:t>       SNA boundary</a:t>
            </a:r>
            <a:r>
              <a:rPr lang="en-US" sz="1100" dirty="0">
                <a:solidFill>
                  <a:srgbClr val="8899BB"/>
                </a:solidFill>
                <a:latin typeface="Calibri" pitchFamily="34" charset="0"/>
                <a:ea typeface="Calibri" pitchFamily="34" charset="-122"/>
                <a:cs typeface="Calibri" pitchFamily="34" charset="-120"/>
              </a:rPr>
              <a:t>                    FAND extension</a:t>
            </a:r>
            <a:endParaRPr lang="en-US" sz="1100" dirty="0"/>
          </a:p>
        </p:txBody>
      </p:sp>
      <p:sp>
        <p:nvSpPr>
          <p:cNvPr id="7" name="Shape 5"/>
          <p:cNvSpPr/>
          <p:nvPr/>
        </p:nvSpPr>
        <p:spPr>
          <a:xfrm>
            <a:off x="457200" y="2286000"/>
            <a:ext cx="2926080" cy="2560320"/>
          </a:xfrm>
          <a:prstGeom prst="rect">
            <a:avLst/>
          </a:prstGeom>
          <a:solidFill>
            <a:srgbClr val="F0F5FF"/>
          </a:solidFill>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457200" y="2286000"/>
            <a:ext cx="2926080" cy="73152"/>
          </a:xfrm>
          <a:prstGeom prst="rect">
            <a:avLst/>
          </a:prstGeom>
          <a:solidFill>
            <a:srgbClr val="2B8C8C"/>
          </a:solidFill>
          <a:ln/>
        </p:spPr>
        <p:txBody>
          <a:bodyPr/>
          <a:lstStyle/>
          <a:p>
            <a:endParaRPr lang="en-US"/>
          </a:p>
        </p:txBody>
      </p:sp>
      <p:sp>
        <p:nvSpPr>
          <p:cNvPr id="9" name="Text 7"/>
          <p:cNvSpPr/>
          <p:nvPr/>
        </p:nvSpPr>
        <p:spPr>
          <a:xfrm>
            <a:off x="594360" y="2423160"/>
            <a:ext cx="265176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What SNA Sees</a:t>
            </a:r>
            <a:endParaRPr lang="en-US" sz="1500" dirty="0"/>
          </a:p>
        </p:txBody>
      </p:sp>
      <p:sp>
        <p:nvSpPr>
          <p:cNvPr id="10" name="Text 8"/>
          <p:cNvSpPr/>
          <p:nvPr/>
        </p:nvSpPr>
        <p:spPr>
          <a:xfrm>
            <a:off x="594360" y="2788920"/>
            <a:ext cx="2651760" cy="274320"/>
          </a:xfrm>
          <a:prstGeom prst="rect">
            <a:avLst/>
          </a:prstGeom>
          <a:noFill/>
          <a:ln/>
        </p:spPr>
        <p:txBody>
          <a:bodyPr wrap="square" lIns="0" tIns="0" rIns="0" bIns="0" rtlCol="0" anchor="ctr"/>
          <a:lstStyle/>
          <a:p>
            <a:pPr marL="0" indent="0">
              <a:buNone/>
            </a:pPr>
            <a:r>
              <a:rPr lang="en-US" sz="1300" b="1" dirty="0">
                <a:solidFill>
                  <a:srgbClr val="2B8C8C"/>
                </a:solidFill>
                <a:latin typeface="Calibri" pitchFamily="34" charset="0"/>
                <a:ea typeface="Calibri" pitchFamily="34" charset="-122"/>
                <a:cs typeface="Calibri" pitchFamily="34" charset="-120"/>
              </a:rPr>
              <a:t>Right / Duty</a:t>
            </a:r>
            <a:endParaRPr lang="en-US" sz="1300" dirty="0"/>
          </a:p>
        </p:txBody>
      </p:sp>
      <p:sp>
        <p:nvSpPr>
          <p:cNvPr id="11" name="Text 9"/>
          <p:cNvSpPr/>
          <p:nvPr/>
        </p:nvSpPr>
        <p:spPr>
          <a:xfrm>
            <a:off x="594360" y="3108960"/>
            <a:ext cx="2651760" cy="1600200"/>
          </a:xfrm>
          <a:prstGeom prst="rect">
            <a:avLst/>
          </a:prstGeom>
          <a:noFill/>
          <a:ln/>
        </p:spPr>
        <p:txBody>
          <a:bodyPr wrap="square" lIns="0" tIns="0" rIns="0" bIns="0" rtlCol="0" anchor="ctr"/>
          <a:lstStyle/>
          <a:p>
            <a:pPr marL="0" indent="0">
              <a:lnSpc>
                <a:spcPct val="120000"/>
              </a:lnSpc>
              <a:buNone/>
            </a:pPr>
            <a:r>
              <a:rPr lang="en-US" sz="1100" dirty="0">
                <a:solidFill>
                  <a:srgbClr val="2D3748"/>
                </a:solidFill>
                <a:latin typeface="Calibri" pitchFamily="34" charset="0"/>
                <a:ea typeface="Calibri" pitchFamily="34" charset="-122"/>
                <a:cs typeface="Calibri" pitchFamily="34" charset="-120"/>
              </a:rPr>
              <a:t>Claim-rights only: the holder can go to court to compel performance.</a:t>
            </a:r>
            <a:endParaRPr lang="en-US" sz="1100" dirty="0"/>
          </a:p>
          <a:p>
            <a:pPr marL="0" indent="0">
              <a:lnSpc>
                <a:spcPct val="120000"/>
              </a:lnSpc>
              <a:buNone/>
            </a:pPr>
            <a:endParaRPr lang="en-US" sz="1100" dirty="0"/>
          </a:p>
          <a:p>
            <a:pPr marL="0" indent="0">
              <a:lnSpc>
                <a:spcPct val="120000"/>
              </a:lnSpc>
              <a:buNone/>
            </a:pPr>
            <a:r>
              <a:rPr lang="en-US" sz="1100" dirty="0">
                <a:solidFill>
                  <a:srgbClr val="2D3748"/>
                </a:solidFill>
                <a:latin typeface="Calibri" pitchFamily="34" charset="0"/>
                <a:ea typeface="Calibri" pitchFamily="34" charset="-122"/>
                <a:cs typeface="Calibri" pitchFamily="34" charset="-120"/>
              </a:rPr>
              <a:t>PA (produced capital), NC (natural capital severable under sovereign jurisdiction), and cross-border positions.</a:t>
            </a:r>
            <a:endParaRPr lang="en-US" sz="1100" dirty="0"/>
          </a:p>
          <a:p>
            <a:pPr marL="0" indent="0">
              <a:lnSpc>
                <a:spcPct val="120000"/>
              </a:lnSpc>
              <a:buNone/>
            </a:pPr>
            <a:endParaRPr lang="en-US" sz="1100" dirty="0"/>
          </a:p>
          <a:p>
            <a:pPr marL="0" indent="0">
              <a:lnSpc>
                <a:spcPct val="120000"/>
              </a:lnSpc>
              <a:buNone/>
            </a:pPr>
            <a:r>
              <a:rPr lang="en-US" sz="1100" dirty="0">
                <a:solidFill>
                  <a:srgbClr val="2D3748"/>
                </a:solidFill>
                <a:latin typeface="Calibri" pitchFamily="34" charset="0"/>
                <a:ea typeface="Calibri" pitchFamily="34" charset="-122"/>
                <a:cs typeface="Calibri" pitchFamily="34" charset="-120"/>
              </a:rPr>
              <a:t>This is the entire SNA asset boundary.</a:t>
            </a:r>
            <a:endParaRPr lang="en-US" sz="1100" dirty="0"/>
          </a:p>
        </p:txBody>
      </p:sp>
      <p:sp>
        <p:nvSpPr>
          <p:cNvPr id="12" name="Shape 10"/>
          <p:cNvSpPr/>
          <p:nvPr/>
        </p:nvSpPr>
        <p:spPr>
          <a:xfrm>
            <a:off x="3657600" y="2286000"/>
            <a:ext cx="5029200" cy="2560320"/>
          </a:xfrm>
          <a:prstGeom prst="rect">
            <a:avLst/>
          </a:prstGeom>
          <a:solidFill>
            <a:srgbClr val="FFF8EE"/>
          </a:solidFill>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657600" y="2286000"/>
            <a:ext cx="5029200" cy="73152"/>
          </a:xfrm>
          <a:prstGeom prst="rect">
            <a:avLst/>
          </a:prstGeom>
          <a:solidFill>
            <a:srgbClr val="C9A84C"/>
          </a:solidFill>
          <a:ln/>
        </p:spPr>
        <p:txBody>
          <a:bodyPr/>
          <a:lstStyle/>
          <a:p>
            <a:endParaRPr lang="en-US"/>
          </a:p>
        </p:txBody>
      </p:sp>
      <p:sp>
        <p:nvSpPr>
          <p:cNvPr id="14" name="Text 12"/>
          <p:cNvSpPr/>
          <p:nvPr/>
        </p:nvSpPr>
        <p:spPr>
          <a:xfrm>
            <a:off x="3794760" y="2423160"/>
            <a:ext cx="475488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What FAND Restores</a:t>
            </a:r>
            <a:endParaRPr lang="en-US" sz="1500" dirty="0"/>
          </a:p>
        </p:txBody>
      </p:sp>
      <p:sp>
        <p:nvSpPr>
          <p:cNvPr id="15" name="Text 13"/>
          <p:cNvSpPr/>
          <p:nvPr/>
        </p:nvSpPr>
        <p:spPr>
          <a:xfrm>
            <a:off x="3794760" y="2788920"/>
            <a:ext cx="4754880" cy="274320"/>
          </a:xfrm>
          <a:prstGeom prst="rect">
            <a:avLst/>
          </a:prstGeom>
          <a:noFill/>
          <a:ln/>
        </p:spPr>
        <p:txBody>
          <a:bodyPr wrap="square" lIns="0" tIns="0" rIns="0" bIns="0" rtlCol="0" anchor="ctr"/>
          <a:lstStyle/>
          <a:p>
            <a:pPr marL="0" indent="0">
              <a:buNone/>
            </a:pPr>
            <a:r>
              <a:rPr lang="en-US" sz="1300" b="1" dirty="0">
                <a:solidFill>
                  <a:srgbClr val="C9A84C"/>
                </a:solidFill>
                <a:latin typeface="Calibri" pitchFamily="34" charset="0"/>
                <a:ea typeface="Calibri" pitchFamily="34" charset="-122"/>
                <a:cs typeface="Calibri" pitchFamily="34" charset="-120"/>
              </a:rPr>
              <a:t>Liberty / No-right</a:t>
            </a:r>
            <a:endParaRPr lang="en-US" sz="1300" dirty="0"/>
          </a:p>
        </p:txBody>
      </p:sp>
      <p:sp>
        <p:nvSpPr>
          <p:cNvPr id="16" name="Text 14"/>
          <p:cNvSpPr/>
          <p:nvPr/>
        </p:nvSpPr>
        <p:spPr>
          <a:xfrm>
            <a:off x="3794760" y="3063240"/>
            <a:ext cx="4754880" cy="777240"/>
          </a:xfrm>
          <a:prstGeom prst="rect">
            <a:avLst/>
          </a:prstGeom>
          <a:noFill/>
          <a:ln/>
        </p:spPr>
        <p:txBody>
          <a:bodyPr wrap="square" lIns="0" tIns="0" rIns="0" bIns="0" rtlCol="0" anchor="ctr"/>
          <a:lstStyle/>
          <a:p>
            <a:pPr marL="0" indent="0">
              <a:lnSpc>
                <a:spcPct val="120000"/>
              </a:lnSpc>
              <a:buNone/>
            </a:pPr>
            <a:r>
              <a:rPr lang="en-US" sz="1100" dirty="0">
                <a:solidFill>
                  <a:srgbClr val="2D3748"/>
                </a:solidFill>
                <a:latin typeface="Calibri" pitchFamily="34" charset="0"/>
                <a:ea typeface="Calibri" pitchFamily="34" charset="-122"/>
                <a:cs typeface="Calibri" pitchFamily="34" charset="-120"/>
              </a:rPr>
              <a:t>Human Resources (HR): a person’s right to the fruit of her labor, where slavery is abolished. The holder is at liberty to use her productive capacity; no counterparty can compel it. SNA has never recognized or valued HR.</a:t>
            </a:r>
            <a:endParaRPr lang="en-US" sz="1100" dirty="0"/>
          </a:p>
        </p:txBody>
      </p:sp>
      <p:sp>
        <p:nvSpPr>
          <p:cNvPr id="17" name="Text 15"/>
          <p:cNvSpPr/>
          <p:nvPr/>
        </p:nvSpPr>
        <p:spPr>
          <a:xfrm>
            <a:off x="3794760" y="3886200"/>
            <a:ext cx="4754880" cy="274320"/>
          </a:xfrm>
          <a:prstGeom prst="rect">
            <a:avLst/>
          </a:prstGeom>
          <a:noFill/>
          <a:ln/>
        </p:spPr>
        <p:txBody>
          <a:bodyPr wrap="square" lIns="0" tIns="0" rIns="0" bIns="0" rtlCol="0" anchor="ctr"/>
          <a:lstStyle/>
          <a:p>
            <a:pPr marL="0" indent="0">
              <a:buNone/>
            </a:pPr>
            <a:r>
              <a:rPr lang="en-US" sz="1300" b="1" dirty="0">
                <a:solidFill>
                  <a:srgbClr val="C9A84C"/>
                </a:solidFill>
                <a:latin typeface="Calibri" pitchFamily="34" charset="0"/>
                <a:ea typeface="Calibri" pitchFamily="34" charset="-122"/>
                <a:cs typeface="Calibri" pitchFamily="34" charset="-120"/>
              </a:rPr>
              <a:t>Power / Liability  •  Immunity / Disability</a:t>
            </a:r>
            <a:endParaRPr lang="en-US" sz="1300" dirty="0"/>
          </a:p>
        </p:txBody>
      </p:sp>
      <p:sp>
        <p:nvSpPr>
          <p:cNvPr id="18" name="Text 16"/>
          <p:cNvSpPr/>
          <p:nvPr/>
        </p:nvSpPr>
        <p:spPr>
          <a:xfrm>
            <a:off x="3794760" y="4160520"/>
            <a:ext cx="4754880" cy="594360"/>
          </a:xfrm>
          <a:prstGeom prst="rect">
            <a:avLst/>
          </a:prstGeom>
          <a:noFill/>
          <a:ln/>
        </p:spPr>
        <p:txBody>
          <a:bodyPr wrap="square" lIns="0" tIns="0" rIns="0" bIns="0" rtlCol="0" anchor="ctr"/>
          <a:lstStyle/>
          <a:p>
            <a:pPr marL="0" indent="0">
              <a:lnSpc>
                <a:spcPct val="120000"/>
              </a:lnSpc>
              <a:buNone/>
            </a:pPr>
            <a:r>
              <a:rPr lang="en-US" sz="1100" dirty="0">
                <a:solidFill>
                  <a:srgbClr val="2D3748"/>
                </a:solidFill>
                <a:latin typeface="Calibri" pitchFamily="34" charset="0"/>
                <a:ea typeface="Calibri" pitchFamily="34" charset="-122"/>
                <a:cs typeface="Calibri" pitchFamily="34" charset="-120"/>
              </a:rPr>
              <a:t>Other Substantive Rights (OSR): institutional quality, rule of law, social cohesion, ecosystem services. These are real wealth — they generate income — but no counterparty has a legally enforceable Duty to provide them.</a:t>
            </a:r>
            <a:endParaRPr lang="en-US" sz="1100" dirty="0"/>
          </a:p>
        </p:txBody>
      </p:sp>
      <p:pic>
        <p:nvPicPr>
          <p:cNvPr id="19" name="Picture 18">
            <a:extLst>
              <a:ext uri="{FF2B5EF4-FFF2-40B4-BE49-F238E27FC236}">
                <a16:creationId xmlns:a16="http://schemas.microsoft.com/office/drawing/2014/main" id="{3F91B565-2554-8144-1C11-C63076D132D4}"/>
              </a:ext>
            </a:extLst>
          </p:cNvPr>
          <p:cNvPicPr>
            <a:picLocks noChangeAspect="1"/>
          </p:cNvPicPr>
          <p:nvPr/>
        </p:nvPicPr>
        <p:blipFill>
          <a:blip r:embed="rId3"/>
          <a:stretch>
            <a:fillRect/>
          </a:stretch>
        </p:blipFill>
        <p:spPr>
          <a:xfrm>
            <a:off x="8278517" y="4257381"/>
            <a:ext cx="865483" cy="8861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txBody>
          <a:bodyPr/>
          <a:lstStyle/>
          <a:p>
            <a:endParaRPr lang="en-US"/>
          </a:p>
        </p:txBody>
      </p:sp>
      <p:sp>
        <p:nvSpPr>
          <p:cNvPr id="3" name="Text 1"/>
          <p:cNvSpPr/>
          <p:nvPr/>
        </p:nvSpPr>
        <p:spPr>
          <a:xfrm>
            <a:off x="457200" y="320040"/>
            <a:ext cx="8229600" cy="91440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Main Purposes of World Bank</a:t>
            </a:r>
            <a:endParaRPr lang="en-US" sz="3800" dirty="0"/>
          </a:p>
        </p:txBody>
      </p:sp>
      <p:sp>
        <p:nvSpPr>
          <p:cNvPr id="4" name="Shape 2"/>
          <p:cNvSpPr/>
          <p:nvPr/>
        </p:nvSpPr>
        <p:spPr>
          <a:xfrm>
            <a:off x="640080" y="1371600"/>
            <a:ext cx="7863840" cy="2377440"/>
          </a:xfrm>
          <a:prstGeom prst="rect">
            <a:avLst/>
          </a:prstGeom>
          <a:solidFill>
            <a:srgbClr val="1E2761"/>
          </a:solid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914400" y="1508760"/>
            <a:ext cx="7315200" cy="2103120"/>
          </a:xfrm>
          <a:prstGeom prst="rect">
            <a:avLst/>
          </a:prstGeom>
          <a:noFill/>
          <a:ln/>
        </p:spPr>
        <p:txBody>
          <a:bodyPr wrap="square" rtlCol="0" anchor="ctr"/>
          <a:lstStyle/>
          <a:p>
            <a:pPr marL="0" indent="0">
              <a:lnSpc>
                <a:spcPct val="120000"/>
              </a:lnSpc>
              <a:buNone/>
            </a:pPr>
            <a:r>
              <a:rPr lang="en-US" sz="1800" b="1" i="1" dirty="0">
                <a:solidFill>
                  <a:srgbClr val="FFFFFF"/>
                </a:solidFill>
                <a:latin typeface="Georgia" pitchFamily="34" charset="0"/>
                <a:ea typeface="Georgia" pitchFamily="34" charset="-122"/>
                <a:cs typeface="Georgia" pitchFamily="34" charset="-120"/>
              </a:rPr>
              <a:t>(i)… </a:t>
            </a:r>
            <a:r>
              <a:rPr lang="en-US" sz="1800" i="1" dirty="0">
                <a:solidFill>
                  <a:srgbClr val="FFFFFF"/>
                </a:solidFill>
                <a:latin typeface="Georgia" pitchFamily="34" charset="0"/>
                <a:ea typeface="Georgia" pitchFamily="34" charset="-122"/>
                <a:cs typeface="Georgia" pitchFamily="34" charset="-120"/>
              </a:rPr>
              <a:t>encouragement of the development of productive facilities and resources in less developed countries</a:t>
            </a:r>
            <a:endParaRPr lang="en-US" sz="1800" dirty="0"/>
          </a:p>
          <a:p>
            <a:pPr marL="0" indent="0">
              <a:lnSpc>
                <a:spcPct val="120000"/>
              </a:lnSpc>
              <a:buNone/>
            </a:pPr>
            <a:endParaRPr lang="en-US" sz="1800" dirty="0"/>
          </a:p>
          <a:p>
            <a:pPr marL="0" indent="0">
              <a:lnSpc>
                <a:spcPct val="120000"/>
              </a:lnSpc>
              <a:buNone/>
            </a:pPr>
            <a:r>
              <a:rPr lang="en-US" sz="1800" i="1" dirty="0">
                <a:solidFill>
                  <a:srgbClr val="FFFFFF"/>
                </a:solidFill>
                <a:latin typeface="Georgia" pitchFamily="34" charset="0"/>
                <a:ea typeface="Georgia" pitchFamily="34" charset="-122"/>
                <a:cs typeface="Georgia" pitchFamily="34" charset="-120"/>
              </a:rPr>
              <a:t>(ii)…when private capital is not available on reasonable terms, </a:t>
            </a:r>
            <a:endParaRPr lang="en-US" sz="1800" dirty="0"/>
          </a:p>
          <a:p>
            <a:pPr marL="0" indent="0">
              <a:lnSpc>
                <a:spcPct val="120000"/>
              </a:lnSpc>
              <a:buNone/>
            </a:pPr>
            <a:r>
              <a:rPr lang="en-US" sz="1800" i="1" dirty="0">
                <a:solidFill>
                  <a:srgbClr val="FFFFFF"/>
                </a:solidFill>
                <a:latin typeface="Georgia" pitchFamily="34" charset="0"/>
                <a:ea typeface="Georgia" pitchFamily="34" charset="-122"/>
                <a:cs typeface="Georgia" pitchFamily="34" charset="-120"/>
              </a:rPr>
              <a:t>to supplement private investment by providing, on suitable conditions, finance for productive purposes out of its own capital, funds raised by it and its other resources.</a:t>
            </a:r>
            <a:endParaRPr lang="en-US" sz="1800" dirty="0"/>
          </a:p>
        </p:txBody>
      </p:sp>
      <p:sp>
        <p:nvSpPr>
          <p:cNvPr id="6" name="Text 4"/>
          <p:cNvSpPr/>
          <p:nvPr/>
        </p:nvSpPr>
        <p:spPr>
          <a:xfrm>
            <a:off x="914400" y="3931920"/>
            <a:ext cx="7315200" cy="365760"/>
          </a:xfrm>
          <a:prstGeom prst="rect">
            <a:avLst/>
          </a:prstGeom>
          <a:noFill/>
          <a:ln/>
        </p:spPr>
        <p:txBody>
          <a:bodyPr wrap="square" rtlCol="0" anchor="ctr"/>
          <a:lstStyle/>
          <a:p>
            <a:pPr marL="0" indent="0" algn="r">
              <a:buNone/>
            </a:pPr>
            <a:r>
              <a:rPr lang="en-US" sz="1400" dirty="0">
                <a:solidFill>
                  <a:srgbClr val="C9A84C"/>
                </a:solidFill>
                <a:latin typeface="Calibri" pitchFamily="34" charset="0"/>
                <a:ea typeface="Calibri" pitchFamily="34" charset="-122"/>
                <a:cs typeface="Calibri" pitchFamily="34" charset="-120"/>
              </a:rPr>
              <a:t>— Articles of Agreement, Article III</a:t>
            </a:r>
            <a:endParaRPr lang="en-US" sz="1400" dirty="0"/>
          </a:p>
        </p:txBody>
      </p:sp>
      <p:sp>
        <p:nvSpPr>
          <p:cNvPr id="7" name="Text 5"/>
          <p:cNvSpPr/>
          <p:nvPr/>
        </p:nvSpPr>
        <p:spPr>
          <a:xfrm>
            <a:off x="640080" y="4434840"/>
            <a:ext cx="7863840" cy="457200"/>
          </a:xfrm>
          <a:prstGeom prst="rect">
            <a:avLst/>
          </a:prstGeom>
          <a:noFill/>
          <a:ln/>
        </p:spPr>
        <p:txBody>
          <a:bodyPr wrap="square" rtlCol="0" anchor="ctr"/>
          <a:lstStyle/>
          <a:p>
            <a:pPr marL="0" indent="0">
              <a:buNone/>
            </a:pPr>
            <a:r>
              <a:rPr lang="en-US" sz="1300" i="1" dirty="0">
                <a:solidFill>
                  <a:srgbClr val="8899BB"/>
                </a:solidFill>
                <a:latin typeface="Calibri" pitchFamily="34" charset="0"/>
                <a:ea typeface="Calibri" pitchFamily="34" charset="-122"/>
                <a:cs typeface="Calibri" pitchFamily="34" charset="-120"/>
              </a:rPr>
              <a:t>The mandate is access to capital at reasonable cost — not poverty alleviation, not democracy, not dashboards.</a:t>
            </a:r>
            <a:endParaRPr lang="en-US" sz="1300" dirty="0"/>
          </a:p>
        </p:txBody>
      </p:sp>
      <p:pic>
        <p:nvPicPr>
          <p:cNvPr id="8" name="Picture 7">
            <a:extLst>
              <a:ext uri="{FF2B5EF4-FFF2-40B4-BE49-F238E27FC236}">
                <a16:creationId xmlns:a16="http://schemas.microsoft.com/office/drawing/2014/main" id="{58F35A2F-3948-CC64-A28E-DD50096CEDFD}"/>
              </a:ext>
            </a:extLst>
          </p:cNvPr>
          <p:cNvPicPr>
            <a:picLocks noChangeAspect="1"/>
          </p:cNvPicPr>
          <p:nvPr/>
        </p:nvPicPr>
        <p:blipFill>
          <a:blip r:embed="rId3"/>
          <a:stretch>
            <a:fillRect/>
          </a:stretch>
        </p:blipFill>
        <p:spPr>
          <a:xfrm>
            <a:off x="8278517" y="4257381"/>
            <a:ext cx="865483" cy="8861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The Take-Off Threshold: US of 1950</a:t>
            </a:r>
            <a:endParaRPr lang="en-US" sz="3000" dirty="0"/>
          </a:p>
        </p:txBody>
      </p:sp>
      <p:sp>
        <p:nvSpPr>
          <p:cNvPr id="3" name="Shape 1"/>
          <p:cNvSpPr/>
          <p:nvPr/>
        </p:nvSpPr>
        <p:spPr>
          <a:xfrm>
            <a:off x="457200" y="914400"/>
            <a:ext cx="8229600" cy="1005840"/>
          </a:xfrm>
          <a:prstGeom prst="rect">
            <a:avLst/>
          </a:prstGeom>
          <a:solidFill>
            <a:srgbClr val="141B3D"/>
          </a:solidFill>
          <a:ln/>
        </p:spPr>
        <p:txBody>
          <a:bodyPr/>
          <a:lstStyle/>
          <a:p>
            <a:endParaRPr lang="en-US"/>
          </a:p>
        </p:txBody>
      </p:sp>
      <p:sp>
        <p:nvSpPr>
          <p:cNvPr id="4" name="Text 2"/>
          <p:cNvSpPr/>
          <p:nvPr/>
        </p:nvSpPr>
        <p:spPr>
          <a:xfrm>
            <a:off x="640080" y="960120"/>
            <a:ext cx="7863840" cy="914400"/>
          </a:xfrm>
          <a:prstGeom prst="rect">
            <a:avLst/>
          </a:prstGeom>
          <a:noFill/>
          <a:ln/>
        </p:spPr>
        <p:txBody>
          <a:bodyPr wrap="square" rtlCol="0" anchor="ctr"/>
          <a:lstStyle/>
          <a:p>
            <a:pPr marL="0" indent="0">
              <a:buNone/>
            </a:pPr>
            <a:r>
              <a:rPr lang="en-US" sz="2200" i="1" dirty="0">
                <a:solidFill>
                  <a:srgbClr val="C9A84C"/>
                </a:solidFill>
                <a:latin typeface="Georgia" pitchFamily="34" charset="0"/>
                <a:ea typeface="Georgia" pitchFamily="34" charset="-122"/>
                <a:cs typeface="Georgia" pitchFamily="34" charset="-120"/>
              </a:rPr>
              <a:t>Any nation as well off as the US of 1950 was stipulated to have reasonable access to capital markets.</a:t>
            </a:r>
            <a:endParaRPr lang="en-US" sz="2200" dirty="0"/>
          </a:p>
        </p:txBody>
      </p:sp>
      <p:sp>
        <p:nvSpPr>
          <p:cNvPr id="5" name="Shape 3"/>
          <p:cNvSpPr/>
          <p:nvPr/>
        </p:nvSpPr>
        <p:spPr>
          <a:xfrm>
            <a:off x="457200" y="2103120"/>
            <a:ext cx="2606040" cy="2834640"/>
          </a:xfrm>
          <a:prstGeom prst="rect">
            <a:avLst/>
          </a:prstGeom>
          <a:solidFill>
            <a:srgbClr val="F0F5FF"/>
          </a:solidFill>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566928" y="2194560"/>
            <a:ext cx="2386584" cy="320040"/>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McNamara’s Framework</a:t>
            </a:r>
            <a:endParaRPr lang="en-US" sz="1300" dirty="0"/>
          </a:p>
        </p:txBody>
      </p:sp>
      <p:sp>
        <p:nvSpPr>
          <p:cNvPr id="7" name="Text 5"/>
          <p:cNvSpPr/>
          <p:nvPr/>
        </p:nvSpPr>
        <p:spPr>
          <a:xfrm>
            <a:off x="566928" y="2560320"/>
            <a:ext cx="2386584" cy="2240280"/>
          </a:xfrm>
          <a:prstGeom prst="rect">
            <a:avLst/>
          </a:prstGeom>
          <a:noFill/>
          <a:ln/>
        </p:spPr>
        <p:txBody>
          <a:bodyPr wrap="square" lIns="0" tIns="0" rIns="0" bIns="0" rtlCol="0" anchor="ctr"/>
          <a:lstStyle/>
          <a:p>
            <a:pPr marL="0" indent="0">
              <a:lnSpc>
                <a:spcPct val="125000"/>
              </a:lnSpc>
              <a:buNone/>
            </a:pPr>
            <a:r>
              <a:rPr lang="en-US" sz="1050" dirty="0">
                <a:solidFill>
                  <a:srgbClr val="2D3748"/>
                </a:solidFill>
                <a:latin typeface="Calibri" pitchFamily="34" charset="0"/>
                <a:ea typeface="Calibri" pitchFamily="34" charset="-122"/>
                <a:cs typeface="Calibri" pitchFamily="34" charset="-120"/>
              </a:rPr>
              <a:t>IDA/R73-7 (March 1973) set $375/capita for IDA eligibility. Timing coincided with the collapse of par values and OPEC repricing. McNamara positioned IDA to recycle petrodollar surpluses — the threshold proved to new donors that funds reached the poorest.</a:t>
            </a:r>
            <a:endParaRPr lang="en-US" sz="1050" dirty="0"/>
          </a:p>
        </p:txBody>
      </p:sp>
      <p:sp>
        <p:nvSpPr>
          <p:cNvPr id="8" name="Shape 6"/>
          <p:cNvSpPr/>
          <p:nvPr/>
        </p:nvSpPr>
        <p:spPr>
          <a:xfrm>
            <a:off x="3291840" y="2103120"/>
            <a:ext cx="2606040" cy="2834640"/>
          </a:xfrm>
          <a:prstGeom prst="rect">
            <a:avLst/>
          </a:prstGeom>
          <a:solidFill>
            <a:srgbClr val="FFF8EE"/>
          </a:solidFill>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3401568" y="2194560"/>
            <a:ext cx="2386584" cy="320040"/>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The Graduation Threshold</a:t>
            </a:r>
            <a:endParaRPr lang="en-US" sz="1300" dirty="0"/>
          </a:p>
        </p:txBody>
      </p:sp>
      <p:sp>
        <p:nvSpPr>
          <p:cNvPr id="10" name="Text 8"/>
          <p:cNvSpPr/>
          <p:nvPr/>
        </p:nvSpPr>
        <p:spPr>
          <a:xfrm>
            <a:off x="3401568" y="2560320"/>
            <a:ext cx="2386584" cy="2240280"/>
          </a:xfrm>
          <a:prstGeom prst="rect">
            <a:avLst/>
          </a:prstGeom>
          <a:noFill/>
          <a:ln/>
        </p:spPr>
        <p:txBody>
          <a:bodyPr wrap="square" lIns="0" tIns="0" rIns="0" bIns="0" rtlCol="0" anchor="ctr"/>
          <a:lstStyle/>
          <a:p>
            <a:pPr marL="0" indent="0">
              <a:lnSpc>
                <a:spcPct val="125000"/>
              </a:lnSpc>
              <a:buNone/>
            </a:pPr>
            <a:r>
              <a:rPr lang="en-US" sz="1050" dirty="0">
                <a:solidFill>
                  <a:srgbClr val="2D3748"/>
                </a:solidFill>
                <a:latin typeface="Calibri" pitchFamily="34" charset="0"/>
                <a:ea typeface="Calibri" pitchFamily="34" charset="-122"/>
                <a:cs typeface="Calibri" pitchFamily="34" charset="-120"/>
              </a:rPr>
              <a:t>The 1989 Board paper (John was main author) set the graduation ceiling at a level coinciding with average high-income prosperity when the Bank began lending beyond reconstruction (~1950). A country reaching US-1950 levels should access capital on its own terms.</a:t>
            </a:r>
            <a:endParaRPr lang="en-US" sz="1050" dirty="0"/>
          </a:p>
        </p:txBody>
      </p:sp>
      <p:sp>
        <p:nvSpPr>
          <p:cNvPr id="11" name="Shape 9"/>
          <p:cNvSpPr/>
          <p:nvPr/>
        </p:nvSpPr>
        <p:spPr>
          <a:xfrm>
            <a:off x="6126480" y="2103120"/>
            <a:ext cx="2606040" cy="2834640"/>
          </a:xfrm>
          <a:prstGeom prst="rect">
            <a:avLst/>
          </a:prstGeom>
          <a:solidFill>
            <a:srgbClr val="F0FFF0"/>
          </a:solidFill>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6236208" y="2194560"/>
            <a:ext cx="2386584" cy="320040"/>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The Preference Ladder</a:t>
            </a:r>
            <a:endParaRPr lang="en-US" sz="1300" dirty="0"/>
          </a:p>
        </p:txBody>
      </p:sp>
      <p:sp>
        <p:nvSpPr>
          <p:cNvPr id="13" name="Text 11"/>
          <p:cNvSpPr/>
          <p:nvPr/>
        </p:nvSpPr>
        <p:spPr>
          <a:xfrm>
            <a:off x="6236208" y="2560320"/>
            <a:ext cx="2386584" cy="2240280"/>
          </a:xfrm>
          <a:prstGeom prst="rect">
            <a:avLst/>
          </a:prstGeom>
          <a:noFill/>
          <a:ln/>
        </p:spPr>
        <p:txBody>
          <a:bodyPr wrap="square" lIns="0" tIns="0" rIns="0" bIns="0" rtlCol="0" anchor="ctr"/>
          <a:lstStyle/>
          <a:p>
            <a:pPr marL="0" indent="0">
              <a:lnSpc>
                <a:spcPct val="125000"/>
              </a:lnSpc>
              <a:buNone/>
            </a:pPr>
            <a:r>
              <a:rPr lang="en-US" sz="1050" dirty="0">
                <a:solidFill>
                  <a:srgbClr val="2D3748"/>
                </a:solidFill>
                <a:latin typeface="Calibri" pitchFamily="34" charset="0"/>
                <a:ea typeface="Calibri" pitchFamily="34" charset="-122"/>
                <a:cs typeface="Calibri" pitchFamily="34" charset="-120"/>
              </a:rPr>
              <a:t>IDA-Only → Blend → IBRD → Graduation: a ladder of diminishing risk premiums. Graduation is the moment Social Infrastructure has compressed the premium enough for unaided market access. The Bank intermediates where collateral is thin.</a:t>
            </a:r>
            <a:endParaRPr lang="en-US" sz="1050" dirty="0"/>
          </a:p>
        </p:txBody>
      </p:sp>
      <p:pic>
        <p:nvPicPr>
          <p:cNvPr id="14" name="Picture 13">
            <a:extLst>
              <a:ext uri="{FF2B5EF4-FFF2-40B4-BE49-F238E27FC236}">
                <a16:creationId xmlns:a16="http://schemas.microsoft.com/office/drawing/2014/main" id="{67EDB9A6-1E2F-3F01-F6D6-97804288625C}"/>
              </a:ext>
            </a:extLst>
          </p:cNvPr>
          <p:cNvPicPr>
            <a:picLocks noChangeAspect="1"/>
          </p:cNvPicPr>
          <p:nvPr/>
        </p:nvPicPr>
        <p:blipFill>
          <a:blip r:embed="rId3"/>
          <a:stretch>
            <a:fillRect/>
          </a:stretch>
        </p:blipFill>
        <p:spPr>
          <a:xfrm>
            <a:off x="8278517" y="4257381"/>
            <a:ext cx="865483" cy="8861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Deferred Maintenance: Naming What the Bank Intermediates</a:t>
            </a:r>
            <a:endParaRPr lang="en-US" sz="2600" dirty="0"/>
          </a:p>
        </p:txBody>
      </p:sp>
      <p:sp>
        <p:nvSpPr>
          <p:cNvPr id="3" name="Text 1"/>
          <p:cNvSpPr/>
          <p:nvPr/>
        </p:nvSpPr>
        <p:spPr>
          <a:xfrm>
            <a:off x="548640" y="914400"/>
            <a:ext cx="8046720" cy="502920"/>
          </a:xfrm>
          <a:prstGeom prst="rect">
            <a:avLst/>
          </a:prstGeom>
          <a:noFill/>
          <a:ln/>
        </p:spPr>
        <p:txBody>
          <a:bodyPr wrap="square" rtlCol="0" anchor="ctr"/>
          <a:lstStyle/>
          <a:p>
            <a:pPr marL="0" indent="0">
              <a:lnSpc>
                <a:spcPct val="120000"/>
              </a:lnSpc>
              <a:buNone/>
            </a:pPr>
            <a:r>
              <a:rPr lang="en-US" sz="1250" i="1" dirty="0">
                <a:solidFill>
                  <a:srgbClr val="2D3748"/>
                </a:solidFill>
                <a:latin typeface="Calibri" pitchFamily="34" charset="0"/>
                <a:ea typeface="Calibri" pitchFamily="34" charset="-122"/>
                <a:cs typeface="Calibri" pitchFamily="34" charset="-120"/>
              </a:rPr>
              <a:t>The SI residual provides a commensurate measure of the deficit — the gap between what asset accounting can identify as collateral and what the income annuity implies should exist.</a:t>
            </a:r>
            <a:endParaRPr lang="en-US" sz="1250" dirty="0"/>
          </a:p>
        </p:txBody>
      </p:sp>
      <p:sp>
        <p:nvSpPr>
          <p:cNvPr id="4" name="Shape 2"/>
          <p:cNvSpPr/>
          <p:nvPr/>
        </p:nvSpPr>
        <p:spPr>
          <a:xfrm>
            <a:off x="457200" y="1600200"/>
            <a:ext cx="2011680" cy="502920"/>
          </a:xfrm>
          <a:prstGeom prst="rect">
            <a:avLst/>
          </a:prstGeom>
          <a:solidFill>
            <a:srgbClr val="141B3D"/>
          </a:solidFill>
          <a:ln/>
        </p:spPr>
        <p:txBody>
          <a:bodyPr/>
          <a:lstStyle/>
          <a:p>
            <a:endParaRPr lang="en-US"/>
          </a:p>
        </p:txBody>
      </p:sp>
      <p:sp>
        <p:nvSpPr>
          <p:cNvPr id="5" name="Text 3"/>
          <p:cNvSpPr/>
          <p:nvPr/>
        </p:nvSpPr>
        <p:spPr>
          <a:xfrm>
            <a:off x="548640" y="1600200"/>
            <a:ext cx="1828800" cy="502920"/>
          </a:xfrm>
          <a:prstGeom prst="rect">
            <a:avLst/>
          </a:prstGeom>
          <a:noFill/>
          <a:ln/>
        </p:spPr>
        <p:txBody>
          <a:bodyPr wrap="square" lIns="0" tIns="0" rIns="0" bIns="0" rtlCol="0" anchor="ctr"/>
          <a:lstStyle/>
          <a:p>
            <a:pPr marL="0" indent="0">
              <a:buNone/>
            </a:pPr>
            <a:endParaRPr lang="en-US" sz="1100" dirty="0"/>
          </a:p>
        </p:txBody>
      </p:sp>
      <p:sp>
        <p:nvSpPr>
          <p:cNvPr id="6" name="Shape 4"/>
          <p:cNvSpPr/>
          <p:nvPr/>
        </p:nvSpPr>
        <p:spPr>
          <a:xfrm>
            <a:off x="2468880" y="1600200"/>
            <a:ext cx="3108960" cy="502920"/>
          </a:xfrm>
          <a:prstGeom prst="rect">
            <a:avLst/>
          </a:prstGeom>
          <a:solidFill>
            <a:srgbClr val="141B3D"/>
          </a:solidFill>
          <a:ln/>
        </p:spPr>
        <p:txBody>
          <a:bodyPr/>
          <a:lstStyle/>
          <a:p>
            <a:endParaRPr lang="en-US"/>
          </a:p>
        </p:txBody>
      </p:sp>
      <p:sp>
        <p:nvSpPr>
          <p:cNvPr id="7" name="Text 5"/>
          <p:cNvSpPr/>
          <p:nvPr/>
        </p:nvSpPr>
        <p:spPr>
          <a:xfrm>
            <a:off x="2560320" y="1600200"/>
            <a:ext cx="292608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High-Deficit Nation (DM &gt; 0)</a:t>
            </a:r>
            <a:endParaRPr lang="en-US" sz="1100" dirty="0"/>
          </a:p>
        </p:txBody>
      </p:sp>
      <p:sp>
        <p:nvSpPr>
          <p:cNvPr id="8" name="Shape 6"/>
          <p:cNvSpPr/>
          <p:nvPr/>
        </p:nvSpPr>
        <p:spPr>
          <a:xfrm>
            <a:off x="5577840" y="1600200"/>
            <a:ext cx="3108960" cy="502920"/>
          </a:xfrm>
          <a:prstGeom prst="rect">
            <a:avLst/>
          </a:prstGeom>
          <a:solidFill>
            <a:srgbClr val="141B3D"/>
          </a:solidFill>
          <a:ln/>
        </p:spPr>
        <p:txBody>
          <a:bodyPr/>
          <a:lstStyle/>
          <a:p>
            <a:endParaRPr lang="en-US"/>
          </a:p>
        </p:txBody>
      </p:sp>
      <p:sp>
        <p:nvSpPr>
          <p:cNvPr id="9" name="Text 7"/>
          <p:cNvSpPr/>
          <p:nvPr/>
        </p:nvSpPr>
        <p:spPr>
          <a:xfrm>
            <a:off x="5669280" y="1600200"/>
            <a:ext cx="292608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Healthy-Asset Nation (DM = 0)</a:t>
            </a:r>
            <a:endParaRPr lang="en-US" sz="1100" dirty="0"/>
          </a:p>
        </p:txBody>
      </p:sp>
      <p:sp>
        <p:nvSpPr>
          <p:cNvPr id="10" name="Shape 8"/>
          <p:cNvSpPr/>
          <p:nvPr/>
        </p:nvSpPr>
        <p:spPr>
          <a:xfrm>
            <a:off x="457200" y="2103120"/>
            <a:ext cx="2011680" cy="502920"/>
          </a:xfrm>
          <a:prstGeom prst="rect">
            <a:avLst/>
          </a:prstGeom>
          <a:solidFill>
            <a:srgbClr val="F5F5F5"/>
          </a:solidFill>
          <a:ln/>
        </p:spPr>
        <p:txBody>
          <a:bodyPr/>
          <a:lstStyle/>
          <a:p>
            <a:endParaRPr lang="en-US"/>
          </a:p>
        </p:txBody>
      </p:sp>
      <p:sp>
        <p:nvSpPr>
          <p:cNvPr id="11" name="Text 9"/>
          <p:cNvSpPr/>
          <p:nvPr/>
        </p:nvSpPr>
        <p:spPr>
          <a:xfrm>
            <a:off x="548640" y="2103120"/>
            <a:ext cx="1828800" cy="5029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Social Infrastructure</a:t>
            </a:r>
            <a:endParaRPr lang="en-US" sz="1100" dirty="0"/>
          </a:p>
        </p:txBody>
      </p:sp>
      <p:sp>
        <p:nvSpPr>
          <p:cNvPr id="12" name="Shape 10"/>
          <p:cNvSpPr/>
          <p:nvPr/>
        </p:nvSpPr>
        <p:spPr>
          <a:xfrm>
            <a:off x="2468880" y="2103120"/>
            <a:ext cx="3108960" cy="502920"/>
          </a:xfrm>
          <a:prstGeom prst="rect">
            <a:avLst/>
          </a:prstGeom>
          <a:solidFill>
            <a:srgbClr val="FFF0F0"/>
          </a:solidFill>
          <a:ln/>
        </p:spPr>
        <p:txBody>
          <a:bodyPr/>
          <a:lstStyle/>
          <a:p>
            <a:endParaRPr lang="en-US"/>
          </a:p>
        </p:txBody>
      </p:sp>
      <p:sp>
        <p:nvSpPr>
          <p:cNvPr id="13" name="Text 11"/>
          <p:cNvSpPr/>
          <p:nvPr/>
        </p:nvSpPr>
        <p:spPr>
          <a:xfrm>
            <a:off x="2560320" y="2103120"/>
            <a:ext cx="2926080" cy="502920"/>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Sub-floor residual; institutional drag</a:t>
            </a:r>
            <a:endParaRPr lang="en-US" sz="1100" dirty="0"/>
          </a:p>
        </p:txBody>
      </p:sp>
      <p:sp>
        <p:nvSpPr>
          <p:cNvPr id="14" name="Shape 12"/>
          <p:cNvSpPr/>
          <p:nvPr/>
        </p:nvSpPr>
        <p:spPr>
          <a:xfrm>
            <a:off x="5577840" y="2103120"/>
            <a:ext cx="3108960" cy="502920"/>
          </a:xfrm>
          <a:prstGeom prst="rect">
            <a:avLst/>
          </a:prstGeom>
          <a:solidFill>
            <a:srgbClr val="F0FFF0"/>
          </a:solidFill>
          <a:ln/>
        </p:spPr>
        <p:txBody>
          <a:bodyPr/>
          <a:lstStyle/>
          <a:p>
            <a:endParaRPr lang="en-US"/>
          </a:p>
        </p:txBody>
      </p:sp>
      <p:sp>
        <p:nvSpPr>
          <p:cNvPr id="15" name="Text 13"/>
          <p:cNvSpPr/>
          <p:nvPr/>
        </p:nvSpPr>
        <p:spPr>
          <a:xfrm>
            <a:off x="5669280" y="2103120"/>
            <a:ext cx="2926080" cy="502920"/>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Wealth-generating asset class</a:t>
            </a:r>
            <a:endParaRPr lang="en-US" sz="1100" dirty="0"/>
          </a:p>
        </p:txBody>
      </p:sp>
      <p:sp>
        <p:nvSpPr>
          <p:cNvPr id="16" name="Shape 14"/>
          <p:cNvSpPr/>
          <p:nvPr/>
        </p:nvSpPr>
        <p:spPr>
          <a:xfrm>
            <a:off x="457200" y="2606040"/>
            <a:ext cx="2011680" cy="502920"/>
          </a:xfrm>
          <a:prstGeom prst="rect">
            <a:avLst/>
          </a:prstGeom>
          <a:solidFill>
            <a:srgbClr val="EBEBEB"/>
          </a:solidFill>
          <a:ln/>
        </p:spPr>
        <p:txBody>
          <a:bodyPr/>
          <a:lstStyle/>
          <a:p>
            <a:endParaRPr lang="en-US"/>
          </a:p>
        </p:txBody>
      </p:sp>
      <p:sp>
        <p:nvSpPr>
          <p:cNvPr id="17" name="Text 15"/>
          <p:cNvSpPr/>
          <p:nvPr/>
        </p:nvSpPr>
        <p:spPr>
          <a:xfrm>
            <a:off x="548640" y="2606040"/>
            <a:ext cx="1828800" cy="5029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Deferred Maintenance</a:t>
            </a:r>
            <a:endParaRPr lang="en-US" sz="1100" dirty="0"/>
          </a:p>
        </p:txBody>
      </p:sp>
      <p:sp>
        <p:nvSpPr>
          <p:cNvPr id="18" name="Shape 16"/>
          <p:cNvSpPr/>
          <p:nvPr/>
        </p:nvSpPr>
        <p:spPr>
          <a:xfrm>
            <a:off x="2468880" y="2606040"/>
            <a:ext cx="3108960" cy="502920"/>
          </a:xfrm>
          <a:prstGeom prst="rect">
            <a:avLst/>
          </a:prstGeom>
          <a:solidFill>
            <a:srgbClr val="FFF5F5"/>
          </a:solidFill>
          <a:ln/>
        </p:spPr>
        <p:txBody>
          <a:bodyPr/>
          <a:lstStyle/>
          <a:p>
            <a:endParaRPr lang="en-US"/>
          </a:p>
        </p:txBody>
      </p:sp>
      <p:sp>
        <p:nvSpPr>
          <p:cNvPr id="19" name="Text 17"/>
          <p:cNvSpPr/>
          <p:nvPr/>
        </p:nvSpPr>
        <p:spPr>
          <a:xfrm>
            <a:off x="2560320" y="2606040"/>
            <a:ext cx="2926080" cy="502920"/>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Quantifiable trust deficit</a:t>
            </a:r>
            <a:endParaRPr lang="en-US" sz="1100" dirty="0"/>
          </a:p>
        </p:txBody>
      </p:sp>
      <p:sp>
        <p:nvSpPr>
          <p:cNvPr id="20" name="Shape 18"/>
          <p:cNvSpPr/>
          <p:nvPr/>
        </p:nvSpPr>
        <p:spPr>
          <a:xfrm>
            <a:off x="5577840" y="2606040"/>
            <a:ext cx="3108960" cy="502920"/>
          </a:xfrm>
          <a:prstGeom prst="rect">
            <a:avLst/>
          </a:prstGeom>
          <a:solidFill>
            <a:srgbClr val="F5FFF5"/>
          </a:solidFill>
          <a:ln/>
        </p:spPr>
        <p:txBody>
          <a:bodyPr/>
          <a:lstStyle/>
          <a:p>
            <a:endParaRPr lang="en-US"/>
          </a:p>
        </p:txBody>
      </p:sp>
      <p:sp>
        <p:nvSpPr>
          <p:cNvPr id="21" name="Text 19"/>
          <p:cNvSpPr/>
          <p:nvPr/>
        </p:nvSpPr>
        <p:spPr>
          <a:xfrm>
            <a:off x="5669280" y="2606040"/>
            <a:ext cx="2926080" cy="502920"/>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Zero structural liability</a:t>
            </a:r>
            <a:endParaRPr lang="en-US" sz="1100" dirty="0"/>
          </a:p>
        </p:txBody>
      </p:sp>
      <p:sp>
        <p:nvSpPr>
          <p:cNvPr id="22" name="Shape 20"/>
          <p:cNvSpPr/>
          <p:nvPr/>
        </p:nvSpPr>
        <p:spPr>
          <a:xfrm>
            <a:off x="457200" y="3108960"/>
            <a:ext cx="2011680" cy="502920"/>
          </a:xfrm>
          <a:prstGeom prst="rect">
            <a:avLst/>
          </a:prstGeom>
          <a:solidFill>
            <a:srgbClr val="F5F5F5"/>
          </a:solidFill>
          <a:ln/>
        </p:spPr>
        <p:txBody>
          <a:bodyPr/>
          <a:lstStyle/>
          <a:p>
            <a:endParaRPr lang="en-US"/>
          </a:p>
        </p:txBody>
      </p:sp>
      <p:sp>
        <p:nvSpPr>
          <p:cNvPr id="23" name="Text 21"/>
          <p:cNvSpPr/>
          <p:nvPr/>
        </p:nvSpPr>
        <p:spPr>
          <a:xfrm>
            <a:off x="548640" y="3108960"/>
            <a:ext cx="1828800" cy="5029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Market Implication</a:t>
            </a:r>
            <a:endParaRPr lang="en-US" sz="1100" dirty="0"/>
          </a:p>
        </p:txBody>
      </p:sp>
      <p:sp>
        <p:nvSpPr>
          <p:cNvPr id="24" name="Shape 22"/>
          <p:cNvSpPr/>
          <p:nvPr/>
        </p:nvSpPr>
        <p:spPr>
          <a:xfrm>
            <a:off x="2468880" y="3108960"/>
            <a:ext cx="3108960" cy="502920"/>
          </a:xfrm>
          <a:prstGeom prst="rect">
            <a:avLst/>
          </a:prstGeom>
          <a:solidFill>
            <a:srgbClr val="FFF0F0"/>
          </a:solidFill>
          <a:ln/>
        </p:spPr>
        <p:txBody>
          <a:bodyPr/>
          <a:lstStyle/>
          <a:p>
            <a:endParaRPr lang="en-US"/>
          </a:p>
        </p:txBody>
      </p:sp>
      <p:sp>
        <p:nvSpPr>
          <p:cNvPr id="25" name="Text 23"/>
          <p:cNvSpPr/>
          <p:nvPr/>
        </p:nvSpPr>
        <p:spPr>
          <a:xfrm>
            <a:off x="2560320" y="3108960"/>
            <a:ext cx="2926080" cy="502920"/>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Capital cannot find adequate collateral</a:t>
            </a:r>
            <a:endParaRPr lang="en-US" sz="1100" dirty="0"/>
          </a:p>
        </p:txBody>
      </p:sp>
      <p:sp>
        <p:nvSpPr>
          <p:cNvPr id="26" name="Shape 24"/>
          <p:cNvSpPr/>
          <p:nvPr/>
        </p:nvSpPr>
        <p:spPr>
          <a:xfrm>
            <a:off x="5577840" y="3108960"/>
            <a:ext cx="3108960" cy="502920"/>
          </a:xfrm>
          <a:prstGeom prst="rect">
            <a:avLst/>
          </a:prstGeom>
          <a:solidFill>
            <a:srgbClr val="F0FFF0"/>
          </a:solidFill>
          <a:ln/>
        </p:spPr>
        <p:txBody>
          <a:bodyPr/>
          <a:lstStyle/>
          <a:p>
            <a:endParaRPr lang="en-US"/>
          </a:p>
        </p:txBody>
      </p:sp>
      <p:sp>
        <p:nvSpPr>
          <p:cNvPr id="27" name="Text 25"/>
          <p:cNvSpPr/>
          <p:nvPr/>
        </p:nvSpPr>
        <p:spPr>
          <a:xfrm>
            <a:off x="5669280" y="3108960"/>
            <a:ext cx="2926080" cy="502920"/>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Private markets collateralize efficiently</a:t>
            </a:r>
            <a:endParaRPr lang="en-US" sz="1100" dirty="0"/>
          </a:p>
        </p:txBody>
      </p:sp>
      <p:sp>
        <p:nvSpPr>
          <p:cNvPr id="28" name="Shape 26"/>
          <p:cNvSpPr/>
          <p:nvPr/>
        </p:nvSpPr>
        <p:spPr>
          <a:xfrm>
            <a:off x="457200" y="3611880"/>
            <a:ext cx="2011680" cy="502920"/>
          </a:xfrm>
          <a:prstGeom prst="rect">
            <a:avLst/>
          </a:prstGeom>
          <a:solidFill>
            <a:srgbClr val="EBEBEB"/>
          </a:solidFill>
          <a:ln/>
        </p:spPr>
        <p:txBody>
          <a:bodyPr/>
          <a:lstStyle/>
          <a:p>
            <a:endParaRPr lang="en-US"/>
          </a:p>
        </p:txBody>
      </p:sp>
      <p:sp>
        <p:nvSpPr>
          <p:cNvPr id="29" name="Text 27"/>
          <p:cNvSpPr/>
          <p:nvPr/>
        </p:nvSpPr>
        <p:spPr>
          <a:xfrm>
            <a:off x="548640" y="3611880"/>
            <a:ext cx="1828800" cy="50292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Policy Directive</a:t>
            </a:r>
            <a:endParaRPr lang="en-US" sz="1100" dirty="0"/>
          </a:p>
        </p:txBody>
      </p:sp>
      <p:sp>
        <p:nvSpPr>
          <p:cNvPr id="30" name="Shape 28"/>
          <p:cNvSpPr/>
          <p:nvPr/>
        </p:nvSpPr>
        <p:spPr>
          <a:xfrm>
            <a:off x="2468880" y="3611880"/>
            <a:ext cx="3108960" cy="502920"/>
          </a:xfrm>
          <a:prstGeom prst="rect">
            <a:avLst/>
          </a:prstGeom>
          <a:solidFill>
            <a:srgbClr val="FFF5F5"/>
          </a:solidFill>
          <a:ln/>
        </p:spPr>
        <p:txBody>
          <a:bodyPr/>
          <a:lstStyle/>
          <a:p>
            <a:endParaRPr lang="en-US"/>
          </a:p>
        </p:txBody>
      </p:sp>
      <p:sp>
        <p:nvSpPr>
          <p:cNvPr id="31" name="Text 29"/>
          <p:cNvSpPr/>
          <p:nvPr/>
        </p:nvSpPr>
        <p:spPr>
          <a:xfrm>
            <a:off x="2560320" y="3611880"/>
            <a:ext cx="2926080" cy="502920"/>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Invest in SI before buying more PA</a:t>
            </a:r>
            <a:endParaRPr lang="en-US" sz="1100" dirty="0"/>
          </a:p>
        </p:txBody>
      </p:sp>
      <p:sp>
        <p:nvSpPr>
          <p:cNvPr id="32" name="Shape 30"/>
          <p:cNvSpPr/>
          <p:nvPr/>
        </p:nvSpPr>
        <p:spPr>
          <a:xfrm>
            <a:off x="5577840" y="3611880"/>
            <a:ext cx="3108960" cy="502920"/>
          </a:xfrm>
          <a:prstGeom prst="rect">
            <a:avLst/>
          </a:prstGeom>
          <a:solidFill>
            <a:srgbClr val="F5FFF5"/>
          </a:solidFill>
          <a:ln/>
        </p:spPr>
        <p:txBody>
          <a:bodyPr/>
          <a:lstStyle/>
          <a:p>
            <a:endParaRPr lang="en-US"/>
          </a:p>
        </p:txBody>
      </p:sp>
      <p:sp>
        <p:nvSpPr>
          <p:cNvPr id="33" name="Text 31"/>
          <p:cNvSpPr/>
          <p:nvPr/>
        </p:nvSpPr>
        <p:spPr>
          <a:xfrm>
            <a:off x="5669280" y="3611880"/>
            <a:ext cx="2926080" cy="502920"/>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Scale up produced and natural capital</a:t>
            </a:r>
            <a:endParaRPr lang="en-US" sz="1100" dirty="0"/>
          </a:p>
        </p:txBody>
      </p:sp>
      <p:sp>
        <p:nvSpPr>
          <p:cNvPr id="34" name="Shape 32"/>
          <p:cNvSpPr/>
          <p:nvPr/>
        </p:nvSpPr>
        <p:spPr>
          <a:xfrm>
            <a:off x="457200" y="4297680"/>
            <a:ext cx="8229600" cy="640080"/>
          </a:xfrm>
          <a:prstGeom prst="rect">
            <a:avLst/>
          </a:prstGeom>
          <a:solidFill>
            <a:srgbClr val="141B3D"/>
          </a:solidFill>
          <a:ln/>
        </p:spPr>
        <p:txBody>
          <a:bodyPr/>
          <a:lstStyle/>
          <a:p>
            <a:endParaRPr lang="en-US"/>
          </a:p>
        </p:txBody>
      </p:sp>
      <p:sp>
        <p:nvSpPr>
          <p:cNvPr id="35" name="Text 33"/>
          <p:cNvSpPr/>
          <p:nvPr/>
        </p:nvSpPr>
        <p:spPr>
          <a:xfrm>
            <a:off x="640080" y="4297680"/>
            <a:ext cx="7863840" cy="640080"/>
          </a:xfrm>
          <a:prstGeom prst="rect">
            <a:avLst/>
          </a:prstGeom>
          <a:noFill/>
          <a:ln/>
        </p:spPr>
        <p:txBody>
          <a:bodyPr wrap="square" rtlCol="0" anchor="ctr"/>
          <a:lstStyle/>
          <a:p>
            <a:pPr marL="0" indent="0">
              <a:buNone/>
            </a:pPr>
            <a:r>
              <a:rPr lang="en-US" sz="2800" b="1" dirty="0">
                <a:solidFill>
                  <a:srgbClr val="C9A84C"/>
                </a:solidFill>
                <a:latin typeface="Georgia" pitchFamily="34" charset="0"/>
                <a:ea typeface="Georgia" pitchFamily="34" charset="-122"/>
                <a:cs typeface="Georgia" pitchFamily="34" charset="-120"/>
              </a:rPr>
              <a:t>96 of 194 </a:t>
            </a:r>
            <a:r>
              <a:rPr lang="en-US" sz="1400" dirty="0">
                <a:solidFill>
                  <a:srgbClr val="FFFFFF"/>
                </a:solidFill>
                <a:latin typeface="Calibri" pitchFamily="34" charset="0"/>
                <a:ea typeface="Calibri" pitchFamily="34" charset="-122"/>
                <a:cs typeface="Calibri" pitchFamily="34" charset="-120"/>
              </a:rPr>
              <a:t>countries bind to the floor (DM &gt; 0) in 2020 — where private markets cannot find adequate collateral.</a:t>
            </a:r>
            <a:endParaRPr lang="en-US" sz="2800" dirty="0"/>
          </a:p>
        </p:txBody>
      </p:sp>
      <p:pic>
        <p:nvPicPr>
          <p:cNvPr id="36" name="Picture 35">
            <a:extLst>
              <a:ext uri="{FF2B5EF4-FFF2-40B4-BE49-F238E27FC236}">
                <a16:creationId xmlns:a16="http://schemas.microsoft.com/office/drawing/2014/main" id="{5E44BAE7-E17B-51BE-22C0-E6830887EA3E}"/>
              </a:ext>
            </a:extLst>
          </p:cNvPr>
          <p:cNvPicPr>
            <a:picLocks noChangeAspect="1"/>
          </p:cNvPicPr>
          <p:nvPr/>
        </p:nvPicPr>
        <p:blipFill>
          <a:blip r:embed="rId3"/>
          <a:stretch>
            <a:fillRect/>
          </a:stretch>
        </p:blipFill>
        <p:spPr>
          <a:xfrm>
            <a:off x="8278517" y="4257381"/>
            <a:ext cx="865483" cy="8861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3D"/>
        </a:solidFill>
        <a:effectLst/>
      </p:bgPr>
    </p:bg>
    <p:spTree>
      <p:nvGrpSpPr>
        <p:cNvPr id="1" name=""/>
        <p:cNvGrpSpPr/>
        <p:nvPr/>
      </p:nvGrpSpPr>
      <p:grpSpPr>
        <a:xfrm>
          <a:off x="0" y="0"/>
          <a:ext cx="0" cy="0"/>
          <a:chOff x="0" y="0"/>
          <a:chExt cx="0" cy="0"/>
        </a:xfrm>
      </p:grpSpPr>
      <p:sp>
        <p:nvSpPr>
          <p:cNvPr id="2" name="Shape 0"/>
          <p:cNvSpPr/>
          <p:nvPr/>
        </p:nvSpPr>
        <p:spPr>
          <a:xfrm>
            <a:off x="0" y="5088636"/>
            <a:ext cx="9144000" cy="54864"/>
          </a:xfrm>
          <a:prstGeom prst="rect">
            <a:avLst/>
          </a:prstGeom>
          <a:solidFill>
            <a:srgbClr val="C9A84C"/>
          </a:solidFill>
          <a:ln/>
        </p:spPr>
        <p:txBody>
          <a:bodyPr/>
          <a:lstStyle/>
          <a:p>
            <a:endParaRPr lang="en-US"/>
          </a:p>
        </p:txBody>
      </p:sp>
      <p:sp>
        <p:nvSpPr>
          <p:cNvPr id="3" name="Text 1"/>
          <p:cNvSpPr/>
          <p:nvPr/>
        </p:nvSpPr>
        <p:spPr>
          <a:xfrm>
            <a:off x="731520" y="731520"/>
            <a:ext cx="7680960" cy="73152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An Invitation to Beyond GDP Advocates</a:t>
            </a:r>
            <a:endParaRPr lang="en-US" sz="3600" dirty="0"/>
          </a:p>
        </p:txBody>
      </p:sp>
      <p:sp>
        <p:nvSpPr>
          <p:cNvPr id="4" name="Text 2"/>
          <p:cNvSpPr/>
          <p:nvPr/>
        </p:nvSpPr>
        <p:spPr>
          <a:xfrm>
            <a:off x="731520" y="1737360"/>
            <a:ext cx="7680960" cy="914400"/>
          </a:xfrm>
          <a:prstGeom prst="rect">
            <a:avLst/>
          </a:prstGeom>
          <a:noFill/>
          <a:ln/>
        </p:spPr>
        <p:txBody>
          <a:bodyPr wrap="square" rtlCol="0" anchor="ctr"/>
          <a:lstStyle/>
          <a:p>
            <a:pPr marL="0" indent="0">
              <a:lnSpc>
                <a:spcPct val="130000"/>
              </a:lnSpc>
              <a:buNone/>
            </a:pPr>
            <a:r>
              <a:rPr lang="en-US" sz="1600" i="1" dirty="0">
                <a:solidFill>
                  <a:srgbClr val="F5E6B8"/>
                </a:solidFill>
                <a:latin typeface="Calibri" pitchFamily="34" charset="0"/>
                <a:ea typeface="Calibri" pitchFamily="34" charset="-122"/>
                <a:cs typeface="Calibri" pitchFamily="34" charset="-120"/>
              </a:rPr>
              <a:t>FAND offers the rigorous accounting alternative the movement has long sought. Rather than debating how to adjust GNI to alter lending preferences, it uncovers the structural deficits driving low income in the first place.</a:t>
            </a:r>
            <a:endParaRPr lang="en-US" sz="1600" dirty="0"/>
          </a:p>
        </p:txBody>
      </p:sp>
      <p:sp>
        <p:nvSpPr>
          <p:cNvPr id="5" name="Text 3"/>
          <p:cNvSpPr/>
          <p:nvPr/>
        </p:nvSpPr>
        <p:spPr>
          <a:xfrm>
            <a:off x="731520" y="3017520"/>
            <a:ext cx="7680960" cy="1645920"/>
          </a:xfrm>
          <a:prstGeom prst="rect">
            <a:avLst/>
          </a:prstGeom>
          <a:noFill/>
          <a:ln/>
        </p:spPr>
        <p:txBody>
          <a:bodyPr wrap="square" rtlCol="0" anchor="ctr"/>
          <a:lstStyle/>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Rebuild the trust infrastructure.</a:t>
            </a:r>
            <a:endParaRPr lang="en-US" sz="2400" dirty="0"/>
          </a:p>
          <a:p>
            <a:pPr marL="0" indent="0">
              <a:lnSpc>
                <a:spcPct val="120000"/>
              </a:lnSpc>
              <a:buNone/>
            </a:pPr>
            <a:r>
              <a:rPr lang="en-US" sz="2400" b="1" dirty="0">
                <a:solidFill>
                  <a:srgbClr val="FFFFFF"/>
                </a:solidFill>
                <a:latin typeface="Georgia" pitchFamily="34" charset="0"/>
                <a:ea typeface="Georgia" pitchFamily="34" charset="-122"/>
                <a:cs typeface="Georgia" pitchFamily="34" charset="-120"/>
              </a:rPr>
              <a:t>Eliminate Deferred Maintenance first.</a:t>
            </a:r>
            <a:endParaRPr lang="en-US" sz="2400" dirty="0"/>
          </a:p>
          <a:p>
            <a:pPr marL="0" indent="0">
              <a:lnSpc>
                <a:spcPct val="120000"/>
              </a:lnSpc>
              <a:buNone/>
            </a:pPr>
            <a:endParaRPr lang="en-US" sz="2400" dirty="0"/>
          </a:p>
          <a:p>
            <a:pPr marL="0" indent="0">
              <a:lnSpc>
                <a:spcPct val="120000"/>
              </a:lnSpc>
              <a:buNone/>
            </a:pPr>
            <a:r>
              <a:rPr lang="en-US" sz="1400" dirty="0">
                <a:solidFill>
                  <a:srgbClr val="8899BB"/>
                </a:solidFill>
                <a:latin typeface="Calibri" pitchFamily="34" charset="0"/>
                <a:ea typeface="Calibri" pitchFamily="34" charset="-122"/>
                <a:cs typeface="Calibri" pitchFamily="34" charset="-120"/>
              </a:rPr>
              <a:t>The FAND prototype and MEP Redux database: expert review June 2026.</a:t>
            </a:r>
            <a:endParaRPr lang="en-US" sz="2400" dirty="0"/>
          </a:p>
        </p:txBody>
      </p:sp>
      <p:pic>
        <p:nvPicPr>
          <p:cNvPr id="6" name="Picture 5">
            <a:extLst>
              <a:ext uri="{FF2B5EF4-FFF2-40B4-BE49-F238E27FC236}">
                <a16:creationId xmlns:a16="http://schemas.microsoft.com/office/drawing/2014/main" id="{205E2AF4-A273-A397-AF00-54BBAA999EF2}"/>
              </a:ext>
            </a:extLst>
          </p:cNvPr>
          <p:cNvPicPr>
            <a:picLocks noChangeAspect="1"/>
          </p:cNvPicPr>
          <p:nvPr/>
        </p:nvPicPr>
        <p:blipFill>
          <a:blip r:embed="rId3"/>
          <a:stretch>
            <a:fillRect/>
          </a:stretch>
        </p:blipFill>
        <p:spPr>
          <a:xfrm>
            <a:off x="8278517" y="4257381"/>
            <a:ext cx="865483" cy="8861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2871</Words>
  <Application>Microsoft Office PowerPoint</Application>
  <PresentationFormat>On-screen Show (16:9)</PresentationFormat>
  <Paragraphs>105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Really Looking Beyond GDP</dc:title>
  <dc:subject>PptxGenJS Presentation</dc:subject>
  <dc:creator>John O'Connor / OconEco</dc:creator>
  <cp:lastModifiedBy>John O'Connor</cp:lastModifiedBy>
  <cp:revision>1</cp:revision>
  <dcterms:created xsi:type="dcterms:W3CDTF">2026-05-25T01:15:14Z</dcterms:created>
  <dcterms:modified xsi:type="dcterms:W3CDTF">2026-05-25T11:49:36Z</dcterms:modified>
</cp:coreProperties>
</file>