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3" r:id="rId7"/>
    <p:sldId id="264" r:id="rId8"/>
    <p:sldId id="265" r:id="rId9"/>
    <p:sldId id="261" r:id="rId10"/>
    <p:sldId id="262" r:id="rId11"/>
    <p:sldId id="266"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173" autoAdjust="0"/>
  </p:normalViewPr>
  <p:slideViewPr>
    <p:cSldViewPr snapToGrid="0" snapToObjects="1">
      <p:cViewPr varScale="1">
        <p:scale>
          <a:sx n="73" d="100"/>
          <a:sy n="73" d="100"/>
        </p:scale>
        <p:origin x="1488"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addSld modSld">
      <pc:chgData name="John O'Connor" userId="f7385dc4-3ae7-4722-a367-bcb8024ecc52" providerId="ADAL" clId="{D1113808-6EF2-45F3-A052-BF7C3C4820FF}" dt="2026-05-21T23:28:04.185" v="1042" actId="14100"/>
      <pc:docMkLst>
        <pc:docMk/>
      </pc:docMkLst>
      <pc:sldChg chg="modSp mod modNotesTx">
        <pc:chgData name="John O'Connor" userId="f7385dc4-3ae7-4722-a367-bcb8024ecc52" providerId="ADAL" clId="{D1113808-6EF2-45F3-A052-BF7C3C4820FF}" dt="2026-05-21T23:28:04.185" v="1042" actId="14100"/>
        <pc:sldMkLst>
          <pc:docMk/>
          <pc:sldMk cId="0" sldId="256"/>
        </pc:sldMkLst>
        <pc:spChg chg="mod">
          <ac:chgData name="John O'Connor" userId="f7385dc4-3ae7-4722-a367-bcb8024ecc52" providerId="ADAL" clId="{D1113808-6EF2-45F3-A052-BF7C3C4820FF}" dt="2026-05-21T23:28:04.185" v="1042" actId="14100"/>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480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Global Leaves — a proof-of-concept that asks a deceptively simple question: where does humanity actually live, and how well do we measure it?
We took 7,101 administrative units — the finest grain available for each of 237 countries — and cross-tabulated two ratios: population density and per-capita economic output.
The metaphor has countries as trees. Intermediate administrative subdivisions are branches, and the finest units we observe are the leaves. It is the leaves that engage with the environment, absorb sunlight and perform photosynthesis. In this metaphor, that is the economic and natural interactions we count in SNA and such. And for that, it is the leaf that counts, not the branch or the trunk.
What we found challenges the conventional wisdom about how density and wealth relate — and reveals something troubling about the data infrastructure itself.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numbers frame what we're working with.
7,101 administrative 'leaves' — the finest-grain unit available per country. For Germany that's 401 Kreise (TL3); for Nigeria it's 37 states (TL2); for a few small nations it's the country itself (TL1).
7.9 billion people — 97.6% of world population. The missing 2.4% are mostly units with no area or economy data that couldn't be assigned to both quintile dimensions.
237 countries spanning all three OECD Territorial Levels.
We cross-tabulate two ratios that any governance system needs to understand: how crowded is a place (density) and how economically productive per person (per-capita output). These are the building blocks of the Who-What, Where, When database framework I've been developing. Elegant variations in data sources and methods matter. However, it is hard to argue they explain the ‘counter-intuitive’ results we obtained at this basic level. Any more than  30 years of progress on better measures for K and L made Solow’s residual trivial.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methodological heart of the presentation. It explains why our results are NOT the same thing as a conventional cross-country or cross-region comparison.
CONVENTIONAL APPROACH: Pick one administrative level — say TL2 — and compare all 2,500 regions as if they were equivalent. But a German Kreis has 80,000 people while a Nigerian State has 10 million. Treating them as equal units means Germany gets 401 'votes' in any analysis while Nigeria gets 37. Rich countries with fine-grained statistical systems dominate the sample.
OUR APPROACH: We use the finest grain available per country, then assign quintiles by population weight. Each quintile contains approximately 20% of world population — not 20% of units. A unit with 10 million people carries 125 times the weight of one with 80,000.
The foot of this slide proves the quintiles are about equal in population. density quintiles range from 19% to 20% of world population. Per-capita economy quintiles range </a:t>
            </a:r>
            <a:r>
              <a:rPr lang="en-US"/>
              <a:t>from 19% to 21— </a:t>
            </a:r>
            <a:r>
              <a:rPr lang="en-US" dirty="0"/>
              <a:t>slightly wider because many leaves near the Q1/Q2 boundary share very similar per-capita values and can't be split exactly.
KEY POINT: This means the lumpiness in unit counts we see on the next slides is a FINDING about the world's data infrastructure, not an artifact of our method. The population balance is locked in; what varies is how many administrative containers each country uses to hold its share of humanity.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density and wealth were independent, every cell would show 4.0%. The departures tell a story.
THE ANTI-DIAGONAL: The eye is drawn to the top-left (Sparse + Poor, 5.2%) and bottom-center (Dense + Lower-Middle, 6.0%). Dense places tend to be lower-middle income, not rich. Spearman correlation is negative: rho = −0.23.
THE TWO LOW CELLS: Dense + Lower-Middle (Q5×Q1) shows only 1.6% — sparse places in middle-income countries like transitional zones of Brazil, Turkey, Mexico. The lowest cell at 0.9% is Dense + Upper-Middle (Q5×Q4): mainly fast-growing Chinese cities that sit in a narrow income band between Q3 and Q5. Density either traps (South Asian poverty) or amplifies (OECD metro wealth). The upper-middle density combination barely exists.
WHAT THIS MEANS: At the subnational level, crowding and prosperity are mildly opposed. The world's densest fifth is disproportionately lower-middle income, not rich. This contradicts the casual intuition that dense = prosperous (Manhattan, London) — those places exist but are statistically unusual.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flip from 'how many people' to 'how many measurement containers.' Same grid, profoundly different picture.
TOP-RIGHT CORNER (Sparse + Rich): 2,350 units averaging just 127,000 people each. These are the well-measured places — Scandinavian municipalities, Swiss cantons, rural US counties, Australian statistical areas. Rich countries subdivide their sparse territories very finely.
BOTTOM-LEFT CORNER (Dense + Poor): 62 units averaging 3.9 million people each. These are states or provinces of India, Bangladesh, Pakistan — enormous populations compressed into a handful of coarse administrative blocks.
THE 38x RATIO: The Sparse+Rich cell has 38 times more measurement units than Dense+Poor, despite covering comparable shares of world population (3.8% vs 3.0%). This is not about population — it's about data infrastructure. The places that most need granular governance data are measured most coarsely.
ANTICIPATE THE QUESTION: 'Isn't this just because those countries have bigger provinces?' Yes — and that IS the point. Administrative structure is itself a product of governance capacity. The measurement asymmetry is the inequality, not just a reflection of it.
NOTE: The average population per unit (shown in each cell) is the inverse of granularity. Smaller averages mean finer measurement.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(IND): 555 leaves, 1184.6B population, Spearman rho = 0.020.
Density is uncorrelated with income (ρ ≈ 0). Dense and sparse places are equally poor by global standards. India alone fills the Dense+Poor quadrant that the global analysis flagged as under-measured.
Left panel: population in millions and share of country total. Right panel: number of administrative units (leaves). Empty cells (dashes) mean no india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(CHN): 359 leaves, 1414B population, Spearman rho = 0.339.
China shows a significant positive correlation (ρ = 0.34): denser prefectures tend to be richer. This is the opposite of the global pattern — consistent with a manufacturing-led urbanization model that has pulled coastal areas ahead.
Left panel: population in millions and share of country total. Right panel: number of administrative units (leaves). Empty cells (dashes) mean no china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United States (USA): 3112 leaves, 331.4B population, Spearman rho = 0.031.
Income barely varies on the global scale (ρ ≈ 0). The measurement asymmetry is vivid: 2,057 counties describe 44M sparse Americans; 157 counties cover 144M dense ones. All are wealthy by world standards.
Left panel: population in millions and share of country total. Right panel: number of administrative units (leaves). Empty cells (dashes) mean no united states leaf falls in that global quintile combination.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distills the three main findings. Each is a conversation-starter.
STORY 1 — THE ANTI-DIAGONAL: Emphasize that this is a subnational finding. At the national level, dense countries like Singapore and Hong Kong are wealthy, which drives the popular intuition. But within countries, the pattern reverses: the densest subnational units tend to be lower-middle income. This matters because governance happens subnationally.
STORY 2 — THE MEASUREMENT ASYMMETRY: This is the slide's strongest provocation. If someone asks 'so what?' — the answer is that every index, every ranking, every SDG indicator built from subnational data inherits this asymmetry. Averages of 2,350 fine-grained units are not comparable to averages of 62 coarse ones. The statistical infrastructure encodes the very inequality it purports to measure.
STORY 3 — THE NEARLY EMPTY CELL: This is the most surprising finding. Dense + Upper-Middle barely exists. It suggests a bimodal relationship: high density either keeps you poor (overcrowded agricultural regions of South Asia) or makes you rich (knowledge-economy metros). The middle ground is nearly uninhabited — places that are both dense and middle-income tend to tip one way or the other.
IF PRESSED ON METHODOLOGY: Acknowledge this is a proof-of-concept. Gap-filled data (where we impute parent-node density or per-capita values to children) weakens some cells. But the pedigree tracking in the workbook lets us assess exactly where the weak data sits.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Frame it around the smart power system concept.
THE CORE ARGUMENT: If governance should be proportional to population — and most democratic theory says it should — then the data infrastructure needs to be proportional too. Right now it is the opposite: 2,350 units track 300 million Sparse+Rich people, while 62 units track 241 million Dense+Poor people.
CONNECT TO THE BIGGER VISION: This is why a 'Global Leaf' gazetteer matters. Before you can build quintile-based governance tools — targeting resources, measuring outcomes, hearing from communities — you need commensurable units of observation. Population-weighted quintiles are a first step toward that commensurability.
WHAT COMES NEXT: Three immediate follow-ups.
1) Close the 629 area gaps with better source data (transliteration crosswalks, GDL matching).
2) Drill down further — 58 TL2 regions with over 10 million people each need TL3 decomposition.
3) Test whether the negative density-wealth correlation holds at finer grain, or whether it's an artifact of the current mixed-level structure.
CLOSING THOUGHT: The Hollerith Pivot insight — we are at a moment analogous to the 1890 census, when machine tabulation first made it possible to cross-tabulate population characteristics at scale. AI tools now let us do the same thing globally and subnationally, but only if we first fix the measurement containers.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2F5496">
              <a:alpha val="40000"/>
            </a:srgbClr>
          </a:solidFill>
          <a:ln/>
        </p:spPr>
        <p:txBody>
          <a:bodyPr/>
          <a:lstStyle/>
          <a:p>
            <a:endParaRPr lang="en-US"/>
          </a:p>
        </p:txBody>
      </p:sp>
      <p:sp>
        <p:nvSpPr>
          <p:cNvPr id="3" name="Shape 1"/>
          <p:cNvSpPr/>
          <p:nvPr/>
        </p:nvSpPr>
        <p:spPr>
          <a:xfrm>
            <a:off x="6858000" y="2286000"/>
            <a:ext cx="3657600" cy="3657600"/>
          </a:xfrm>
          <a:prstGeom prst="ellipse">
            <a:avLst/>
          </a:prstGeom>
          <a:solidFill>
            <a:srgbClr val="3A6FB0">
              <a:alpha val="30000"/>
            </a:srgbClr>
          </a:solidFill>
          <a:ln/>
        </p:spPr>
        <p:txBody>
          <a:bodyPr/>
          <a:lstStyle/>
          <a:p>
            <a:endParaRPr lang="en-US"/>
          </a:p>
        </p:txBody>
      </p:sp>
      <p:sp>
        <p:nvSpPr>
          <p:cNvPr id="4" name="Text 2"/>
          <p:cNvSpPr/>
          <p:nvPr/>
        </p:nvSpPr>
        <p:spPr>
          <a:xfrm>
            <a:off x="731519" y="914400"/>
            <a:ext cx="7622177" cy="109728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Global &amp; National Leaves</a:t>
            </a:r>
            <a:endParaRPr lang="en-US" sz="4400" dirty="0"/>
          </a:p>
        </p:txBody>
      </p:sp>
      <p:sp>
        <p:nvSpPr>
          <p:cNvPr id="5" name="Text 3"/>
          <p:cNvSpPr/>
          <p:nvPr/>
        </p:nvSpPr>
        <p:spPr>
          <a:xfrm>
            <a:off x="731520" y="1920240"/>
            <a:ext cx="6400800" cy="640080"/>
          </a:xfrm>
          <a:prstGeom prst="rect">
            <a:avLst/>
          </a:prstGeom>
          <a:noFill/>
          <a:ln/>
        </p:spPr>
        <p:txBody>
          <a:bodyPr wrap="square" lIns="0" tIns="0" rIns="0" bIns="0" rtlCol="0" anchor="ctr"/>
          <a:lstStyle/>
          <a:p>
            <a:pPr marL="0" indent="0">
              <a:buNone/>
            </a:pPr>
            <a:r>
              <a:rPr lang="en-US" sz="2400" i="1" dirty="0">
                <a:solidFill>
                  <a:srgbClr val="D6EAF8"/>
                </a:solidFill>
                <a:latin typeface="Georgia" pitchFamily="34" charset="0"/>
                <a:ea typeface="Georgia" pitchFamily="34" charset="-122"/>
                <a:cs typeface="Georgia" pitchFamily="34" charset="-120"/>
              </a:rPr>
              <a:t>Where Does Humanity Live?</a:t>
            </a:r>
            <a:endParaRPr lang="en-US" sz="2400" dirty="0"/>
          </a:p>
        </p:txBody>
      </p:sp>
      <p:sp>
        <p:nvSpPr>
          <p:cNvPr id="6" name="Text 4"/>
          <p:cNvSpPr/>
          <p:nvPr/>
        </p:nvSpPr>
        <p:spPr>
          <a:xfrm>
            <a:off x="731520" y="2834640"/>
            <a:ext cx="6400800" cy="457200"/>
          </a:xfrm>
          <a:prstGeom prst="rect">
            <a:avLst/>
          </a:prstGeom>
          <a:noFill/>
          <a:ln/>
        </p:spPr>
        <p:txBody>
          <a:bodyPr wrap="square" lIns="0" tIns="0" rIns="0" bIns="0" rtlCol="0" anchor="ctr"/>
          <a:lstStyle/>
          <a:p>
            <a:pPr marL="0" indent="0">
              <a:buNone/>
            </a:pPr>
            <a:r>
              <a:rPr lang="en-US" sz="1400" dirty="0">
                <a:solidFill>
                  <a:srgbClr val="A0A0A0"/>
                </a:solidFill>
                <a:latin typeface="Arial" pitchFamily="34" charset="0"/>
                <a:ea typeface="Arial" pitchFamily="34" charset="-122"/>
                <a:cs typeface="Arial" pitchFamily="34" charset="-120"/>
              </a:rPr>
              <a:t>Density × Wealth Cross-Tabulation of 7,101 Administrative Units</a:t>
            </a:r>
            <a:endParaRPr lang="en-US" sz="1400" dirty="0"/>
          </a:p>
        </p:txBody>
      </p:sp>
      <p:sp>
        <p:nvSpPr>
          <p:cNvPr id="7" name="Shape 5"/>
          <p:cNvSpPr/>
          <p:nvPr/>
        </p:nvSpPr>
        <p:spPr>
          <a:xfrm>
            <a:off x="0" y="4480560"/>
            <a:ext cx="9144000" cy="662940"/>
          </a:xfrm>
          <a:prstGeom prst="rect">
            <a:avLst/>
          </a:prstGeom>
          <a:solidFill>
            <a:srgbClr val="2F5496"/>
          </a:solidFill>
          <a:ln/>
        </p:spPr>
        <p:txBody>
          <a:bodyPr/>
          <a:lstStyle/>
          <a:p>
            <a:endParaRPr lang="en-US"/>
          </a:p>
        </p:txBody>
      </p:sp>
      <p:sp>
        <p:nvSpPr>
          <p:cNvPr id="8" name="Text 6"/>
          <p:cNvSpPr/>
          <p:nvPr/>
        </p:nvSpPr>
        <p:spPr>
          <a:xfrm>
            <a:off x="731520" y="4526280"/>
            <a:ext cx="7772400" cy="548640"/>
          </a:xfrm>
          <a:prstGeom prst="rect">
            <a:avLst/>
          </a:prstGeom>
          <a:noFill/>
          <a:ln/>
        </p:spPr>
        <p:txBody>
          <a:bodyPr wrap="square" lIns="0" tIns="0" rIns="0" bIns="0" rtlCol="0" anchor="ctr"/>
          <a:lstStyle/>
          <a:p>
            <a:pPr marL="0" indent="0">
              <a:buNone/>
            </a:pPr>
            <a:r>
              <a:rPr lang="en-US" sz="1100" dirty="0">
                <a:solidFill>
                  <a:srgbClr val="A0A0A0"/>
                </a:solidFill>
                <a:latin typeface="Arial" pitchFamily="34" charset="0"/>
                <a:ea typeface="Arial" pitchFamily="34" charset="-122"/>
                <a:cs typeface="Arial" pitchFamily="34" charset="-120"/>
              </a:rPr>
              <a:t>John O'Connor &amp; Claude  •  March 2026  •  OconEco Global Leaf Work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indent="0">
              <a:buNone/>
            </a:pPr>
            <a:r>
              <a:rPr lang="en-US" sz="3200" b="1" dirty="0">
                <a:solidFill>
                  <a:srgbClr val="1B2A4A"/>
                </a:solidFill>
                <a:latin typeface="Georgia" pitchFamily="34" charset="0"/>
                <a:ea typeface="Georgia" pitchFamily="34" charset="-122"/>
                <a:cs typeface="Georgia" pitchFamily="34" charset="-120"/>
              </a:rPr>
              <a:t>The Proof-of-Concept</a:t>
            </a:r>
            <a:endParaRPr lang="en-US" sz="3200" dirty="0"/>
          </a:p>
        </p:txBody>
      </p:sp>
      <p:sp>
        <p:nvSpPr>
          <p:cNvPr id="3" name="Shape 1"/>
          <p:cNvSpPr/>
          <p:nvPr/>
        </p:nvSpPr>
        <p:spPr>
          <a:xfrm>
            <a:off x="54864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7,101</a:t>
            </a:r>
            <a:endParaRPr lang="en-US" sz="4000" dirty="0"/>
          </a:p>
        </p:txBody>
      </p:sp>
      <p:sp>
        <p:nvSpPr>
          <p:cNvPr id="5" name="Text 3"/>
          <p:cNvSpPr/>
          <p:nvPr/>
        </p:nvSpPr>
        <p:spPr>
          <a:xfrm>
            <a:off x="54864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Administrative</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Leaves</a:t>
            </a:r>
            <a:endParaRPr lang="en-US" sz="1400" dirty="0"/>
          </a:p>
        </p:txBody>
      </p:sp>
      <p:sp>
        <p:nvSpPr>
          <p:cNvPr id="6" name="Text 4"/>
          <p:cNvSpPr/>
          <p:nvPr/>
        </p:nvSpPr>
        <p:spPr>
          <a:xfrm>
            <a:off x="54864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Finest grain per country</a:t>
            </a:r>
            <a:endParaRPr lang="en-US" sz="1100" dirty="0"/>
          </a:p>
        </p:txBody>
      </p:sp>
      <p:sp>
        <p:nvSpPr>
          <p:cNvPr id="7" name="Shape 5"/>
          <p:cNvSpPr/>
          <p:nvPr/>
        </p:nvSpPr>
        <p:spPr>
          <a:xfrm>
            <a:off x="338328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38328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7.9B</a:t>
            </a:r>
            <a:endParaRPr lang="en-US" sz="4000" dirty="0"/>
          </a:p>
        </p:txBody>
      </p:sp>
      <p:sp>
        <p:nvSpPr>
          <p:cNvPr id="9" name="Text 7"/>
          <p:cNvSpPr/>
          <p:nvPr/>
        </p:nvSpPr>
        <p:spPr>
          <a:xfrm>
            <a:off x="338328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People</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Covered</a:t>
            </a:r>
            <a:endParaRPr lang="en-US" sz="1400" dirty="0"/>
          </a:p>
        </p:txBody>
      </p:sp>
      <p:sp>
        <p:nvSpPr>
          <p:cNvPr id="10" name="Text 8"/>
          <p:cNvSpPr/>
          <p:nvPr/>
        </p:nvSpPr>
        <p:spPr>
          <a:xfrm>
            <a:off x="338328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97.6% of world population</a:t>
            </a:r>
            <a:endParaRPr lang="en-US" sz="1100" dirty="0"/>
          </a:p>
        </p:txBody>
      </p:sp>
      <p:sp>
        <p:nvSpPr>
          <p:cNvPr id="11" name="Shape 9"/>
          <p:cNvSpPr/>
          <p:nvPr/>
        </p:nvSpPr>
        <p:spPr>
          <a:xfrm>
            <a:off x="621792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280160"/>
            <a:ext cx="2560320" cy="731520"/>
          </a:xfrm>
          <a:prstGeom prst="rect">
            <a:avLst/>
          </a:prstGeom>
          <a:noFill/>
          <a:ln/>
        </p:spPr>
        <p:txBody>
          <a:bodyPr wrap="square" lIns="0" tIns="0" rIns="0" bIns="0" rtlCol="0" anchor="ctr"/>
          <a:lstStyle/>
          <a:p>
            <a:pPr marL="0" indent="0" algn="ctr">
              <a:buNone/>
            </a:pPr>
            <a:r>
              <a:rPr lang="en-US" sz="4000" b="1" dirty="0">
                <a:solidFill>
                  <a:srgbClr val="2F5496"/>
                </a:solidFill>
                <a:latin typeface="Georgia" pitchFamily="34" charset="0"/>
                <a:ea typeface="Georgia" pitchFamily="34" charset="-122"/>
                <a:cs typeface="Georgia" pitchFamily="34" charset="-120"/>
              </a:rPr>
              <a:t>237</a:t>
            </a:r>
            <a:endParaRPr lang="en-US" sz="4000" dirty="0"/>
          </a:p>
        </p:txBody>
      </p:sp>
      <p:sp>
        <p:nvSpPr>
          <p:cNvPr id="13" name="Text 11"/>
          <p:cNvSpPr/>
          <p:nvPr/>
        </p:nvSpPr>
        <p:spPr>
          <a:xfrm>
            <a:off x="6217920" y="1965960"/>
            <a:ext cx="2560320" cy="548640"/>
          </a:xfrm>
          <a:prstGeom prst="rect">
            <a:avLst/>
          </a:prstGeom>
          <a:noFill/>
          <a:ln/>
        </p:spPr>
        <p:txBody>
          <a:bodyPr wrap="square" lIns="0" tIns="0" rIns="0" bIns="0" rtlCol="0" anchor="ctr"/>
          <a:lstStyle/>
          <a:p>
            <a:pPr marL="0" indent="0" algn="ctr">
              <a:buNone/>
            </a:pPr>
            <a:r>
              <a:rPr lang="en-US" sz="1400" b="1" dirty="0">
                <a:solidFill>
                  <a:srgbClr val="2C3E50"/>
                </a:solidFill>
                <a:latin typeface="Arial" pitchFamily="34" charset="0"/>
                <a:ea typeface="Arial" pitchFamily="34" charset="-122"/>
                <a:cs typeface="Arial" pitchFamily="34" charset="-120"/>
              </a:rPr>
              <a:t>Countries</a:t>
            </a:r>
            <a:endParaRPr lang="en-US" sz="1400" dirty="0"/>
          </a:p>
          <a:p>
            <a:pPr marL="0" indent="0" algn="ctr">
              <a:buNone/>
            </a:pPr>
            <a:r>
              <a:rPr lang="en-US" sz="1400" b="1" dirty="0">
                <a:solidFill>
                  <a:srgbClr val="2C3E50"/>
                </a:solidFill>
                <a:latin typeface="Arial" pitchFamily="34" charset="0"/>
                <a:ea typeface="Arial" pitchFamily="34" charset="-122"/>
                <a:cs typeface="Arial" pitchFamily="34" charset="-120"/>
              </a:rPr>
              <a:t>Represented</a:t>
            </a:r>
            <a:endParaRPr lang="en-US" sz="1400" dirty="0"/>
          </a:p>
        </p:txBody>
      </p:sp>
      <p:sp>
        <p:nvSpPr>
          <p:cNvPr id="14" name="Text 12"/>
          <p:cNvSpPr/>
          <p:nvPr/>
        </p:nvSpPr>
        <p:spPr>
          <a:xfrm>
            <a:off x="6217920" y="2468880"/>
            <a:ext cx="2560320" cy="411480"/>
          </a:xfrm>
          <a:prstGeom prst="rect">
            <a:avLst/>
          </a:prstGeom>
          <a:noFill/>
          <a:ln/>
        </p:spPr>
        <p:txBody>
          <a:bodyPr wrap="square" lIns="0" tIns="0" rIns="0" bIns="0" rtlCol="0" anchor="ctr"/>
          <a:lstStyle/>
          <a:p>
            <a:pPr marL="0" indent="0" algn="ctr">
              <a:buNone/>
            </a:pPr>
            <a:r>
              <a:rPr lang="en-US" sz="1100" dirty="0">
                <a:solidFill>
                  <a:srgbClr val="5D6D7E"/>
                </a:solidFill>
                <a:latin typeface="Arial" pitchFamily="34" charset="0"/>
                <a:ea typeface="Arial" pitchFamily="34" charset="-122"/>
                <a:cs typeface="Arial" pitchFamily="34" charset="-120"/>
              </a:rPr>
              <a:t>TL1 through TL3</a:t>
            </a:r>
            <a:endParaRPr lang="en-US" sz="1100" dirty="0"/>
          </a:p>
        </p:txBody>
      </p:sp>
      <p:sp>
        <p:nvSpPr>
          <p:cNvPr id="15" name="Text 13"/>
          <p:cNvSpPr/>
          <p:nvPr/>
        </p:nvSpPr>
        <p:spPr>
          <a:xfrm>
            <a:off x="548640" y="3291840"/>
            <a:ext cx="8229600" cy="457200"/>
          </a:xfrm>
          <a:prstGeom prst="rect">
            <a:avLst/>
          </a:prstGeom>
          <a:noFill/>
          <a:ln/>
        </p:spPr>
        <p:txBody>
          <a:bodyPr wrap="square" lIns="0" tIns="0" rIns="0" bIns="0" rtlCol="0" anchor="ctr"/>
          <a:lstStyle/>
          <a:p>
            <a:pPr marL="0" indent="0">
              <a:buNone/>
            </a:pPr>
            <a:r>
              <a:rPr lang="en-US" sz="1800" b="1" dirty="0">
                <a:solidFill>
                  <a:srgbClr val="1B2A4A"/>
                </a:solidFill>
                <a:latin typeface="Georgia" pitchFamily="34" charset="0"/>
                <a:ea typeface="Georgia" pitchFamily="34" charset="-122"/>
                <a:cs typeface="Georgia" pitchFamily="34" charset="-120"/>
              </a:rPr>
              <a:t>Two Ratios, Two Questions</a:t>
            </a:r>
            <a:endParaRPr lang="en-US" sz="1800" dirty="0"/>
          </a:p>
        </p:txBody>
      </p:sp>
      <p:sp>
        <p:nvSpPr>
          <p:cNvPr id="16" name="Shape 14"/>
          <p:cNvSpPr/>
          <p:nvPr/>
        </p:nvSpPr>
        <p:spPr>
          <a:xfrm>
            <a:off x="54864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548640" y="3794760"/>
            <a:ext cx="73152" cy="1005840"/>
          </a:xfrm>
          <a:prstGeom prst="rect">
            <a:avLst/>
          </a:prstGeom>
          <a:solidFill>
            <a:srgbClr val="2F5496"/>
          </a:solidFill>
          <a:ln/>
        </p:spPr>
        <p:txBody>
          <a:bodyPr/>
          <a:lstStyle/>
          <a:p>
            <a:endParaRPr lang="en-US"/>
          </a:p>
        </p:txBody>
      </p:sp>
      <p:sp>
        <p:nvSpPr>
          <p:cNvPr id="18" name="Text 16"/>
          <p:cNvSpPr/>
          <p:nvPr/>
        </p:nvSpPr>
        <p:spPr>
          <a:xfrm>
            <a:off x="777240" y="3840480"/>
            <a:ext cx="3474720" cy="914400"/>
          </a:xfrm>
          <a:prstGeom prst="rect">
            <a:avLst/>
          </a:prstGeom>
          <a:noFill/>
          <a:ln/>
        </p:spPr>
        <p:txBody>
          <a:bodyPr wrap="square" lIns="0" tIns="0" rIns="0" bIns="0" rtlCol="0" anchor="ctr"/>
          <a:lstStyle/>
          <a:p>
            <a:pPr marL="0" indent="0">
              <a:buNone/>
            </a:pPr>
            <a:r>
              <a:rPr lang="en-US" sz="1400" b="1" dirty="0">
                <a:solidFill>
                  <a:srgbClr val="2C3E50"/>
                </a:solidFill>
                <a:latin typeface="Arial" pitchFamily="34" charset="0"/>
                <a:ea typeface="Arial" pitchFamily="34" charset="-122"/>
                <a:cs typeface="Arial" pitchFamily="34" charset="-120"/>
              </a:rPr>
              <a:t>Population Density</a:t>
            </a:r>
            <a:endParaRPr lang="en-US" sz="1400" dirty="0"/>
          </a:p>
          <a:p>
            <a:pPr marL="0" indent="0">
              <a:buNone/>
            </a:pPr>
            <a:r>
              <a:rPr lang="en-US" sz="1200" dirty="0">
                <a:solidFill>
                  <a:srgbClr val="5D6D7E"/>
                </a:solidFill>
                <a:latin typeface="Arial" pitchFamily="34" charset="0"/>
                <a:ea typeface="Arial" pitchFamily="34" charset="-122"/>
                <a:cs typeface="Arial" pitchFamily="34" charset="-120"/>
              </a:rPr>
              <a:t>People per km² — how crowded is this place?</a:t>
            </a:r>
            <a:endParaRPr lang="en-US" sz="1400" dirty="0"/>
          </a:p>
        </p:txBody>
      </p:sp>
      <p:sp>
        <p:nvSpPr>
          <p:cNvPr id="19" name="Shape 17"/>
          <p:cNvSpPr/>
          <p:nvPr/>
        </p:nvSpPr>
        <p:spPr>
          <a:xfrm>
            <a:off x="475488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0" name="Shape 18"/>
          <p:cNvSpPr/>
          <p:nvPr/>
        </p:nvSpPr>
        <p:spPr>
          <a:xfrm>
            <a:off x="4754880" y="3794760"/>
            <a:ext cx="73152" cy="1005840"/>
          </a:xfrm>
          <a:prstGeom prst="rect">
            <a:avLst/>
          </a:prstGeom>
          <a:solidFill>
            <a:srgbClr val="E67E22"/>
          </a:solidFill>
          <a:ln/>
        </p:spPr>
        <p:txBody>
          <a:bodyPr/>
          <a:lstStyle/>
          <a:p>
            <a:endParaRPr lang="en-US"/>
          </a:p>
        </p:txBody>
      </p:sp>
      <p:sp>
        <p:nvSpPr>
          <p:cNvPr id="21" name="Text 19"/>
          <p:cNvSpPr/>
          <p:nvPr/>
        </p:nvSpPr>
        <p:spPr>
          <a:xfrm>
            <a:off x="4983480" y="3840480"/>
            <a:ext cx="3474720" cy="914400"/>
          </a:xfrm>
          <a:prstGeom prst="rect">
            <a:avLst/>
          </a:prstGeom>
          <a:noFill/>
          <a:ln/>
        </p:spPr>
        <p:txBody>
          <a:bodyPr wrap="square" lIns="0" tIns="0" rIns="0" bIns="0" rtlCol="0" anchor="ctr"/>
          <a:lstStyle/>
          <a:p>
            <a:pPr marL="0" indent="0">
              <a:buNone/>
            </a:pPr>
            <a:r>
              <a:rPr lang="en-US" sz="1400" b="1" dirty="0">
                <a:solidFill>
                  <a:srgbClr val="2C3E50"/>
                </a:solidFill>
                <a:latin typeface="Arial" pitchFamily="34" charset="0"/>
                <a:ea typeface="Arial" pitchFamily="34" charset="-122"/>
                <a:cs typeface="Arial" pitchFamily="34" charset="-120"/>
              </a:rPr>
              <a:t>Per Capita Economy</a:t>
            </a:r>
            <a:endParaRPr lang="en-US" sz="1400" dirty="0"/>
          </a:p>
          <a:p>
            <a:pPr marL="0" indent="0">
              <a:buNone/>
            </a:pPr>
            <a:r>
              <a:rPr lang="en-US" sz="1200" dirty="0">
                <a:solidFill>
                  <a:srgbClr val="5D6D7E"/>
                </a:solidFill>
                <a:latin typeface="Arial" pitchFamily="34" charset="0"/>
                <a:ea typeface="Arial" pitchFamily="34" charset="-122"/>
                <a:cs typeface="Arial" pitchFamily="34" charset="-120"/>
              </a:rPr>
              <a:t>Economic output per person — how rich is this place?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50292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Not Your Usual Comparison</a:t>
            </a:r>
            <a:endParaRPr lang="en-US" sz="2800" dirty="0"/>
          </a:p>
        </p:txBody>
      </p:sp>
      <p:sp>
        <p:nvSpPr>
          <p:cNvPr id="3" name="Text 1"/>
          <p:cNvSpPr/>
          <p:nvPr/>
        </p:nvSpPr>
        <p:spPr>
          <a:xfrm>
            <a:off x="548640" y="566928"/>
            <a:ext cx="8229600" cy="274320"/>
          </a:xfrm>
          <a:prstGeom prst="rect">
            <a:avLst/>
          </a:prstGeom>
          <a:noFill/>
          <a:ln/>
        </p:spPr>
        <p:txBody>
          <a:bodyPr wrap="square" lIns="0" tIns="0" rIns="0" bIns="0" rtlCol="0" anchor="ctr"/>
          <a:lstStyle/>
          <a:p>
            <a:pPr marL="0" indent="0">
              <a:buNone/>
            </a:pPr>
            <a:r>
              <a:rPr lang="en-US" sz="1200" i="1" dirty="0">
                <a:solidFill>
                  <a:srgbClr val="5D6D7E"/>
                </a:solidFill>
                <a:latin typeface="Arial" pitchFamily="34" charset="0"/>
                <a:ea typeface="Arial" pitchFamily="34" charset="-122"/>
                <a:cs typeface="Arial" pitchFamily="34" charset="-120"/>
              </a:rPr>
              <a:t>How population-weighted quintiles make mixed administrative levels commensurable</a:t>
            </a:r>
            <a:endParaRPr lang="en-US" sz="1200" dirty="0"/>
          </a:p>
        </p:txBody>
      </p:sp>
      <p:sp>
        <p:nvSpPr>
          <p:cNvPr id="4" name="Shape 2"/>
          <p:cNvSpPr/>
          <p:nvPr/>
        </p:nvSpPr>
        <p:spPr>
          <a:xfrm>
            <a:off x="365760" y="1051560"/>
            <a:ext cx="4023360" cy="2943873"/>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365760" y="1051560"/>
            <a:ext cx="4023360" cy="411480"/>
          </a:xfrm>
          <a:prstGeom prst="rect">
            <a:avLst/>
          </a:prstGeom>
          <a:solidFill>
            <a:srgbClr val="2F5496"/>
          </a:solidFill>
          <a:ln/>
        </p:spPr>
        <p:txBody>
          <a:bodyPr/>
          <a:lstStyle/>
          <a:p>
            <a:endParaRPr lang="en-US"/>
          </a:p>
        </p:txBody>
      </p:sp>
      <p:sp>
        <p:nvSpPr>
          <p:cNvPr id="6" name="Text 4"/>
          <p:cNvSpPr/>
          <p:nvPr/>
        </p:nvSpPr>
        <p:spPr>
          <a:xfrm>
            <a:off x="457200" y="1051560"/>
            <a:ext cx="3840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Conventional Approach</a:t>
            </a:r>
            <a:endParaRPr lang="en-US" sz="1400" dirty="0"/>
          </a:p>
        </p:txBody>
      </p:sp>
      <p:sp>
        <p:nvSpPr>
          <p:cNvPr id="7" name="Text 5"/>
          <p:cNvSpPr/>
          <p:nvPr/>
        </p:nvSpPr>
        <p:spPr>
          <a:xfrm>
            <a:off x="548640" y="1600200"/>
            <a:ext cx="3657600" cy="2743200"/>
          </a:xfrm>
          <a:prstGeom prst="rect">
            <a:avLst/>
          </a:prstGeom>
          <a:noFill/>
          <a:ln/>
        </p:spPr>
        <p:txBody>
          <a:bodyPr wrap="square" lIns="0" tIns="0" rIns="0" bIns="0" rtlCol="0" anchor="t"/>
          <a:lstStyle/>
          <a:p>
            <a:pPr marL="0" indent="0">
              <a:buNone/>
            </a:pPr>
            <a:r>
              <a:rPr lang="en-US" sz="1200" b="1" dirty="0">
                <a:solidFill>
                  <a:srgbClr val="2C3E50"/>
                </a:solidFill>
                <a:latin typeface="Arial" pitchFamily="34" charset="0"/>
                <a:ea typeface="Arial" pitchFamily="34" charset="-122"/>
                <a:cs typeface="Arial" pitchFamily="34" charset="-120"/>
              </a:rPr>
              <a:t>Compare units at the same administrative level</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dirty="0">
                <a:solidFill>
                  <a:srgbClr val="2C3E50"/>
                </a:solidFill>
                <a:latin typeface="Arial" pitchFamily="34" charset="0"/>
                <a:ea typeface="Arial" pitchFamily="34" charset="-122"/>
                <a:cs typeface="Arial" pitchFamily="34" charset="-120"/>
              </a:rPr>
              <a:t>All TL1 countries, TL2 regions, or all TL3 districts — assumes units at the same level are commensurable.</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Problem: </a:t>
            </a:r>
            <a:r>
              <a:rPr lang="en-US" sz="1100" dirty="0">
                <a:solidFill>
                  <a:srgbClr val="2C3E50"/>
                </a:solidFill>
                <a:latin typeface="Arial" pitchFamily="34" charset="0"/>
                <a:ea typeface="Arial" pitchFamily="34" charset="-122"/>
                <a:cs typeface="Arial" pitchFamily="34" charset="-120"/>
              </a:rPr>
              <a:t>A German Kreis (80K people) and a Nigerian State (10M people) are both 'TL2' — but they are profoundly different measurement containers. Treating them as equivalent units distorts every ratio and ranking.</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Result: </a:t>
            </a:r>
            <a:r>
              <a:rPr lang="en-US" sz="1100" dirty="0">
                <a:solidFill>
                  <a:srgbClr val="2C3E50"/>
                </a:solidFill>
                <a:latin typeface="Arial" pitchFamily="34" charset="0"/>
                <a:ea typeface="Arial" pitchFamily="34" charset="-122"/>
                <a:cs typeface="Arial" pitchFamily="34" charset="-120"/>
              </a:rPr>
              <a:t>Rich countries with fine-grained data dominate the unit count; poor countries with coarse data are compressed into a few giant blocks.</a:t>
            </a:r>
            <a:endParaRPr lang="en-US" sz="1200" dirty="0"/>
          </a:p>
        </p:txBody>
      </p:sp>
      <p:sp>
        <p:nvSpPr>
          <p:cNvPr id="8" name="Shape 6"/>
          <p:cNvSpPr/>
          <p:nvPr/>
        </p:nvSpPr>
        <p:spPr>
          <a:xfrm>
            <a:off x="4754880" y="1051560"/>
            <a:ext cx="4023360" cy="2943873"/>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54880" y="1051560"/>
            <a:ext cx="4023360" cy="411480"/>
          </a:xfrm>
          <a:prstGeom prst="rect">
            <a:avLst/>
          </a:prstGeom>
          <a:solidFill>
            <a:srgbClr val="E67E22"/>
          </a:solidFill>
          <a:ln/>
        </p:spPr>
        <p:txBody>
          <a:bodyPr/>
          <a:lstStyle/>
          <a:p>
            <a:endParaRPr lang="en-US"/>
          </a:p>
        </p:txBody>
      </p:sp>
      <p:sp>
        <p:nvSpPr>
          <p:cNvPr id="10" name="Text 8"/>
          <p:cNvSpPr/>
          <p:nvPr/>
        </p:nvSpPr>
        <p:spPr>
          <a:xfrm>
            <a:off x="4846320" y="1051560"/>
            <a:ext cx="3840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This Analysis</a:t>
            </a:r>
            <a:endParaRPr lang="en-US" sz="1400" dirty="0"/>
          </a:p>
        </p:txBody>
      </p:sp>
      <p:sp>
        <p:nvSpPr>
          <p:cNvPr id="11" name="Text 9"/>
          <p:cNvSpPr/>
          <p:nvPr/>
        </p:nvSpPr>
        <p:spPr>
          <a:xfrm>
            <a:off x="4937760" y="1600200"/>
            <a:ext cx="3657600" cy="2743200"/>
          </a:xfrm>
          <a:prstGeom prst="rect">
            <a:avLst/>
          </a:prstGeom>
          <a:noFill/>
          <a:ln/>
        </p:spPr>
        <p:txBody>
          <a:bodyPr wrap="square" lIns="0" tIns="0" rIns="0" bIns="0" rtlCol="0" anchor="t"/>
          <a:lstStyle/>
          <a:p>
            <a:pPr marL="0" indent="0">
              <a:buNone/>
            </a:pPr>
            <a:r>
              <a:rPr lang="en-US" sz="1200" b="1" dirty="0">
                <a:solidFill>
                  <a:srgbClr val="2C3E50"/>
                </a:solidFill>
                <a:latin typeface="Arial" pitchFamily="34" charset="0"/>
                <a:ea typeface="Arial" pitchFamily="34" charset="-122"/>
                <a:cs typeface="Arial" pitchFamily="34" charset="-120"/>
              </a:rPr>
              <a:t>Weight by people, not by unit</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dirty="0">
                <a:solidFill>
                  <a:srgbClr val="2C3E50"/>
                </a:solidFill>
                <a:latin typeface="Arial" pitchFamily="34" charset="0"/>
                <a:ea typeface="Arial" pitchFamily="34" charset="-122"/>
                <a:cs typeface="Arial" pitchFamily="34" charset="-120"/>
              </a:rPr>
              <a:t>Take the finest grain available per country (TL3 where it exists, TL2 or TL1 elsewhere). Assign quintiles so each Q contains ~20% of world population.</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Effect: </a:t>
            </a:r>
            <a:r>
              <a:rPr lang="en-US" sz="1100" dirty="0">
                <a:solidFill>
                  <a:srgbClr val="2C3E50"/>
                </a:solidFill>
                <a:latin typeface="Arial" pitchFamily="34" charset="0"/>
                <a:ea typeface="Arial" pitchFamily="34" charset="-122"/>
                <a:cs typeface="Arial" pitchFamily="34" charset="-120"/>
              </a:rPr>
              <a:t>A unit with 10M people carries 125× more weight than one with 80K. The quintile boundary is set by where people live, not by how many boxes a country draws on its map.</a:t>
            </a:r>
            <a:endParaRPr lang="en-US" sz="1200" dirty="0"/>
          </a:p>
          <a:p>
            <a:pPr marL="0" indent="0">
              <a:buNone/>
            </a:pPr>
            <a:r>
              <a:rPr lang="en-US" sz="600" dirty="0">
                <a:solidFill>
                  <a:srgbClr val="2C3E50"/>
                </a:solidFill>
                <a:latin typeface="Arial" pitchFamily="34" charset="0"/>
                <a:ea typeface="Arial" pitchFamily="34" charset="-122"/>
                <a:cs typeface="Arial" pitchFamily="34" charset="-120"/>
              </a:rPr>
              <a:t>
</a:t>
            </a:r>
            <a:endParaRPr lang="en-US" sz="1200" dirty="0"/>
          </a:p>
          <a:p>
            <a:pPr marL="0" indent="0">
              <a:buNone/>
            </a:pPr>
            <a:r>
              <a:rPr lang="en-US" sz="1100" b="1" dirty="0">
                <a:solidFill>
                  <a:srgbClr val="2C3E50"/>
                </a:solidFill>
                <a:latin typeface="Arial" pitchFamily="34" charset="0"/>
                <a:ea typeface="Arial" pitchFamily="34" charset="-122"/>
                <a:cs typeface="Arial" pitchFamily="34" charset="-120"/>
              </a:rPr>
              <a:t>Result: </a:t>
            </a:r>
            <a:r>
              <a:rPr lang="en-US" sz="1100" dirty="0">
                <a:solidFill>
                  <a:srgbClr val="2C3E50"/>
                </a:solidFill>
                <a:latin typeface="Arial" pitchFamily="34" charset="0"/>
                <a:ea typeface="Arial" pitchFamily="34" charset="-122"/>
                <a:cs typeface="Arial" pitchFamily="34" charset="-120"/>
              </a:rPr>
              <a:t>Lumpiness in unit counts becomes a finding, not an artifact. It reveals the measurement asymmetry.</a:t>
            </a:r>
            <a:endParaRPr lang="en-US" sz="1200" dirty="0"/>
          </a:p>
        </p:txBody>
      </p:sp>
      <p:sp>
        <p:nvSpPr>
          <p:cNvPr id="12" name="Shape 10"/>
          <p:cNvSpPr/>
          <p:nvPr/>
        </p:nvSpPr>
        <p:spPr>
          <a:xfrm>
            <a:off x="365760" y="4008946"/>
            <a:ext cx="8412480" cy="9144"/>
          </a:xfrm>
          <a:prstGeom prst="rect">
            <a:avLst/>
          </a:prstGeom>
          <a:solidFill>
            <a:srgbClr val="2F5496"/>
          </a:solidFill>
          <a:ln/>
        </p:spPr>
        <p:txBody>
          <a:bodyPr/>
          <a:lstStyle/>
          <a:p>
            <a:endParaRPr lang="en-US"/>
          </a:p>
        </p:txBody>
      </p:sp>
      <p:sp>
        <p:nvSpPr>
          <p:cNvPr id="13" name="Text 11"/>
          <p:cNvSpPr/>
          <p:nvPr/>
        </p:nvSpPr>
        <p:spPr>
          <a:xfrm>
            <a:off x="363553" y="4009149"/>
            <a:ext cx="3657600" cy="18288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Density quintiles (people/km²):</a:t>
            </a:r>
            <a:endParaRPr lang="en-US" sz="900" dirty="0"/>
          </a:p>
        </p:txBody>
      </p:sp>
      <p:sp>
        <p:nvSpPr>
          <p:cNvPr id="14" name="Text 12"/>
          <p:cNvSpPr/>
          <p:nvPr/>
        </p:nvSpPr>
        <p:spPr>
          <a:xfrm>
            <a:off x="274320" y="4144969"/>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Q1 Sparsest</a:t>
            </a:r>
            <a:endParaRPr lang="en-US" sz="750" dirty="0"/>
          </a:p>
        </p:txBody>
      </p:sp>
      <p:sp>
        <p:nvSpPr>
          <p:cNvPr id="15" name="Text 13"/>
          <p:cNvSpPr/>
          <p:nvPr/>
        </p:nvSpPr>
        <p:spPr>
          <a:xfrm>
            <a:off x="274320" y="4348073"/>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0–77 /km²</a:t>
            </a:r>
            <a:endParaRPr lang="en-US" sz="700" dirty="0"/>
          </a:p>
        </p:txBody>
      </p:sp>
      <p:sp>
        <p:nvSpPr>
          <p:cNvPr id="16" name="Text 14"/>
          <p:cNvSpPr/>
          <p:nvPr/>
        </p:nvSpPr>
        <p:spPr>
          <a:xfrm>
            <a:off x="271053" y="4510413"/>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19.97%</a:t>
            </a:r>
            <a:endParaRPr lang="en-US" sz="800" dirty="0"/>
          </a:p>
        </p:txBody>
      </p:sp>
      <p:sp>
        <p:nvSpPr>
          <p:cNvPr id="17" name="Text 15"/>
          <p:cNvSpPr/>
          <p:nvPr/>
        </p:nvSpPr>
        <p:spPr>
          <a:xfrm>
            <a:off x="1024128" y="4151703"/>
            <a:ext cx="749808"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Q2</a:t>
            </a:r>
            <a:endParaRPr lang="en-US" sz="750" dirty="0"/>
          </a:p>
        </p:txBody>
      </p:sp>
      <p:sp>
        <p:nvSpPr>
          <p:cNvPr id="18" name="Text 16"/>
          <p:cNvSpPr/>
          <p:nvPr/>
        </p:nvSpPr>
        <p:spPr>
          <a:xfrm>
            <a:off x="1032168" y="4348073"/>
            <a:ext cx="749808" cy="155448"/>
          </a:xfrm>
          <a:prstGeom prst="rect">
            <a:avLst/>
          </a:prstGeom>
          <a:solidFill>
            <a:srgbClr val="FFFFFF"/>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77–201 /km²</a:t>
            </a:r>
            <a:endParaRPr lang="en-US" sz="700" dirty="0"/>
          </a:p>
        </p:txBody>
      </p:sp>
      <p:sp>
        <p:nvSpPr>
          <p:cNvPr id="19" name="Text 17"/>
          <p:cNvSpPr/>
          <p:nvPr/>
        </p:nvSpPr>
        <p:spPr>
          <a:xfrm>
            <a:off x="967575" y="4490031"/>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20.03%</a:t>
            </a:r>
            <a:endParaRPr lang="en-US" sz="800" dirty="0"/>
          </a:p>
        </p:txBody>
      </p:sp>
      <p:sp>
        <p:nvSpPr>
          <p:cNvPr id="20" name="Text 18"/>
          <p:cNvSpPr/>
          <p:nvPr/>
        </p:nvSpPr>
        <p:spPr>
          <a:xfrm>
            <a:off x="1755648" y="4151624"/>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Q3</a:t>
            </a:r>
            <a:endParaRPr lang="en-US" sz="750" dirty="0"/>
          </a:p>
        </p:txBody>
      </p:sp>
      <p:sp>
        <p:nvSpPr>
          <p:cNvPr id="21" name="Text 19"/>
          <p:cNvSpPr/>
          <p:nvPr/>
        </p:nvSpPr>
        <p:spPr>
          <a:xfrm>
            <a:off x="1766188" y="4356824"/>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201–389 /km²</a:t>
            </a:r>
            <a:endParaRPr lang="en-US" sz="700" dirty="0"/>
          </a:p>
        </p:txBody>
      </p:sp>
      <p:sp>
        <p:nvSpPr>
          <p:cNvPr id="22" name="Text 20"/>
          <p:cNvSpPr/>
          <p:nvPr/>
        </p:nvSpPr>
        <p:spPr>
          <a:xfrm>
            <a:off x="1699614" y="4475290"/>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19.87%</a:t>
            </a:r>
            <a:endParaRPr lang="en-US" sz="800" dirty="0"/>
          </a:p>
        </p:txBody>
      </p:sp>
      <p:sp>
        <p:nvSpPr>
          <p:cNvPr id="23" name="Text 21"/>
          <p:cNvSpPr/>
          <p:nvPr/>
        </p:nvSpPr>
        <p:spPr>
          <a:xfrm>
            <a:off x="2513496" y="4182885"/>
            <a:ext cx="749808"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Q4</a:t>
            </a:r>
            <a:endParaRPr lang="en-US" sz="750" dirty="0"/>
          </a:p>
        </p:txBody>
      </p:sp>
      <p:sp>
        <p:nvSpPr>
          <p:cNvPr id="24" name="Text 22"/>
          <p:cNvSpPr/>
          <p:nvPr/>
        </p:nvSpPr>
        <p:spPr>
          <a:xfrm>
            <a:off x="2486650" y="4342343"/>
            <a:ext cx="749808" cy="155448"/>
          </a:xfrm>
          <a:prstGeom prst="rect">
            <a:avLst/>
          </a:prstGeom>
          <a:solidFill>
            <a:srgbClr val="FFFFFF"/>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389–814 /km²</a:t>
            </a:r>
            <a:endParaRPr lang="en-US" sz="700" dirty="0"/>
          </a:p>
        </p:txBody>
      </p:sp>
      <p:sp>
        <p:nvSpPr>
          <p:cNvPr id="25" name="Text 23"/>
          <p:cNvSpPr/>
          <p:nvPr/>
        </p:nvSpPr>
        <p:spPr>
          <a:xfrm>
            <a:off x="2457462" y="4518275"/>
            <a:ext cx="723999" cy="127204"/>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20.07%</a:t>
            </a:r>
            <a:endParaRPr lang="en-US" sz="800" dirty="0"/>
          </a:p>
        </p:txBody>
      </p:sp>
      <p:sp>
        <p:nvSpPr>
          <p:cNvPr id="26" name="Text 24"/>
          <p:cNvSpPr/>
          <p:nvPr/>
        </p:nvSpPr>
        <p:spPr>
          <a:xfrm>
            <a:off x="3245016" y="4192029"/>
            <a:ext cx="749808"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Q5 Densest</a:t>
            </a:r>
            <a:endParaRPr lang="en-US" sz="750" dirty="0"/>
          </a:p>
        </p:txBody>
      </p:sp>
      <p:sp>
        <p:nvSpPr>
          <p:cNvPr id="27" name="Text 25"/>
          <p:cNvSpPr/>
          <p:nvPr/>
        </p:nvSpPr>
        <p:spPr>
          <a:xfrm>
            <a:off x="3271344" y="4365765"/>
            <a:ext cx="749808" cy="155448"/>
          </a:xfrm>
          <a:prstGeom prst="rect">
            <a:avLst/>
          </a:prstGeom>
          <a:solidFill>
            <a:srgbClr val="EEF2F7"/>
          </a:solidFill>
          <a:ln/>
        </p:spPr>
        <p:txBody>
          <a:bodyPr wrap="square" lIns="0" tIns="0" rIns="0" bIns="0" rtlCol="0" anchor="ctr"/>
          <a:lstStyle/>
          <a:p>
            <a:pPr marL="0" indent="0" algn="ctr">
              <a:buNone/>
            </a:pPr>
            <a:r>
              <a:rPr lang="en-US" sz="700" dirty="0">
                <a:solidFill>
                  <a:srgbClr val="5D6D7E"/>
                </a:solidFill>
                <a:latin typeface="Arial" pitchFamily="34" charset="0"/>
                <a:ea typeface="Arial" pitchFamily="34" charset="-122"/>
                <a:cs typeface="Arial" pitchFamily="34" charset="-120"/>
              </a:rPr>
              <a:t>814+ /km²</a:t>
            </a:r>
            <a:endParaRPr lang="en-US" sz="700" dirty="0"/>
          </a:p>
        </p:txBody>
      </p:sp>
      <p:sp>
        <p:nvSpPr>
          <p:cNvPr id="28" name="Text 26"/>
          <p:cNvSpPr/>
          <p:nvPr/>
        </p:nvSpPr>
        <p:spPr>
          <a:xfrm>
            <a:off x="3245016" y="4510413"/>
            <a:ext cx="749808" cy="155448"/>
          </a:xfrm>
          <a:prstGeom prst="rect">
            <a:avLst/>
          </a:prstGeom>
          <a:noFill/>
          <a:ln/>
        </p:spPr>
        <p:txBody>
          <a:bodyPr wrap="square" lIns="0" tIns="0" rIns="0" bIns="0" rtlCol="0" anchor="ctr"/>
          <a:lstStyle/>
          <a:p>
            <a:pPr marL="0" indent="0" algn="ctr">
              <a:buNone/>
            </a:pPr>
            <a:r>
              <a:rPr lang="en-US" sz="800" b="1" dirty="0">
                <a:solidFill>
                  <a:srgbClr val="2F5496"/>
                </a:solidFill>
                <a:latin typeface="Arial" pitchFamily="34" charset="0"/>
                <a:ea typeface="Arial" pitchFamily="34" charset="-122"/>
                <a:cs typeface="Arial" pitchFamily="34" charset="-120"/>
              </a:rPr>
              <a:t>20.06%</a:t>
            </a:r>
            <a:endParaRPr lang="en-US" sz="800" dirty="0"/>
          </a:p>
        </p:txBody>
      </p:sp>
      <p:sp>
        <p:nvSpPr>
          <p:cNvPr id="29" name="Text 27"/>
          <p:cNvSpPr/>
          <p:nvPr/>
        </p:nvSpPr>
        <p:spPr>
          <a:xfrm>
            <a:off x="4754880" y="3995433"/>
            <a:ext cx="4114800" cy="18288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Per-capita economy quintiles ($/person):</a:t>
            </a:r>
            <a:endParaRPr lang="en-US" sz="900" dirty="0"/>
          </a:p>
        </p:txBody>
      </p:sp>
      <p:sp>
        <p:nvSpPr>
          <p:cNvPr id="30" name="Text 28"/>
          <p:cNvSpPr/>
          <p:nvPr/>
        </p:nvSpPr>
        <p:spPr>
          <a:xfrm>
            <a:off x="4663440" y="4144969"/>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Q1 Poorest</a:t>
            </a:r>
            <a:endParaRPr lang="en-US" sz="750" dirty="0"/>
          </a:p>
        </p:txBody>
      </p:sp>
      <p:sp>
        <p:nvSpPr>
          <p:cNvPr id="31" name="Text 29"/>
          <p:cNvSpPr/>
          <p:nvPr/>
        </p:nvSpPr>
        <p:spPr>
          <a:xfrm>
            <a:off x="4754880" y="4297927"/>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$212–$1,453</a:t>
            </a:r>
            <a:endParaRPr lang="en-US" sz="650" dirty="0"/>
          </a:p>
        </p:txBody>
      </p:sp>
      <p:sp>
        <p:nvSpPr>
          <p:cNvPr id="32" name="Text 30"/>
          <p:cNvSpPr/>
          <p:nvPr/>
        </p:nvSpPr>
        <p:spPr>
          <a:xfrm>
            <a:off x="4678982" y="4470279"/>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19.15%</a:t>
            </a:r>
            <a:endParaRPr lang="en-US" sz="800" dirty="0"/>
          </a:p>
        </p:txBody>
      </p:sp>
      <p:sp>
        <p:nvSpPr>
          <p:cNvPr id="33" name="Text 31"/>
          <p:cNvSpPr/>
          <p:nvPr/>
        </p:nvSpPr>
        <p:spPr>
          <a:xfrm>
            <a:off x="5468112" y="4160520"/>
            <a:ext cx="804672"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Q2</a:t>
            </a:r>
            <a:endParaRPr lang="en-US" sz="750" dirty="0"/>
          </a:p>
        </p:txBody>
      </p:sp>
      <p:sp>
        <p:nvSpPr>
          <p:cNvPr id="34" name="Text 32"/>
          <p:cNvSpPr/>
          <p:nvPr/>
        </p:nvSpPr>
        <p:spPr>
          <a:xfrm>
            <a:off x="5469283" y="4348073"/>
            <a:ext cx="804672" cy="155448"/>
          </a:xfrm>
          <a:prstGeom prst="rect">
            <a:avLst/>
          </a:prstGeom>
          <a:solidFill>
            <a:srgbClr val="FFFFFF"/>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$1,453–$3,195</a:t>
            </a:r>
            <a:endParaRPr lang="en-US" sz="650" dirty="0"/>
          </a:p>
        </p:txBody>
      </p:sp>
      <p:sp>
        <p:nvSpPr>
          <p:cNvPr id="35" name="Text 33"/>
          <p:cNvSpPr/>
          <p:nvPr/>
        </p:nvSpPr>
        <p:spPr>
          <a:xfrm>
            <a:off x="5460613" y="4488218"/>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20.84%</a:t>
            </a:r>
            <a:endParaRPr lang="en-US" sz="800" dirty="0"/>
          </a:p>
        </p:txBody>
      </p:sp>
      <p:sp>
        <p:nvSpPr>
          <p:cNvPr id="36" name="Text 34"/>
          <p:cNvSpPr/>
          <p:nvPr/>
        </p:nvSpPr>
        <p:spPr>
          <a:xfrm>
            <a:off x="6272784" y="4156016"/>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Q3</a:t>
            </a:r>
            <a:endParaRPr lang="en-US" sz="750" dirty="0"/>
          </a:p>
        </p:txBody>
      </p:sp>
      <p:sp>
        <p:nvSpPr>
          <p:cNvPr id="37" name="Text 35"/>
          <p:cNvSpPr/>
          <p:nvPr/>
        </p:nvSpPr>
        <p:spPr>
          <a:xfrm>
            <a:off x="6273955" y="4356824"/>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$3,200–$6,891</a:t>
            </a:r>
            <a:endParaRPr lang="en-US" sz="650" dirty="0"/>
          </a:p>
        </p:txBody>
      </p:sp>
      <p:sp>
        <p:nvSpPr>
          <p:cNvPr id="38" name="Text 36"/>
          <p:cNvSpPr/>
          <p:nvPr/>
        </p:nvSpPr>
        <p:spPr>
          <a:xfrm>
            <a:off x="6218979" y="4497791"/>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19.97%</a:t>
            </a:r>
            <a:endParaRPr lang="en-US" sz="800" dirty="0"/>
          </a:p>
        </p:txBody>
      </p:sp>
      <p:sp>
        <p:nvSpPr>
          <p:cNvPr id="39" name="Text 37"/>
          <p:cNvSpPr/>
          <p:nvPr/>
        </p:nvSpPr>
        <p:spPr>
          <a:xfrm>
            <a:off x="7077456" y="4140622"/>
            <a:ext cx="804672" cy="182880"/>
          </a:xfrm>
          <a:prstGeom prst="rect">
            <a:avLst/>
          </a:prstGeom>
          <a:solidFill>
            <a:srgbClr val="FFFFFF"/>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Q4</a:t>
            </a:r>
            <a:endParaRPr lang="en-US" sz="750" dirty="0"/>
          </a:p>
        </p:txBody>
      </p:sp>
      <p:sp>
        <p:nvSpPr>
          <p:cNvPr id="40" name="Text 38"/>
          <p:cNvSpPr/>
          <p:nvPr/>
        </p:nvSpPr>
        <p:spPr>
          <a:xfrm>
            <a:off x="7078627" y="4334583"/>
            <a:ext cx="804672" cy="155448"/>
          </a:xfrm>
          <a:prstGeom prst="rect">
            <a:avLst/>
          </a:prstGeom>
          <a:solidFill>
            <a:srgbClr val="FFFFFF"/>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$6,891–$12,584</a:t>
            </a:r>
            <a:endParaRPr lang="en-US" sz="650" dirty="0"/>
          </a:p>
        </p:txBody>
      </p:sp>
      <p:sp>
        <p:nvSpPr>
          <p:cNvPr id="41" name="Text 39"/>
          <p:cNvSpPr/>
          <p:nvPr/>
        </p:nvSpPr>
        <p:spPr>
          <a:xfrm>
            <a:off x="7022480" y="4476822"/>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20.04%</a:t>
            </a:r>
            <a:endParaRPr lang="en-US" sz="800" dirty="0"/>
          </a:p>
        </p:txBody>
      </p:sp>
      <p:sp>
        <p:nvSpPr>
          <p:cNvPr id="42" name="Text 40"/>
          <p:cNvSpPr/>
          <p:nvPr/>
        </p:nvSpPr>
        <p:spPr>
          <a:xfrm>
            <a:off x="7882128" y="4137660"/>
            <a:ext cx="804672" cy="182880"/>
          </a:xfrm>
          <a:prstGeom prst="rect">
            <a:avLst/>
          </a:prstGeom>
          <a:solidFill>
            <a:srgbClr val="EEF2F7"/>
          </a:solidFill>
          <a:ln/>
        </p:spPr>
        <p:txBody>
          <a:bodyPr wrap="square" lIns="0" tIns="0" rIns="0" bIns="0" rtlCol="0" anchor="ctr"/>
          <a:lstStyle/>
          <a:p>
            <a:pPr marL="0" indent="0" algn="ctr">
              <a:buNone/>
            </a:pPr>
            <a:r>
              <a:rPr lang="en-US" sz="750" b="1" dirty="0">
                <a:solidFill>
                  <a:srgbClr val="2C3E50"/>
                </a:solidFill>
                <a:latin typeface="Arial" pitchFamily="34" charset="0"/>
                <a:ea typeface="Arial" pitchFamily="34" charset="-122"/>
                <a:cs typeface="Arial" pitchFamily="34" charset="-120"/>
              </a:rPr>
              <a:t>Q5 Richest</a:t>
            </a:r>
            <a:endParaRPr lang="en-US" sz="750" dirty="0"/>
          </a:p>
        </p:txBody>
      </p:sp>
      <p:sp>
        <p:nvSpPr>
          <p:cNvPr id="43" name="Text 41"/>
          <p:cNvSpPr/>
          <p:nvPr/>
        </p:nvSpPr>
        <p:spPr>
          <a:xfrm>
            <a:off x="7882128" y="4319853"/>
            <a:ext cx="804672" cy="155448"/>
          </a:xfrm>
          <a:prstGeom prst="rect">
            <a:avLst/>
          </a:prstGeom>
          <a:solidFill>
            <a:srgbClr val="EEF2F7"/>
          </a:solidFill>
          <a:ln/>
        </p:spPr>
        <p:txBody>
          <a:bodyPr wrap="square" lIns="0" tIns="0" rIns="0" bIns="0" rtlCol="0" anchor="ctr"/>
          <a:lstStyle/>
          <a:p>
            <a:pPr marL="0" indent="0" algn="ctr">
              <a:buNone/>
            </a:pPr>
            <a:r>
              <a:rPr lang="en-US" sz="650" dirty="0">
                <a:solidFill>
                  <a:srgbClr val="5D6D7E"/>
                </a:solidFill>
                <a:latin typeface="Arial" pitchFamily="34" charset="0"/>
                <a:ea typeface="Arial" pitchFamily="34" charset="-122"/>
                <a:cs typeface="Arial" pitchFamily="34" charset="-120"/>
              </a:rPr>
              <a:t>$12,595+</a:t>
            </a:r>
            <a:endParaRPr lang="en-US" sz="650" dirty="0"/>
          </a:p>
        </p:txBody>
      </p:sp>
      <p:sp>
        <p:nvSpPr>
          <p:cNvPr id="44" name="Text 42"/>
          <p:cNvSpPr/>
          <p:nvPr/>
        </p:nvSpPr>
        <p:spPr>
          <a:xfrm>
            <a:off x="7878434" y="4468668"/>
            <a:ext cx="804672" cy="155448"/>
          </a:xfrm>
          <a:prstGeom prst="rect">
            <a:avLst/>
          </a:prstGeom>
          <a:noFill/>
          <a:ln/>
        </p:spPr>
        <p:txBody>
          <a:bodyPr wrap="square" lIns="0" tIns="0" rIns="0" bIns="0" rtlCol="0" anchor="ctr"/>
          <a:lstStyle/>
          <a:p>
            <a:pPr marL="0" indent="0" algn="ctr">
              <a:buNone/>
            </a:pPr>
            <a:r>
              <a:rPr lang="en-US" sz="800" b="1" dirty="0">
                <a:solidFill>
                  <a:srgbClr val="E67E22"/>
                </a:solidFill>
                <a:latin typeface="Arial" pitchFamily="34" charset="0"/>
                <a:ea typeface="Arial" pitchFamily="34" charset="-122"/>
                <a:cs typeface="Arial" pitchFamily="34" charset="-120"/>
              </a:rPr>
              <a:t>20.00%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lIns="0" tIns="0" rIns="0" bIns="0" rtlCol="0" anchor="ctr"/>
          <a:lstStyle/>
          <a:p>
            <a:pPr marL="0" indent="0">
              <a:buNone/>
            </a:pPr>
            <a:r>
              <a:rPr lang="en-US" sz="2400" b="1" dirty="0">
                <a:solidFill>
                  <a:srgbClr val="1B2A4A"/>
                </a:solidFill>
                <a:latin typeface="Georgia" pitchFamily="34" charset="0"/>
                <a:ea typeface="Georgia" pitchFamily="34" charset="-122"/>
                <a:cs typeface="Georgia" pitchFamily="34" charset="-120"/>
              </a:rPr>
              <a:t>Where Humanity Clusters: Population Share</a:t>
            </a:r>
            <a:endParaRPr lang="en-US" sz="2400" dirty="0"/>
          </a:p>
        </p:txBody>
      </p:sp>
      <p:sp>
        <p:nvSpPr>
          <p:cNvPr id="3" name="Text 1"/>
          <p:cNvSpPr/>
          <p:nvPr/>
        </p:nvSpPr>
        <p:spPr>
          <a:xfrm>
            <a:off x="457200" y="548640"/>
            <a:ext cx="8229600" cy="274320"/>
          </a:xfrm>
          <a:prstGeom prst="rect">
            <a:avLst/>
          </a:prstGeom>
          <a:noFill/>
          <a:ln/>
        </p:spPr>
        <p:txBody>
          <a:bodyPr wrap="square" lIns="0" tIns="0" rIns="0" bIns="0" rtlCol="0" anchor="ctr"/>
          <a:lstStyle/>
          <a:p>
            <a:pPr marL="0" indent="0">
              <a:buNone/>
            </a:pPr>
            <a:r>
              <a:rPr lang="en-US" sz="1100" dirty="0">
                <a:solidFill>
                  <a:srgbClr val="5D6D7E"/>
                </a:solidFill>
                <a:latin typeface="Arial" pitchFamily="34" charset="0"/>
                <a:ea typeface="Arial" pitchFamily="34" charset="-122"/>
                <a:cs typeface="Arial" pitchFamily="34" charset="-120"/>
              </a:rPr>
              <a:t>Each cell shows % of world population. If uncorrelated, each cell ≈ 4.0%</a:t>
            </a:r>
            <a:endParaRPr lang="en-US" sz="1100" dirty="0"/>
          </a:p>
        </p:txBody>
      </p:sp>
      <p:sp>
        <p:nvSpPr>
          <p:cNvPr id="4" name="Text 2"/>
          <p:cNvSpPr/>
          <p:nvPr/>
        </p:nvSpPr>
        <p:spPr>
          <a:xfrm>
            <a:off x="164592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Poorest</a:t>
            </a:r>
            <a:endParaRPr lang="en-US" sz="1000" dirty="0"/>
          </a:p>
        </p:txBody>
      </p:sp>
      <p:sp>
        <p:nvSpPr>
          <p:cNvPr id="5" name="Text 3"/>
          <p:cNvSpPr/>
          <p:nvPr/>
        </p:nvSpPr>
        <p:spPr>
          <a:xfrm>
            <a:off x="297180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6" name="Text 4"/>
          <p:cNvSpPr/>
          <p:nvPr/>
        </p:nvSpPr>
        <p:spPr>
          <a:xfrm>
            <a:off x="429768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7" name="Text 5"/>
          <p:cNvSpPr/>
          <p:nvPr/>
        </p:nvSpPr>
        <p:spPr>
          <a:xfrm>
            <a:off x="562356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8" name="Text 6"/>
          <p:cNvSpPr/>
          <p:nvPr/>
        </p:nvSpPr>
        <p:spPr>
          <a:xfrm>
            <a:off x="694944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Richest</a:t>
            </a:r>
            <a:endParaRPr lang="en-US" sz="1000" dirty="0"/>
          </a:p>
        </p:txBody>
      </p:sp>
      <p:sp>
        <p:nvSpPr>
          <p:cNvPr id="9" name="Text 7"/>
          <p:cNvSpPr/>
          <p:nvPr/>
        </p:nvSpPr>
        <p:spPr>
          <a:xfrm>
            <a:off x="1645920" y="777240"/>
            <a:ext cx="6629400" cy="27432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Per Capita Economy →</a:t>
            </a:r>
            <a:endParaRPr lang="en-US" sz="1100" dirty="0"/>
          </a:p>
        </p:txBody>
      </p:sp>
      <p:sp>
        <p:nvSpPr>
          <p:cNvPr id="10" name="Text 8"/>
          <p:cNvSpPr/>
          <p:nvPr/>
        </p:nvSpPr>
        <p:spPr>
          <a:xfrm>
            <a:off x="548640" y="169164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Sparsest</a:t>
            </a:r>
            <a:endParaRPr lang="en-US" sz="1000" dirty="0"/>
          </a:p>
        </p:txBody>
      </p:sp>
      <p:sp>
        <p:nvSpPr>
          <p:cNvPr id="11" name="Text 9"/>
          <p:cNvSpPr/>
          <p:nvPr/>
        </p:nvSpPr>
        <p:spPr>
          <a:xfrm>
            <a:off x="548640" y="228600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2" name="Text 10"/>
          <p:cNvSpPr/>
          <p:nvPr/>
        </p:nvSpPr>
        <p:spPr>
          <a:xfrm>
            <a:off x="548640" y="288036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3" name="Text 11"/>
          <p:cNvSpPr/>
          <p:nvPr/>
        </p:nvSpPr>
        <p:spPr>
          <a:xfrm>
            <a:off x="548640" y="347472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14" name="Text 12"/>
          <p:cNvSpPr/>
          <p:nvPr/>
        </p:nvSpPr>
        <p:spPr>
          <a:xfrm>
            <a:off x="548640" y="406908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Densest</a:t>
            </a:r>
            <a:endParaRPr lang="en-US" sz="1000" dirty="0"/>
          </a:p>
        </p:txBody>
      </p:sp>
      <p:sp>
        <p:nvSpPr>
          <p:cNvPr id="15" name="Text 13"/>
          <p:cNvSpPr/>
          <p:nvPr/>
        </p:nvSpPr>
        <p:spPr>
          <a:xfrm rot="16200000">
            <a:off x="91440" y="2583180"/>
            <a:ext cx="457200" cy="137160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Density ↓</a:t>
            </a:r>
            <a:endParaRPr lang="en-US" sz="1100" dirty="0"/>
          </a:p>
        </p:txBody>
      </p:sp>
      <p:sp>
        <p:nvSpPr>
          <p:cNvPr id="16" name="Shape 14"/>
          <p:cNvSpPr/>
          <p:nvPr/>
        </p:nvSpPr>
        <p:spPr>
          <a:xfrm>
            <a:off x="1645920" y="1691640"/>
            <a:ext cx="1325880" cy="594360"/>
          </a:xfrm>
          <a:prstGeom prst="rect">
            <a:avLst/>
          </a:prstGeom>
          <a:solidFill>
            <a:srgbClr val="66BB6A"/>
          </a:solidFill>
          <a:ln w="19050">
            <a:solidFill>
              <a:srgbClr val="F4F6F8"/>
            </a:solidFill>
            <a:prstDash val="solid"/>
          </a:ln>
        </p:spPr>
        <p:txBody>
          <a:bodyPr/>
          <a:lstStyle/>
          <a:p>
            <a:endParaRPr lang="en-US"/>
          </a:p>
        </p:txBody>
      </p:sp>
      <p:sp>
        <p:nvSpPr>
          <p:cNvPr id="17" name="Text 15"/>
          <p:cNvSpPr/>
          <p:nvPr/>
        </p:nvSpPr>
        <p:spPr>
          <a:xfrm>
            <a:off x="164592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412M</a:t>
            </a:r>
            <a:endParaRPr lang="en-US" sz="1600" dirty="0"/>
          </a:p>
        </p:txBody>
      </p:sp>
      <p:sp>
        <p:nvSpPr>
          <p:cNvPr id="18" name="Shape 16"/>
          <p:cNvSpPr/>
          <p:nvPr/>
        </p:nvSpPr>
        <p:spPr>
          <a:xfrm>
            <a:off x="2971800" y="1691640"/>
            <a:ext cx="1325880" cy="594360"/>
          </a:xfrm>
          <a:prstGeom prst="rect">
            <a:avLst/>
          </a:prstGeom>
          <a:solidFill>
            <a:srgbClr val="F0E6E6"/>
          </a:solidFill>
          <a:ln w="19050">
            <a:solidFill>
              <a:srgbClr val="F4F6F8"/>
            </a:solidFill>
            <a:prstDash val="solid"/>
          </a:ln>
        </p:spPr>
        <p:txBody>
          <a:bodyPr/>
          <a:lstStyle/>
          <a:p>
            <a:endParaRPr lang="en-US"/>
          </a:p>
        </p:txBody>
      </p:sp>
      <p:sp>
        <p:nvSpPr>
          <p:cNvPr id="19" name="Text 17"/>
          <p:cNvSpPr/>
          <p:nvPr/>
        </p:nvSpPr>
        <p:spPr>
          <a:xfrm>
            <a:off x="297180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129M</a:t>
            </a:r>
            <a:endParaRPr lang="en-US" sz="1600" dirty="0"/>
          </a:p>
        </p:txBody>
      </p:sp>
      <p:sp>
        <p:nvSpPr>
          <p:cNvPr id="20" name="Shape 18"/>
          <p:cNvSpPr/>
          <p:nvPr/>
        </p:nvSpPr>
        <p:spPr>
          <a:xfrm>
            <a:off x="4297680" y="1691640"/>
            <a:ext cx="1325880" cy="594360"/>
          </a:xfrm>
          <a:prstGeom prst="rect">
            <a:avLst/>
          </a:prstGeom>
          <a:solidFill>
            <a:srgbClr val="E8F5E9"/>
          </a:solidFill>
          <a:ln w="19050">
            <a:solidFill>
              <a:srgbClr val="F4F6F8"/>
            </a:solidFill>
            <a:prstDash val="solid"/>
          </a:ln>
        </p:spPr>
        <p:txBody>
          <a:bodyPr/>
          <a:lstStyle/>
          <a:p>
            <a:endParaRPr lang="en-US"/>
          </a:p>
        </p:txBody>
      </p:sp>
      <p:sp>
        <p:nvSpPr>
          <p:cNvPr id="21" name="Text 19"/>
          <p:cNvSpPr/>
          <p:nvPr/>
        </p:nvSpPr>
        <p:spPr>
          <a:xfrm>
            <a:off x="429768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296M</a:t>
            </a:r>
            <a:endParaRPr lang="en-US" sz="1600" dirty="0"/>
          </a:p>
        </p:txBody>
      </p:sp>
      <p:sp>
        <p:nvSpPr>
          <p:cNvPr id="22" name="Shape 20"/>
          <p:cNvSpPr/>
          <p:nvPr/>
        </p:nvSpPr>
        <p:spPr>
          <a:xfrm>
            <a:off x="5623560" y="1691640"/>
            <a:ext cx="1325880" cy="594360"/>
          </a:xfrm>
          <a:prstGeom prst="rect">
            <a:avLst/>
          </a:prstGeom>
          <a:solidFill>
            <a:srgbClr val="66BB6A"/>
          </a:solidFill>
          <a:ln w="19050">
            <a:solidFill>
              <a:srgbClr val="F4F6F8"/>
            </a:solidFill>
            <a:prstDash val="solid"/>
          </a:ln>
        </p:spPr>
        <p:txBody>
          <a:bodyPr/>
          <a:lstStyle/>
          <a:p>
            <a:endParaRPr lang="en-US"/>
          </a:p>
        </p:txBody>
      </p:sp>
      <p:sp>
        <p:nvSpPr>
          <p:cNvPr id="23" name="Text 21"/>
          <p:cNvSpPr/>
          <p:nvPr/>
        </p:nvSpPr>
        <p:spPr>
          <a:xfrm>
            <a:off x="562356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413M</a:t>
            </a:r>
            <a:endParaRPr lang="en-US" sz="1600" dirty="0"/>
          </a:p>
        </p:txBody>
      </p:sp>
      <p:sp>
        <p:nvSpPr>
          <p:cNvPr id="24" name="Shape 22"/>
          <p:cNvSpPr/>
          <p:nvPr/>
        </p:nvSpPr>
        <p:spPr>
          <a:xfrm>
            <a:off x="6949440" y="1691640"/>
            <a:ext cx="1325880" cy="594360"/>
          </a:xfrm>
          <a:prstGeom prst="rect">
            <a:avLst/>
          </a:prstGeom>
          <a:solidFill>
            <a:srgbClr val="E8F5E9"/>
          </a:solidFill>
          <a:ln w="19050">
            <a:solidFill>
              <a:srgbClr val="F4F6F8"/>
            </a:solidFill>
            <a:prstDash val="solid"/>
          </a:ln>
        </p:spPr>
        <p:txBody>
          <a:bodyPr/>
          <a:lstStyle/>
          <a:p>
            <a:endParaRPr lang="en-US"/>
          </a:p>
        </p:txBody>
      </p:sp>
      <p:sp>
        <p:nvSpPr>
          <p:cNvPr id="25" name="Text 23"/>
          <p:cNvSpPr/>
          <p:nvPr/>
        </p:nvSpPr>
        <p:spPr>
          <a:xfrm>
            <a:off x="694944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300M</a:t>
            </a:r>
            <a:endParaRPr lang="en-US" sz="1600" dirty="0"/>
          </a:p>
        </p:txBody>
      </p:sp>
      <p:sp>
        <p:nvSpPr>
          <p:cNvPr id="26" name="Shape 24"/>
          <p:cNvSpPr/>
          <p:nvPr/>
        </p:nvSpPr>
        <p:spPr>
          <a:xfrm>
            <a:off x="1645920" y="2286000"/>
            <a:ext cx="1325880" cy="594360"/>
          </a:xfrm>
          <a:prstGeom prst="rect">
            <a:avLst/>
          </a:prstGeom>
          <a:solidFill>
            <a:srgbClr val="A5D6A7"/>
          </a:solidFill>
          <a:ln w="19050">
            <a:solidFill>
              <a:srgbClr val="F4F6F8"/>
            </a:solidFill>
            <a:prstDash val="solid"/>
          </a:ln>
        </p:spPr>
        <p:txBody>
          <a:bodyPr/>
          <a:lstStyle/>
          <a:p>
            <a:endParaRPr lang="en-US"/>
          </a:p>
        </p:txBody>
      </p:sp>
      <p:sp>
        <p:nvSpPr>
          <p:cNvPr id="27" name="Text 25"/>
          <p:cNvSpPr/>
          <p:nvPr/>
        </p:nvSpPr>
        <p:spPr>
          <a:xfrm>
            <a:off x="164592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4.4%</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345M</a:t>
            </a:r>
            <a:endParaRPr lang="en-US" sz="1600" dirty="0"/>
          </a:p>
        </p:txBody>
      </p:sp>
      <p:sp>
        <p:nvSpPr>
          <p:cNvPr id="28" name="Shape 26"/>
          <p:cNvSpPr/>
          <p:nvPr/>
        </p:nvSpPr>
        <p:spPr>
          <a:xfrm>
            <a:off x="2971800" y="2286000"/>
            <a:ext cx="1325880" cy="594360"/>
          </a:xfrm>
          <a:prstGeom prst="rect">
            <a:avLst/>
          </a:prstGeom>
          <a:solidFill>
            <a:srgbClr val="A5D6A7"/>
          </a:solidFill>
          <a:ln w="19050">
            <a:solidFill>
              <a:srgbClr val="F4F6F8"/>
            </a:solidFill>
            <a:prstDash val="solid"/>
          </a:ln>
        </p:spPr>
        <p:txBody>
          <a:bodyPr/>
          <a:lstStyle/>
          <a:p>
            <a:endParaRPr lang="en-US"/>
          </a:p>
        </p:txBody>
      </p:sp>
      <p:sp>
        <p:nvSpPr>
          <p:cNvPr id="29" name="Text 27"/>
          <p:cNvSpPr/>
          <p:nvPr/>
        </p:nvSpPr>
        <p:spPr>
          <a:xfrm>
            <a:off x="297180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354M</a:t>
            </a:r>
            <a:endParaRPr lang="en-US" sz="1600" dirty="0"/>
          </a:p>
        </p:txBody>
      </p:sp>
      <p:sp>
        <p:nvSpPr>
          <p:cNvPr id="30" name="Shape 28"/>
          <p:cNvSpPr/>
          <p:nvPr/>
        </p:nvSpPr>
        <p:spPr>
          <a:xfrm>
            <a:off x="429768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1" name="Text 29"/>
          <p:cNvSpPr/>
          <p:nvPr/>
        </p:nvSpPr>
        <p:spPr>
          <a:xfrm>
            <a:off x="429768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301M</a:t>
            </a:r>
            <a:endParaRPr lang="en-US" sz="1600" dirty="0"/>
          </a:p>
        </p:txBody>
      </p:sp>
      <p:sp>
        <p:nvSpPr>
          <p:cNvPr id="32" name="Shape 30"/>
          <p:cNvSpPr/>
          <p:nvPr/>
        </p:nvSpPr>
        <p:spPr>
          <a:xfrm>
            <a:off x="562356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3" name="Text 31"/>
          <p:cNvSpPr/>
          <p:nvPr/>
        </p:nvSpPr>
        <p:spPr>
          <a:xfrm>
            <a:off x="562356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294M</a:t>
            </a:r>
            <a:endParaRPr lang="en-US" sz="1600" dirty="0"/>
          </a:p>
        </p:txBody>
      </p:sp>
      <p:sp>
        <p:nvSpPr>
          <p:cNvPr id="34" name="Shape 32"/>
          <p:cNvSpPr/>
          <p:nvPr/>
        </p:nvSpPr>
        <p:spPr>
          <a:xfrm>
            <a:off x="6949440" y="2286000"/>
            <a:ext cx="1325880" cy="594360"/>
          </a:xfrm>
          <a:prstGeom prst="rect">
            <a:avLst/>
          </a:prstGeom>
          <a:solidFill>
            <a:srgbClr val="E8F5E9"/>
          </a:solidFill>
          <a:ln w="19050">
            <a:solidFill>
              <a:srgbClr val="F4F6F8"/>
            </a:solidFill>
            <a:prstDash val="solid"/>
          </a:ln>
        </p:spPr>
        <p:txBody>
          <a:bodyPr/>
          <a:lstStyle/>
          <a:p>
            <a:endParaRPr lang="en-US"/>
          </a:p>
        </p:txBody>
      </p:sp>
      <p:sp>
        <p:nvSpPr>
          <p:cNvPr id="35" name="Text 33"/>
          <p:cNvSpPr/>
          <p:nvPr/>
        </p:nvSpPr>
        <p:spPr>
          <a:xfrm>
            <a:off x="694944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295M</a:t>
            </a:r>
            <a:endParaRPr lang="en-US" sz="1600" dirty="0"/>
          </a:p>
        </p:txBody>
      </p:sp>
      <p:sp>
        <p:nvSpPr>
          <p:cNvPr id="36" name="Shape 34"/>
          <p:cNvSpPr/>
          <p:nvPr/>
        </p:nvSpPr>
        <p:spPr>
          <a:xfrm>
            <a:off x="1645920" y="2880360"/>
            <a:ext cx="1325880" cy="594360"/>
          </a:xfrm>
          <a:prstGeom prst="rect">
            <a:avLst/>
          </a:prstGeom>
          <a:solidFill>
            <a:srgbClr val="FEF3D5"/>
          </a:solidFill>
          <a:ln w="19050">
            <a:solidFill>
              <a:srgbClr val="F4F6F8"/>
            </a:solidFill>
            <a:prstDash val="solid"/>
          </a:ln>
        </p:spPr>
        <p:txBody>
          <a:bodyPr/>
          <a:lstStyle/>
          <a:p>
            <a:endParaRPr lang="en-US"/>
          </a:p>
        </p:txBody>
      </p:sp>
      <p:sp>
        <p:nvSpPr>
          <p:cNvPr id="37" name="Text 35"/>
          <p:cNvSpPr/>
          <p:nvPr/>
        </p:nvSpPr>
        <p:spPr>
          <a:xfrm>
            <a:off x="164592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214M</a:t>
            </a:r>
            <a:endParaRPr lang="en-US" sz="1600" dirty="0"/>
          </a:p>
        </p:txBody>
      </p:sp>
      <p:sp>
        <p:nvSpPr>
          <p:cNvPr id="38" name="Shape 36"/>
          <p:cNvSpPr/>
          <p:nvPr/>
        </p:nvSpPr>
        <p:spPr>
          <a:xfrm>
            <a:off x="2971800" y="2880360"/>
            <a:ext cx="1325880" cy="594360"/>
          </a:xfrm>
          <a:prstGeom prst="rect">
            <a:avLst/>
          </a:prstGeom>
          <a:solidFill>
            <a:srgbClr val="A5D6A7"/>
          </a:solidFill>
          <a:ln w="19050">
            <a:solidFill>
              <a:srgbClr val="F4F6F8"/>
            </a:solidFill>
            <a:prstDash val="solid"/>
          </a:ln>
        </p:spPr>
        <p:txBody>
          <a:bodyPr/>
          <a:lstStyle/>
          <a:p>
            <a:endParaRPr lang="en-US"/>
          </a:p>
        </p:txBody>
      </p:sp>
      <p:sp>
        <p:nvSpPr>
          <p:cNvPr id="39" name="Text 37"/>
          <p:cNvSpPr/>
          <p:nvPr/>
        </p:nvSpPr>
        <p:spPr>
          <a:xfrm>
            <a:off x="297180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322M</a:t>
            </a:r>
            <a:endParaRPr lang="en-US" sz="1600" dirty="0"/>
          </a:p>
        </p:txBody>
      </p:sp>
      <p:sp>
        <p:nvSpPr>
          <p:cNvPr id="40" name="Shape 38"/>
          <p:cNvSpPr/>
          <p:nvPr/>
        </p:nvSpPr>
        <p:spPr>
          <a:xfrm>
            <a:off x="4297680" y="2880360"/>
            <a:ext cx="1325880" cy="594360"/>
          </a:xfrm>
          <a:prstGeom prst="rect">
            <a:avLst/>
          </a:prstGeom>
          <a:solidFill>
            <a:srgbClr val="E8F5E9"/>
          </a:solidFill>
          <a:ln w="19050">
            <a:solidFill>
              <a:srgbClr val="F4F6F8"/>
            </a:solidFill>
            <a:prstDash val="solid"/>
          </a:ln>
        </p:spPr>
        <p:txBody>
          <a:bodyPr/>
          <a:lstStyle/>
          <a:p>
            <a:endParaRPr lang="en-US"/>
          </a:p>
        </p:txBody>
      </p:sp>
      <p:sp>
        <p:nvSpPr>
          <p:cNvPr id="41" name="Text 39"/>
          <p:cNvSpPr/>
          <p:nvPr/>
        </p:nvSpPr>
        <p:spPr>
          <a:xfrm>
            <a:off x="429768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258M</a:t>
            </a:r>
            <a:endParaRPr lang="en-US" sz="1600" dirty="0"/>
          </a:p>
        </p:txBody>
      </p:sp>
      <p:sp>
        <p:nvSpPr>
          <p:cNvPr id="42" name="Shape 40"/>
          <p:cNvSpPr/>
          <p:nvPr/>
        </p:nvSpPr>
        <p:spPr>
          <a:xfrm>
            <a:off x="5623560" y="2880360"/>
            <a:ext cx="1325880" cy="594360"/>
          </a:xfrm>
          <a:prstGeom prst="rect">
            <a:avLst/>
          </a:prstGeom>
          <a:solidFill>
            <a:srgbClr val="66BB6A"/>
          </a:solidFill>
          <a:ln w="19050">
            <a:solidFill>
              <a:srgbClr val="F4F6F8"/>
            </a:solidFill>
            <a:prstDash val="solid"/>
          </a:ln>
        </p:spPr>
        <p:txBody>
          <a:bodyPr/>
          <a:lstStyle/>
          <a:p>
            <a:endParaRPr lang="en-US"/>
          </a:p>
        </p:txBody>
      </p:sp>
      <p:sp>
        <p:nvSpPr>
          <p:cNvPr id="43" name="Text 41"/>
          <p:cNvSpPr/>
          <p:nvPr/>
        </p:nvSpPr>
        <p:spPr>
          <a:xfrm>
            <a:off x="562356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418M</a:t>
            </a:r>
            <a:endParaRPr lang="en-US" sz="1600" dirty="0"/>
          </a:p>
        </p:txBody>
      </p:sp>
      <p:sp>
        <p:nvSpPr>
          <p:cNvPr id="44" name="Shape 42"/>
          <p:cNvSpPr/>
          <p:nvPr/>
        </p:nvSpPr>
        <p:spPr>
          <a:xfrm>
            <a:off x="6949440" y="2880360"/>
            <a:ext cx="1325880" cy="594360"/>
          </a:xfrm>
          <a:prstGeom prst="rect">
            <a:avLst/>
          </a:prstGeom>
          <a:solidFill>
            <a:srgbClr val="A5D6A7"/>
          </a:solidFill>
          <a:ln w="19050">
            <a:solidFill>
              <a:srgbClr val="F4F6F8"/>
            </a:solidFill>
            <a:prstDash val="solid"/>
          </a:ln>
        </p:spPr>
        <p:txBody>
          <a:bodyPr/>
          <a:lstStyle/>
          <a:p>
            <a:endParaRPr lang="en-US"/>
          </a:p>
        </p:txBody>
      </p:sp>
      <p:sp>
        <p:nvSpPr>
          <p:cNvPr id="45" name="Text 43"/>
          <p:cNvSpPr/>
          <p:nvPr/>
        </p:nvSpPr>
        <p:spPr>
          <a:xfrm>
            <a:off x="694944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372M</a:t>
            </a:r>
            <a:endParaRPr lang="en-US" sz="1600" dirty="0"/>
          </a:p>
        </p:txBody>
      </p:sp>
      <p:sp>
        <p:nvSpPr>
          <p:cNvPr id="46" name="Shape 44"/>
          <p:cNvSpPr/>
          <p:nvPr/>
        </p:nvSpPr>
        <p:spPr>
          <a:xfrm>
            <a:off x="164592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47" name="Text 45"/>
          <p:cNvSpPr/>
          <p:nvPr/>
        </p:nvSpPr>
        <p:spPr>
          <a:xfrm>
            <a:off x="164592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301M</a:t>
            </a:r>
            <a:endParaRPr lang="en-US" sz="1600" dirty="0"/>
          </a:p>
        </p:txBody>
      </p:sp>
      <p:sp>
        <p:nvSpPr>
          <p:cNvPr id="48" name="Shape 46"/>
          <p:cNvSpPr/>
          <p:nvPr/>
        </p:nvSpPr>
        <p:spPr>
          <a:xfrm>
            <a:off x="2971800" y="3474720"/>
            <a:ext cx="1325880" cy="594360"/>
          </a:xfrm>
          <a:prstGeom prst="rect">
            <a:avLst/>
          </a:prstGeom>
          <a:solidFill>
            <a:srgbClr val="66BB6A"/>
          </a:solidFill>
          <a:ln w="19050">
            <a:solidFill>
              <a:srgbClr val="F4F6F8"/>
            </a:solidFill>
            <a:prstDash val="solid"/>
          </a:ln>
        </p:spPr>
        <p:txBody>
          <a:bodyPr/>
          <a:lstStyle/>
          <a:p>
            <a:endParaRPr lang="en-US"/>
          </a:p>
        </p:txBody>
      </p:sp>
      <p:sp>
        <p:nvSpPr>
          <p:cNvPr id="49" name="Text 47"/>
          <p:cNvSpPr/>
          <p:nvPr/>
        </p:nvSpPr>
        <p:spPr>
          <a:xfrm>
            <a:off x="297180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395M</a:t>
            </a:r>
            <a:endParaRPr lang="en-US" sz="1600" dirty="0"/>
          </a:p>
        </p:txBody>
      </p:sp>
      <p:sp>
        <p:nvSpPr>
          <p:cNvPr id="50" name="Shape 48"/>
          <p:cNvSpPr/>
          <p:nvPr/>
        </p:nvSpPr>
        <p:spPr>
          <a:xfrm>
            <a:off x="429768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51" name="Text 49"/>
          <p:cNvSpPr/>
          <p:nvPr/>
        </p:nvSpPr>
        <p:spPr>
          <a:xfrm>
            <a:off x="429768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243M</a:t>
            </a:r>
            <a:endParaRPr lang="en-US" sz="1600" dirty="0"/>
          </a:p>
        </p:txBody>
      </p:sp>
      <p:sp>
        <p:nvSpPr>
          <p:cNvPr id="52" name="Shape 50"/>
          <p:cNvSpPr/>
          <p:nvPr/>
        </p:nvSpPr>
        <p:spPr>
          <a:xfrm>
            <a:off x="5623560" y="3474720"/>
            <a:ext cx="1325880" cy="594360"/>
          </a:xfrm>
          <a:prstGeom prst="rect">
            <a:avLst/>
          </a:prstGeom>
          <a:solidFill>
            <a:srgbClr val="A5D6A7"/>
          </a:solidFill>
          <a:ln w="19050">
            <a:solidFill>
              <a:srgbClr val="F4F6F8"/>
            </a:solidFill>
            <a:prstDash val="solid"/>
          </a:ln>
        </p:spPr>
        <p:txBody>
          <a:bodyPr/>
          <a:lstStyle/>
          <a:p>
            <a:endParaRPr lang="en-US"/>
          </a:p>
        </p:txBody>
      </p:sp>
      <p:sp>
        <p:nvSpPr>
          <p:cNvPr id="53" name="Text 51"/>
          <p:cNvSpPr/>
          <p:nvPr/>
        </p:nvSpPr>
        <p:spPr>
          <a:xfrm>
            <a:off x="562356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4.9%</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383M</a:t>
            </a:r>
            <a:endParaRPr lang="en-US" sz="1600" dirty="0"/>
          </a:p>
        </p:txBody>
      </p:sp>
      <p:sp>
        <p:nvSpPr>
          <p:cNvPr id="54" name="Shape 52"/>
          <p:cNvSpPr/>
          <p:nvPr/>
        </p:nvSpPr>
        <p:spPr>
          <a:xfrm>
            <a:off x="6949440" y="3474720"/>
            <a:ext cx="1325880" cy="594360"/>
          </a:xfrm>
          <a:prstGeom prst="rect">
            <a:avLst/>
          </a:prstGeom>
          <a:solidFill>
            <a:srgbClr val="E8F5E9"/>
          </a:solidFill>
          <a:ln w="19050">
            <a:solidFill>
              <a:srgbClr val="F4F6F8"/>
            </a:solidFill>
            <a:prstDash val="solid"/>
          </a:ln>
        </p:spPr>
        <p:txBody>
          <a:bodyPr/>
          <a:lstStyle/>
          <a:p>
            <a:endParaRPr lang="en-US"/>
          </a:p>
        </p:txBody>
      </p:sp>
      <p:sp>
        <p:nvSpPr>
          <p:cNvPr id="55" name="Text 53"/>
          <p:cNvSpPr/>
          <p:nvPr/>
        </p:nvSpPr>
        <p:spPr>
          <a:xfrm>
            <a:off x="694944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274M</a:t>
            </a:r>
            <a:endParaRPr lang="en-US" sz="1600" dirty="0"/>
          </a:p>
        </p:txBody>
      </p:sp>
      <p:sp>
        <p:nvSpPr>
          <p:cNvPr id="56" name="Shape 54"/>
          <p:cNvSpPr/>
          <p:nvPr/>
        </p:nvSpPr>
        <p:spPr>
          <a:xfrm>
            <a:off x="1645920" y="4069080"/>
            <a:ext cx="1325880" cy="594360"/>
          </a:xfrm>
          <a:prstGeom prst="rect">
            <a:avLst/>
          </a:prstGeom>
          <a:solidFill>
            <a:srgbClr val="E8F5E9"/>
          </a:solidFill>
          <a:ln w="19050">
            <a:solidFill>
              <a:srgbClr val="F4F6F8"/>
            </a:solidFill>
            <a:prstDash val="solid"/>
          </a:ln>
        </p:spPr>
        <p:txBody>
          <a:bodyPr/>
          <a:lstStyle/>
          <a:p>
            <a:endParaRPr lang="en-US"/>
          </a:p>
        </p:txBody>
      </p:sp>
      <p:sp>
        <p:nvSpPr>
          <p:cNvPr id="57" name="Text 55"/>
          <p:cNvSpPr/>
          <p:nvPr/>
        </p:nvSpPr>
        <p:spPr>
          <a:xfrm>
            <a:off x="164592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241M</a:t>
            </a:r>
            <a:endParaRPr lang="en-US" sz="1600" dirty="0"/>
          </a:p>
        </p:txBody>
      </p:sp>
      <p:sp>
        <p:nvSpPr>
          <p:cNvPr id="58" name="Shape 56"/>
          <p:cNvSpPr/>
          <p:nvPr/>
        </p:nvSpPr>
        <p:spPr>
          <a:xfrm>
            <a:off x="2971800" y="4069080"/>
            <a:ext cx="1325880" cy="594360"/>
          </a:xfrm>
          <a:prstGeom prst="rect">
            <a:avLst/>
          </a:prstGeom>
          <a:solidFill>
            <a:srgbClr val="66BB6A"/>
          </a:solidFill>
          <a:ln w="19050">
            <a:solidFill>
              <a:srgbClr val="F4F6F8"/>
            </a:solidFill>
            <a:prstDash val="solid"/>
          </a:ln>
        </p:spPr>
        <p:txBody>
          <a:bodyPr/>
          <a:lstStyle/>
          <a:p>
            <a:endParaRPr lang="en-US"/>
          </a:p>
        </p:txBody>
      </p:sp>
      <p:sp>
        <p:nvSpPr>
          <p:cNvPr id="59" name="Text 57"/>
          <p:cNvSpPr/>
          <p:nvPr/>
        </p:nvSpPr>
        <p:spPr>
          <a:xfrm>
            <a:off x="297180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5.6%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446M</a:t>
            </a:r>
            <a:endParaRPr lang="en-US" sz="1600" dirty="0"/>
          </a:p>
        </p:txBody>
      </p:sp>
      <p:sp>
        <p:nvSpPr>
          <p:cNvPr id="60" name="Shape 58"/>
          <p:cNvSpPr/>
          <p:nvPr/>
        </p:nvSpPr>
        <p:spPr>
          <a:xfrm>
            <a:off x="4297680" y="4069080"/>
            <a:ext cx="1325880" cy="594360"/>
          </a:xfrm>
          <a:prstGeom prst="rect">
            <a:avLst/>
          </a:prstGeom>
          <a:solidFill>
            <a:srgbClr val="2E7D32"/>
          </a:solidFill>
          <a:ln w="19050">
            <a:solidFill>
              <a:srgbClr val="F4F6F8"/>
            </a:solidFill>
            <a:prstDash val="solid"/>
          </a:ln>
        </p:spPr>
        <p:txBody>
          <a:bodyPr/>
          <a:lstStyle/>
          <a:p>
            <a:endParaRPr lang="en-US"/>
          </a:p>
        </p:txBody>
      </p:sp>
      <p:sp>
        <p:nvSpPr>
          <p:cNvPr id="61" name="Text 59"/>
          <p:cNvSpPr/>
          <p:nvPr/>
        </p:nvSpPr>
        <p:spPr>
          <a:xfrm>
            <a:off x="4297680" y="4069080"/>
            <a:ext cx="13258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6.0%</a:t>
            </a:r>
            <a:endParaRPr lang="en-US" sz="1600" dirty="0"/>
          </a:p>
          <a:p>
            <a:pPr marL="0" indent="0" algn="ctr">
              <a:buNone/>
            </a:pPr>
            <a:r>
              <a:rPr lang="en-US" sz="900" dirty="0">
                <a:solidFill>
                  <a:srgbClr val="DDDDDD"/>
                </a:solidFill>
                <a:latin typeface="Arial" pitchFamily="34" charset="0"/>
                <a:ea typeface="Arial" pitchFamily="34" charset="-122"/>
                <a:cs typeface="Arial" pitchFamily="34" charset="-120"/>
              </a:rPr>
              <a:t>477M</a:t>
            </a:r>
            <a:endParaRPr lang="en-US" sz="1600" dirty="0"/>
          </a:p>
        </p:txBody>
      </p:sp>
      <p:sp>
        <p:nvSpPr>
          <p:cNvPr id="62" name="Shape 60"/>
          <p:cNvSpPr/>
          <p:nvPr/>
        </p:nvSpPr>
        <p:spPr>
          <a:xfrm>
            <a:off x="5623560" y="4069080"/>
            <a:ext cx="1325880" cy="594360"/>
          </a:xfrm>
          <a:prstGeom prst="rect">
            <a:avLst/>
          </a:prstGeom>
          <a:solidFill>
            <a:srgbClr val="F0E6E6"/>
          </a:solidFill>
          <a:ln w="19050">
            <a:solidFill>
              <a:srgbClr val="F4F6F8"/>
            </a:solidFill>
            <a:prstDash val="solid"/>
          </a:ln>
        </p:spPr>
        <p:txBody>
          <a:bodyPr/>
          <a:lstStyle/>
          <a:p>
            <a:endParaRPr lang="en-US"/>
          </a:p>
        </p:txBody>
      </p:sp>
      <p:sp>
        <p:nvSpPr>
          <p:cNvPr id="63" name="Text 61"/>
          <p:cNvSpPr/>
          <p:nvPr/>
        </p:nvSpPr>
        <p:spPr>
          <a:xfrm>
            <a:off x="562356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0.9%</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74M</a:t>
            </a:r>
            <a:endParaRPr lang="en-US" sz="1600" dirty="0"/>
          </a:p>
        </p:txBody>
      </p:sp>
      <p:sp>
        <p:nvSpPr>
          <p:cNvPr id="64" name="Shape 62"/>
          <p:cNvSpPr/>
          <p:nvPr/>
        </p:nvSpPr>
        <p:spPr>
          <a:xfrm>
            <a:off x="6949440" y="4069080"/>
            <a:ext cx="1325880" cy="594360"/>
          </a:xfrm>
          <a:prstGeom prst="rect">
            <a:avLst/>
          </a:prstGeom>
          <a:solidFill>
            <a:srgbClr val="A5D6A7"/>
          </a:solidFill>
          <a:ln w="19050">
            <a:solidFill>
              <a:srgbClr val="F4F6F8"/>
            </a:solidFill>
            <a:prstDash val="solid"/>
          </a:ln>
        </p:spPr>
        <p:txBody>
          <a:bodyPr/>
          <a:lstStyle/>
          <a:p>
            <a:endParaRPr lang="en-US"/>
          </a:p>
        </p:txBody>
      </p:sp>
      <p:sp>
        <p:nvSpPr>
          <p:cNvPr id="65" name="Text 63"/>
          <p:cNvSpPr/>
          <p:nvPr/>
        </p:nvSpPr>
        <p:spPr>
          <a:xfrm>
            <a:off x="694944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339M</a:t>
            </a:r>
            <a:endParaRPr lang="en-US" sz="1600" dirty="0"/>
          </a:p>
        </p:txBody>
      </p:sp>
      <p:sp>
        <p:nvSpPr>
          <p:cNvPr id="66" name="Shape 64"/>
          <p:cNvSpPr/>
          <p:nvPr/>
        </p:nvSpPr>
        <p:spPr>
          <a:xfrm>
            <a:off x="457200" y="4709160"/>
            <a:ext cx="228600" cy="228600"/>
          </a:xfrm>
          <a:prstGeom prst="rect">
            <a:avLst/>
          </a:prstGeom>
          <a:solidFill>
            <a:srgbClr val="F0E6E6"/>
          </a:solidFill>
          <a:ln/>
        </p:spPr>
        <p:txBody>
          <a:bodyPr/>
          <a:lstStyle/>
          <a:p>
            <a:endParaRPr lang="en-US"/>
          </a:p>
        </p:txBody>
      </p:sp>
      <p:sp>
        <p:nvSpPr>
          <p:cNvPr id="67" name="Text 65"/>
          <p:cNvSpPr/>
          <p:nvPr/>
        </p:nvSpPr>
        <p:spPr>
          <a:xfrm>
            <a:off x="71323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&lt;2%</a:t>
            </a:r>
            <a:endParaRPr lang="en-US" sz="900" dirty="0"/>
          </a:p>
        </p:txBody>
      </p:sp>
      <p:sp>
        <p:nvSpPr>
          <p:cNvPr id="68" name="Shape 66"/>
          <p:cNvSpPr/>
          <p:nvPr/>
        </p:nvSpPr>
        <p:spPr>
          <a:xfrm>
            <a:off x="1463040" y="4709160"/>
            <a:ext cx="228600" cy="228600"/>
          </a:xfrm>
          <a:prstGeom prst="rect">
            <a:avLst/>
          </a:prstGeom>
          <a:solidFill>
            <a:srgbClr val="FEF3D5"/>
          </a:solidFill>
          <a:ln/>
        </p:spPr>
        <p:txBody>
          <a:bodyPr/>
          <a:lstStyle/>
          <a:p>
            <a:endParaRPr lang="en-US"/>
          </a:p>
        </p:txBody>
      </p:sp>
      <p:sp>
        <p:nvSpPr>
          <p:cNvPr id="69" name="Text 67"/>
          <p:cNvSpPr/>
          <p:nvPr/>
        </p:nvSpPr>
        <p:spPr>
          <a:xfrm>
            <a:off x="171907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2-3%</a:t>
            </a:r>
            <a:endParaRPr lang="en-US" sz="900" dirty="0"/>
          </a:p>
        </p:txBody>
      </p:sp>
      <p:sp>
        <p:nvSpPr>
          <p:cNvPr id="70" name="Shape 68"/>
          <p:cNvSpPr/>
          <p:nvPr/>
        </p:nvSpPr>
        <p:spPr>
          <a:xfrm>
            <a:off x="2468880" y="4709160"/>
            <a:ext cx="228600" cy="228600"/>
          </a:xfrm>
          <a:prstGeom prst="rect">
            <a:avLst/>
          </a:prstGeom>
          <a:solidFill>
            <a:srgbClr val="E8F5E9"/>
          </a:solidFill>
          <a:ln/>
        </p:spPr>
        <p:txBody>
          <a:bodyPr/>
          <a:lstStyle/>
          <a:p>
            <a:endParaRPr lang="en-US"/>
          </a:p>
        </p:txBody>
      </p:sp>
      <p:sp>
        <p:nvSpPr>
          <p:cNvPr id="71" name="Text 69"/>
          <p:cNvSpPr/>
          <p:nvPr/>
        </p:nvSpPr>
        <p:spPr>
          <a:xfrm>
            <a:off x="272491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3-4%</a:t>
            </a:r>
            <a:endParaRPr lang="en-US" sz="900" dirty="0"/>
          </a:p>
        </p:txBody>
      </p:sp>
      <p:sp>
        <p:nvSpPr>
          <p:cNvPr id="72" name="Shape 70"/>
          <p:cNvSpPr/>
          <p:nvPr/>
        </p:nvSpPr>
        <p:spPr>
          <a:xfrm>
            <a:off x="3474720" y="4709160"/>
            <a:ext cx="228600" cy="228600"/>
          </a:xfrm>
          <a:prstGeom prst="rect">
            <a:avLst/>
          </a:prstGeom>
          <a:solidFill>
            <a:srgbClr val="A5D6A7"/>
          </a:solidFill>
          <a:ln/>
        </p:spPr>
        <p:txBody>
          <a:bodyPr/>
          <a:lstStyle/>
          <a:p>
            <a:endParaRPr lang="en-US"/>
          </a:p>
        </p:txBody>
      </p:sp>
      <p:sp>
        <p:nvSpPr>
          <p:cNvPr id="73" name="Text 71"/>
          <p:cNvSpPr/>
          <p:nvPr/>
        </p:nvSpPr>
        <p:spPr>
          <a:xfrm>
            <a:off x="373075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4-5%</a:t>
            </a:r>
            <a:endParaRPr lang="en-US" sz="900" dirty="0"/>
          </a:p>
        </p:txBody>
      </p:sp>
      <p:sp>
        <p:nvSpPr>
          <p:cNvPr id="74" name="Shape 72"/>
          <p:cNvSpPr/>
          <p:nvPr/>
        </p:nvSpPr>
        <p:spPr>
          <a:xfrm>
            <a:off x="4480560" y="4709160"/>
            <a:ext cx="228600" cy="228600"/>
          </a:xfrm>
          <a:prstGeom prst="rect">
            <a:avLst/>
          </a:prstGeom>
          <a:solidFill>
            <a:srgbClr val="66BB6A"/>
          </a:solidFill>
          <a:ln/>
        </p:spPr>
        <p:txBody>
          <a:bodyPr/>
          <a:lstStyle/>
          <a:p>
            <a:endParaRPr lang="en-US"/>
          </a:p>
        </p:txBody>
      </p:sp>
      <p:sp>
        <p:nvSpPr>
          <p:cNvPr id="75" name="Text 73"/>
          <p:cNvSpPr/>
          <p:nvPr/>
        </p:nvSpPr>
        <p:spPr>
          <a:xfrm>
            <a:off x="473659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5-6%</a:t>
            </a:r>
            <a:endParaRPr lang="en-US" sz="900" dirty="0"/>
          </a:p>
        </p:txBody>
      </p:sp>
      <p:sp>
        <p:nvSpPr>
          <p:cNvPr id="76" name="Shape 74"/>
          <p:cNvSpPr/>
          <p:nvPr/>
        </p:nvSpPr>
        <p:spPr>
          <a:xfrm>
            <a:off x="5486400" y="4709160"/>
            <a:ext cx="228600" cy="228600"/>
          </a:xfrm>
          <a:prstGeom prst="rect">
            <a:avLst/>
          </a:prstGeom>
          <a:solidFill>
            <a:srgbClr val="2E7D32"/>
          </a:solidFill>
          <a:ln/>
        </p:spPr>
        <p:txBody>
          <a:bodyPr/>
          <a:lstStyle/>
          <a:p>
            <a:endParaRPr lang="en-US"/>
          </a:p>
        </p:txBody>
      </p:sp>
      <p:sp>
        <p:nvSpPr>
          <p:cNvPr id="77" name="Text 75"/>
          <p:cNvSpPr/>
          <p:nvPr/>
        </p:nvSpPr>
        <p:spPr>
          <a:xfrm>
            <a:off x="5742432" y="4709160"/>
            <a:ext cx="731520" cy="22860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&gt;6%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lIns="0" tIns="0" rIns="0" bIns="0" rtlCol="0" anchor="ctr"/>
          <a:lstStyle/>
          <a:p>
            <a:pPr marL="0" indent="0">
              <a:buNone/>
            </a:pPr>
            <a:r>
              <a:rPr lang="en-US" sz="2400" b="1" dirty="0">
                <a:solidFill>
                  <a:srgbClr val="1B2A4A"/>
                </a:solidFill>
                <a:latin typeface="Georgia" pitchFamily="34" charset="0"/>
                <a:ea typeface="Georgia" pitchFamily="34" charset="-122"/>
                <a:cs typeface="Georgia" pitchFamily="34" charset="-120"/>
              </a:rPr>
              <a:t>The Measurement Asymmetry: Unit Count</a:t>
            </a:r>
            <a:endParaRPr lang="en-US" sz="2400" dirty="0"/>
          </a:p>
        </p:txBody>
      </p:sp>
      <p:sp>
        <p:nvSpPr>
          <p:cNvPr id="3" name="Text 1"/>
          <p:cNvSpPr/>
          <p:nvPr/>
        </p:nvSpPr>
        <p:spPr>
          <a:xfrm>
            <a:off x="457200" y="548640"/>
            <a:ext cx="8229600" cy="274320"/>
          </a:xfrm>
          <a:prstGeom prst="rect">
            <a:avLst/>
          </a:prstGeom>
          <a:noFill/>
          <a:ln/>
        </p:spPr>
        <p:txBody>
          <a:bodyPr wrap="square" lIns="0" tIns="0" rIns="0" bIns="0" rtlCol="0" anchor="ctr"/>
          <a:lstStyle/>
          <a:p>
            <a:pPr marL="0" indent="0">
              <a:buNone/>
            </a:pPr>
            <a:r>
              <a:rPr lang="en-US" sz="1100" dirty="0">
                <a:solidFill>
                  <a:srgbClr val="5D6D7E"/>
                </a:solidFill>
                <a:latin typeface="Arial" pitchFamily="34" charset="0"/>
                <a:ea typeface="Arial" pitchFamily="34" charset="-122"/>
                <a:cs typeface="Arial" pitchFamily="34" charset="-120"/>
              </a:rPr>
              <a:t>Number of administrative leaves in each cell. More units = finer-grained data infrastructure.</a:t>
            </a:r>
            <a:endParaRPr lang="en-US" sz="1100" dirty="0"/>
          </a:p>
        </p:txBody>
      </p:sp>
      <p:sp>
        <p:nvSpPr>
          <p:cNvPr id="4" name="Text 2"/>
          <p:cNvSpPr/>
          <p:nvPr/>
        </p:nvSpPr>
        <p:spPr>
          <a:xfrm>
            <a:off x="164592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Poorest</a:t>
            </a:r>
            <a:endParaRPr lang="en-US" sz="1000" dirty="0"/>
          </a:p>
        </p:txBody>
      </p:sp>
      <p:sp>
        <p:nvSpPr>
          <p:cNvPr id="5" name="Text 3"/>
          <p:cNvSpPr/>
          <p:nvPr/>
        </p:nvSpPr>
        <p:spPr>
          <a:xfrm>
            <a:off x="297180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6" name="Text 4"/>
          <p:cNvSpPr/>
          <p:nvPr/>
        </p:nvSpPr>
        <p:spPr>
          <a:xfrm>
            <a:off x="429768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7" name="Text 5"/>
          <p:cNvSpPr/>
          <p:nvPr/>
        </p:nvSpPr>
        <p:spPr>
          <a:xfrm>
            <a:off x="562356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8" name="Text 6"/>
          <p:cNvSpPr/>
          <p:nvPr/>
        </p:nvSpPr>
        <p:spPr>
          <a:xfrm>
            <a:off x="6949440" y="1188720"/>
            <a:ext cx="1325880" cy="502920"/>
          </a:xfrm>
          <a:prstGeom prst="rect">
            <a:avLst/>
          </a:prstGeom>
          <a:solidFill>
            <a:srgbClr val="2F5496"/>
          </a:solidFill>
          <a:ln/>
        </p:spPr>
        <p:txBody>
          <a:bodyPr wrap="square" lIns="0" tIns="0" rIns="0" bIns="0" rtlCol="0" anchor="b"/>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Richest</a:t>
            </a:r>
            <a:endParaRPr lang="en-US" sz="1000" dirty="0"/>
          </a:p>
        </p:txBody>
      </p:sp>
      <p:sp>
        <p:nvSpPr>
          <p:cNvPr id="9" name="Text 7"/>
          <p:cNvSpPr/>
          <p:nvPr/>
        </p:nvSpPr>
        <p:spPr>
          <a:xfrm>
            <a:off x="1645920" y="777240"/>
            <a:ext cx="6629400" cy="27432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Per Capita Economy →</a:t>
            </a:r>
            <a:endParaRPr lang="en-US" sz="1100" dirty="0"/>
          </a:p>
        </p:txBody>
      </p:sp>
      <p:sp>
        <p:nvSpPr>
          <p:cNvPr id="10" name="Text 8"/>
          <p:cNvSpPr/>
          <p:nvPr/>
        </p:nvSpPr>
        <p:spPr>
          <a:xfrm>
            <a:off x="548640" y="169164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Q1</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Sparsest</a:t>
            </a:r>
            <a:endParaRPr lang="en-US" sz="1000" dirty="0"/>
          </a:p>
        </p:txBody>
      </p:sp>
      <p:sp>
        <p:nvSpPr>
          <p:cNvPr id="11" name="Text 9"/>
          <p:cNvSpPr/>
          <p:nvPr/>
        </p:nvSpPr>
        <p:spPr>
          <a:xfrm>
            <a:off x="548640" y="228600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Q2</a:t>
            </a:r>
            <a:endParaRPr lang="en-US" sz="1000" dirty="0"/>
          </a:p>
        </p:txBody>
      </p:sp>
      <p:sp>
        <p:nvSpPr>
          <p:cNvPr id="12" name="Text 10"/>
          <p:cNvSpPr/>
          <p:nvPr/>
        </p:nvSpPr>
        <p:spPr>
          <a:xfrm>
            <a:off x="548640" y="288036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Q3</a:t>
            </a:r>
            <a:endParaRPr lang="en-US" sz="1000" dirty="0"/>
          </a:p>
        </p:txBody>
      </p:sp>
      <p:sp>
        <p:nvSpPr>
          <p:cNvPr id="13" name="Text 11"/>
          <p:cNvSpPr/>
          <p:nvPr/>
        </p:nvSpPr>
        <p:spPr>
          <a:xfrm>
            <a:off x="548640" y="347472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Q4</a:t>
            </a:r>
            <a:endParaRPr lang="en-US" sz="1000" dirty="0"/>
          </a:p>
        </p:txBody>
      </p:sp>
      <p:sp>
        <p:nvSpPr>
          <p:cNvPr id="14" name="Text 12"/>
          <p:cNvSpPr/>
          <p:nvPr/>
        </p:nvSpPr>
        <p:spPr>
          <a:xfrm>
            <a:off x="548640" y="4069080"/>
            <a:ext cx="1051560" cy="594360"/>
          </a:xfrm>
          <a:prstGeom prst="rect">
            <a:avLst/>
          </a:prstGeom>
          <a:solidFill>
            <a:srgbClr val="3A6FB0"/>
          </a:solid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Q5</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Densest</a:t>
            </a:r>
            <a:endParaRPr lang="en-US" sz="1000" dirty="0"/>
          </a:p>
        </p:txBody>
      </p:sp>
      <p:sp>
        <p:nvSpPr>
          <p:cNvPr id="15" name="Text 13"/>
          <p:cNvSpPr/>
          <p:nvPr/>
        </p:nvSpPr>
        <p:spPr>
          <a:xfrm rot="16200000">
            <a:off x="91440" y="2583180"/>
            <a:ext cx="457200" cy="1371600"/>
          </a:xfrm>
          <a:prstGeom prst="rect">
            <a:avLst/>
          </a:prstGeom>
          <a:noFill/>
          <a:ln/>
        </p:spPr>
        <p:txBody>
          <a:bodyPr wrap="square" lIns="0" tIns="0" rIns="0" bIns="0" rtlCol="0" anchor="ctr"/>
          <a:lstStyle/>
          <a:p>
            <a:pPr marL="0" indent="0" algn="ctr">
              <a:buNone/>
            </a:pPr>
            <a:r>
              <a:rPr lang="en-US" sz="1100" b="1" dirty="0">
                <a:solidFill>
                  <a:srgbClr val="2F5496"/>
                </a:solidFill>
                <a:latin typeface="Arial" pitchFamily="34" charset="0"/>
                <a:ea typeface="Arial" pitchFamily="34" charset="-122"/>
                <a:cs typeface="Arial" pitchFamily="34" charset="-120"/>
              </a:rPr>
              <a:t>Density ↓</a:t>
            </a:r>
            <a:endParaRPr lang="en-US" sz="1100" dirty="0"/>
          </a:p>
        </p:txBody>
      </p:sp>
      <p:sp>
        <p:nvSpPr>
          <p:cNvPr id="16" name="Shape 14"/>
          <p:cNvSpPr/>
          <p:nvPr/>
        </p:nvSpPr>
        <p:spPr>
          <a:xfrm>
            <a:off x="1645920" y="1691640"/>
            <a:ext cx="1325880" cy="594360"/>
          </a:xfrm>
          <a:prstGeom prst="rect">
            <a:avLst/>
          </a:prstGeom>
          <a:solidFill>
            <a:srgbClr val="AED6F1"/>
          </a:solidFill>
          <a:ln w="19050">
            <a:solidFill>
              <a:srgbClr val="F4F6F8"/>
            </a:solidFill>
            <a:prstDash val="solid"/>
          </a:ln>
        </p:spPr>
        <p:txBody>
          <a:bodyPr/>
          <a:lstStyle/>
          <a:p>
            <a:endParaRPr lang="en-US"/>
          </a:p>
        </p:txBody>
      </p:sp>
      <p:sp>
        <p:nvSpPr>
          <p:cNvPr id="17" name="Text 15"/>
          <p:cNvSpPr/>
          <p:nvPr/>
        </p:nvSpPr>
        <p:spPr>
          <a:xfrm>
            <a:off x="164592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263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1.6M avg</a:t>
            </a:r>
            <a:endParaRPr lang="en-US" sz="1600" dirty="0"/>
          </a:p>
        </p:txBody>
      </p:sp>
      <p:sp>
        <p:nvSpPr>
          <p:cNvPr id="18" name="Shape 16"/>
          <p:cNvSpPr/>
          <p:nvPr/>
        </p:nvSpPr>
        <p:spPr>
          <a:xfrm>
            <a:off x="2971800" y="1691640"/>
            <a:ext cx="1325880" cy="594360"/>
          </a:xfrm>
          <a:prstGeom prst="rect">
            <a:avLst/>
          </a:prstGeom>
          <a:solidFill>
            <a:srgbClr val="D6EAF8"/>
          </a:solidFill>
          <a:ln w="19050">
            <a:solidFill>
              <a:srgbClr val="F4F6F8"/>
            </a:solidFill>
            <a:prstDash val="solid"/>
          </a:ln>
        </p:spPr>
        <p:txBody>
          <a:bodyPr/>
          <a:lstStyle/>
          <a:p>
            <a:endParaRPr lang="en-US"/>
          </a:p>
        </p:txBody>
      </p:sp>
      <p:sp>
        <p:nvSpPr>
          <p:cNvPr id="19" name="Text 17"/>
          <p:cNvSpPr/>
          <p:nvPr/>
        </p:nvSpPr>
        <p:spPr>
          <a:xfrm>
            <a:off x="297180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146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0.9M avg</a:t>
            </a:r>
            <a:endParaRPr lang="en-US" sz="1600" dirty="0"/>
          </a:p>
        </p:txBody>
      </p:sp>
      <p:sp>
        <p:nvSpPr>
          <p:cNvPr id="20" name="Shape 18"/>
          <p:cNvSpPr/>
          <p:nvPr/>
        </p:nvSpPr>
        <p:spPr>
          <a:xfrm>
            <a:off x="4297680" y="1691640"/>
            <a:ext cx="1325880" cy="594360"/>
          </a:xfrm>
          <a:prstGeom prst="rect">
            <a:avLst/>
          </a:prstGeom>
          <a:solidFill>
            <a:srgbClr val="5DADE2"/>
          </a:solidFill>
          <a:ln w="19050">
            <a:solidFill>
              <a:srgbClr val="F4F6F8"/>
            </a:solidFill>
            <a:prstDash val="solid"/>
          </a:ln>
        </p:spPr>
        <p:txBody>
          <a:bodyPr/>
          <a:lstStyle/>
          <a:p>
            <a:endParaRPr lang="en-US"/>
          </a:p>
        </p:txBody>
      </p:sp>
      <p:sp>
        <p:nvSpPr>
          <p:cNvPr id="21" name="Text 19"/>
          <p:cNvSpPr/>
          <p:nvPr/>
        </p:nvSpPr>
        <p:spPr>
          <a:xfrm>
            <a:off x="429768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350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0.8M avg</a:t>
            </a:r>
            <a:endParaRPr lang="en-US" sz="1600" dirty="0"/>
          </a:p>
        </p:txBody>
      </p:sp>
      <p:sp>
        <p:nvSpPr>
          <p:cNvPr id="22" name="Shape 20"/>
          <p:cNvSpPr/>
          <p:nvPr/>
        </p:nvSpPr>
        <p:spPr>
          <a:xfrm>
            <a:off x="5623560" y="1691640"/>
            <a:ext cx="1325880" cy="594360"/>
          </a:xfrm>
          <a:prstGeom prst="rect">
            <a:avLst/>
          </a:prstGeom>
          <a:solidFill>
            <a:srgbClr val="5DADE2"/>
          </a:solidFill>
          <a:ln w="19050">
            <a:solidFill>
              <a:srgbClr val="F4F6F8"/>
            </a:solidFill>
            <a:prstDash val="solid"/>
          </a:ln>
        </p:spPr>
        <p:txBody>
          <a:bodyPr/>
          <a:lstStyle/>
          <a:p>
            <a:endParaRPr lang="en-US"/>
          </a:p>
        </p:txBody>
      </p:sp>
      <p:sp>
        <p:nvSpPr>
          <p:cNvPr id="23" name="Text 21"/>
          <p:cNvSpPr/>
          <p:nvPr/>
        </p:nvSpPr>
        <p:spPr>
          <a:xfrm>
            <a:off x="5623560" y="169164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452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0.9M avg</a:t>
            </a:r>
            <a:endParaRPr lang="en-US" sz="1600" dirty="0"/>
          </a:p>
        </p:txBody>
      </p:sp>
      <p:sp>
        <p:nvSpPr>
          <p:cNvPr id="24" name="Shape 22"/>
          <p:cNvSpPr/>
          <p:nvPr/>
        </p:nvSpPr>
        <p:spPr>
          <a:xfrm>
            <a:off x="6949440" y="1691640"/>
            <a:ext cx="1325880" cy="594360"/>
          </a:xfrm>
          <a:prstGeom prst="rect">
            <a:avLst/>
          </a:prstGeom>
          <a:solidFill>
            <a:srgbClr val="1B4F72"/>
          </a:solidFill>
          <a:ln w="19050">
            <a:solidFill>
              <a:srgbClr val="F4F6F8"/>
            </a:solidFill>
            <a:prstDash val="solid"/>
          </a:ln>
        </p:spPr>
        <p:txBody>
          <a:bodyPr/>
          <a:lstStyle/>
          <a:p>
            <a:endParaRPr lang="en-US"/>
          </a:p>
        </p:txBody>
      </p:sp>
      <p:sp>
        <p:nvSpPr>
          <p:cNvPr id="25" name="Text 23"/>
          <p:cNvSpPr/>
          <p:nvPr/>
        </p:nvSpPr>
        <p:spPr>
          <a:xfrm>
            <a:off x="6949440" y="1691640"/>
            <a:ext cx="132588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2,350</a:t>
            </a:r>
            <a:endParaRPr lang="en-US" sz="1600" dirty="0"/>
          </a:p>
          <a:p>
            <a:pPr marL="0" indent="0" algn="ctr">
              <a:buNone/>
            </a:pPr>
            <a:r>
              <a:rPr lang="en-US" sz="900" dirty="0">
                <a:solidFill>
                  <a:srgbClr val="BBCCDD"/>
                </a:solidFill>
                <a:latin typeface="Arial" pitchFamily="34" charset="0"/>
                <a:ea typeface="Arial" pitchFamily="34" charset="-122"/>
                <a:cs typeface="Arial" pitchFamily="34" charset="-120"/>
              </a:rPr>
              <a:t>0.1M avg</a:t>
            </a:r>
            <a:endParaRPr lang="en-US" sz="1600" dirty="0"/>
          </a:p>
        </p:txBody>
      </p:sp>
      <p:sp>
        <p:nvSpPr>
          <p:cNvPr id="26" name="Shape 24"/>
          <p:cNvSpPr/>
          <p:nvPr/>
        </p:nvSpPr>
        <p:spPr>
          <a:xfrm>
            <a:off x="1645920" y="2286000"/>
            <a:ext cx="1325880" cy="594360"/>
          </a:xfrm>
          <a:prstGeom prst="rect">
            <a:avLst/>
          </a:prstGeom>
          <a:solidFill>
            <a:srgbClr val="D6EAF8"/>
          </a:solidFill>
          <a:ln w="19050">
            <a:solidFill>
              <a:srgbClr val="F4F6F8"/>
            </a:solidFill>
            <a:prstDash val="solid"/>
          </a:ln>
        </p:spPr>
        <p:txBody>
          <a:bodyPr/>
          <a:lstStyle/>
          <a:p>
            <a:endParaRPr lang="en-US"/>
          </a:p>
        </p:txBody>
      </p:sp>
      <p:sp>
        <p:nvSpPr>
          <p:cNvPr id="27" name="Text 25"/>
          <p:cNvSpPr/>
          <p:nvPr/>
        </p:nvSpPr>
        <p:spPr>
          <a:xfrm>
            <a:off x="164592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122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2.8M avg</a:t>
            </a:r>
            <a:endParaRPr lang="en-US" sz="1600" dirty="0"/>
          </a:p>
        </p:txBody>
      </p:sp>
      <p:sp>
        <p:nvSpPr>
          <p:cNvPr id="28" name="Shape 26"/>
          <p:cNvSpPr/>
          <p:nvPr/>
        </p:nvSpPr>
        <p:spPr>
          <a:xfrm>
            <a:off x="297180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29" name="Text 27"/>
          <p:cNvSpPr/>
          <p:nvPr/>
        </p:nvSpPr>
        <p:spPr>
          <a:xfrm>
            <a:off x="297180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161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2.2M avg</a:t>
            </a:r>
            <a:endParaRPr lang="en-US" sz="1600" dirty="0"/>
          </a:p>
        </p:txBody>
      </p:sp>
      <p:sp>
        <p:nvSpPr>
          <p:cNvPr id="30" name="Shape 28"/>
          <p:cNvSpPr/>
          <p:nvPr/>
        </p:nvSpPr>
        <p:spPr>
          <a:xfrm>
            <a:off x="429768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31" name="Text 29"/>
          <p:cNvSpPr/>
          <p:nvPr/>
        </p:nvSpPr>
        <p:spPr>
          <a:xfrm>
            <a:off x="429768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200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1.5M avg</a:t>
            </a:r>
            <a:endParaRPr lang="en-US" sz="1600" dirty="0"/>
          </a:p>
        </p:txBody>
      </p:sp>
      <p:sp>
        <p:nvSpPr>
          <p:cNvPr id="32" name="Shape 30"/>
          <p:cNvSpPr/>
          <p:nvPr/>
        </p:nvSpPr>
        <p:spPr>
          <a:xfrm>
            <a:off x="5623560" y="2286000"/>
            <a:ext cx="1325880" cy="594360"/>
          </a:xfrm>
          <a:prstGeom prst="rect">
            <a:avLst/>
          </a:prstGeom>
          <a:solidFill>
            <a:srgbClr val="AED6F1"/>
          </a:solidFill>
          <a:ln w="19050">
            <a:solidFill>
              <a:srgbClr val="F4F6F8"/>
            </a:solidFill>
            <a:prstDash val="solid"/>
          </a:ln>
        </p:spPr>
        <p:txBody>
          <a:bodyPr/>
          <a:lstStyle/>
          <a:p>
            <a:endParaRPr lang="en-US"/>
          </a:p>
        </p:txBody>
      </p:sp>
      <p:sp>
        <p:nvSpPr>
          <p:cNvPr id="33" name="Text 31"/>
          <p:cNvSpPr/>
          <p:nvPr/>
        </p:nvSpPr>
        <p:spPr>
          <a:xfrm>
            <a:off x="562356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173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1.7M avg</a:t>
            </a:r>
            <a:endParaRPr lang="en-US" sz="1600" dirty="0"/>
          </a:p>
        </p:txBody>
      </p:sp>
      <p:sp>
        <p:nvSpPr>
          <p:cNvPr id="34" name="Shape 32"/>
          <p:cNvSpPr/>
          <p:nvPr/>
        </p:nvSpPr>
        <p:spPr>
          <a:xfrm>
            <a:off x="6949440" y="2286000"/>
            <a:ext cx="1325880" cy="594360"/>
          </a:xfrm>
          <a:prstGeom prst="rect">
            <a:avLst/>
          </a:prstGeom>
          <a:solidFill>
            <a:srgbClr val="5DADE2"/>
          </a:solidFill>
          <a:ln w="19050">
            <a:solidFill>
              <a:srgbClr val="F4F6F8"/>
            </a:solidFill>
            <a:prstDash val="solid"/>
          </a:ln>
        </p:spPr>
        <p:txBody>
          <a:bodyPr/>
          <a:lstStyle/>
          <a:p>
            <a:endParaRPr lang="en-US"/>
          </a:p>
        </p:txBody>
      </p:sp>
      <p:sp>
        <p:nvSpPr>
          <p:cNvPr id="35" name="Text 33"/>
          <p:cNvSpPr/>
          <p:nvPr/>
        </p:nvSpPr>
        <p:spPr>
          <a:xfrm>
            <a:off x="6949440" y="228600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787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0.4M avg</a:t>
            </a:r>
            <a:endParaRPr lang="en-US" sz="1600" dirty="0"/>
          </a:p>
        </p:txBody>
      </p:sp>
      <p:sp>
        <p:nvSpPr>
          <p:cNvPr id="36" name="Shape 34"/>
          <p:cNvSpPr/>
          <p:nvPr/>
        </p:nvSpPr>
        <p:spPr>
          <a:xfrm>
            <a:off x="164592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37" name="Text 35"/>
          <p:cNvSpPr/>
          <p:nvPr/>
        </p:nvSpPr>
        <p:spPr>
          <a:xfrm>
            <a:off x="164592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90</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2.4M avg</a:t>
            </a:r>
            <a:endParaRPr lang="en-US" sz="1600" dirty="0"/>
          </a:p>
        </p:txBody>
      </p:sp>
      <p:sp>
        <p:nvSpPr>
          <p:cNvPr id="38" name="Shape 36"/>
          <p:cNvSpPr/>
          <p:nvPr/>
        </p:nvSpPr>
        <p:spPr>
          <a:xfrm>
            <a:off x="297180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39" name="Text 37"/>
          <p:cNvSpPr/>
          <p:nvPr/>
        </p:nvSpPr>
        <p:spPr>
          <a:xfrm>
            <a:off x="297180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128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2.5M avg</a:t>
            </a:r>
            <a:endParaRPr lang="en-US" sz="1600" dirty="0"/>
          </a:p>
        </p:txBody>
      </p:sp>
      <p:sp>
        <p:nvSpPr>
          <p:cNvPr id="40" name="Shape 38"/>
          <p:cNvSpPr/>
          <p:nvPr/>
        </p:nvSpPr>
        <p:spPr>
          <a:xfrm>
            <a:off x="4297680" y="2880360"/>
            <a:ext cx="1325880" cy="594360"/>
          </a:xfrm>
          <a:prstGeom prst="rect">
            <a:avLst/>
          </a:prstGeom>
          <a:solidFill>
            <a:srgbClr val="AED6F1"/>
          </a:solidFill>
          <a:ln w="19050">
            <a:solidFill>
              <a:srgbClr val="F4F6F8"/>
            </a:solidFill>
            <a:prstDash val="solid"/>
          </a:ln>
        </p:spPr>
        <p:txBody>
          <a:bodyPr/>
          <a:lstStyle/>
          <a:p>
            <a:endParaRPr lang="en-US"/>
          </a:p>
        </p:txBody>
      </p:sp>
      <p:sp>
        <p:nvSpPr>
          <p:cNvPr id="41" name="Text 39"/>
          <p:cNvSpPr/>
          <p:nvPr/>
        </p:nvSpPr>
        <p:spPr>
          <a:xfrm>
            <a:off x="429768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153</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1.7M avg</a:t>
            </a:r>
            <a:endParaRPr lang="en-US" sz="1600" dirty="0"/>
          </a:p>
        </p:txBody>
      </p:sp>
      <p:sp>
        <p:nvSpPr>
          <p:cNvPr id="42" name="Shape 40"/>
          <p:cNvSpPr/>
          <p:nvPr/>
        </p:nvSpPr>
        <p:spPr>
          <a:xfrm>
            <a:off x="5623560" y="2880360"/>
            <a:ext cx="1325880" cy="594360"/>
          </a:xfrm>
          <a:prstGeom prst="rect">
            <a:avLst/>
          </a:prstGeom>
          <a:solidFill>
            <a:srgbClr val="D6EAF8"/>
          </a:solidFill>
          <a:ln w="19050">
            <a:solidFill>
              <a:srgbClr val="F4F6F8"/>
            </a:solidFill>
            <a:prstDash val="solid"/>
          </a:ln>
        </p:spPr>
        <p:txBody>
          <a:bodyPr/>
          <a:lstStyle/>
          <a:p>
            <a:endParaRPr lang="en-US"/>
          </a:p>
        </p:txBody>
      </p:sp>
      <p:sp>
        <p:nvSpPr>
          <p:cNvPr id="43" name="Text 41"/>
          <p:cNvSpPr/>
          <p:nvPr/>
        </p:nvSpPr>
        <p:spPr>
          <a:xfrm>
            <a:off x="562356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132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3.2M avg</a:t>
            </a:r>
            <a:endParaRPr lang="en-US" sz="1600" dirty="0"/>
          </a:p>
        </p:txBody>
      </p:sp>
      <p:sp>
        <p:nvSpPr>
          <p:cNvPr id="44" name="Shape 42"/>
          <p:cNvSpPr/>
          <p:nvPr/>
        </p:nvSpPr>
        <p:spPr>
          <a:xfrm>
            <a:off x="6949440" y="2880360"/>
            <a:ext cx="1325880" cy="594360"/>
          </a:xfrm>
          <a:prstGeom prst="rect">
            <a:avLst/>
          </a:prstGeom>
          <a:solidFill>
            <a:srgbClr val="5DADE2"/>
          </a:solidFill>
          <a:ln w="19050">
            <a:solidFill>
              <a:srgbClr val="F4F6F8"/>
            </a:solidFill>
            <a:prstDash val="solid"/>
          </a:ln>
        </p:spPr>
        <p:txBody>
          <a:bodyPr/>
          <a:lstStyle/>
          <a:p>
            <a:endParaRPr lang="en-US"/>
          </a:p>
        </p:txBody>
      </p:sp>
      <p:sp>
        <p:nvSpPr>
          <p:cNvPr id="45" name="Text 43"/>
          <p:cNvSpPr/>
          <p:nvPr/>
        </p:nvSpPr>
        <p:spPr>
          <a:xfrm>
            <a:off x="6949440" y="288036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381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1.0M avg</a:t>
            </a:r>
            <a:endParaRPr lang="en-US" sz="1600" dirty="0"/>
          </a:p>
        </p:txBody>
      </p:sp>
      <p:sp>
        <p:nvSpPr>
          <p:cNvPr id="46" name="Shape 44"/>
          <p:cNvSpPr/>
          <p:nvPr/>
        </p:nvSpPr>
        <p:spPr>
          <a:xfrm>
            <a:off x="164592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47" name="Text 45"/>
          <p:cNvSpPr/>
          <p:nvPr/>
        </p:nvSpPr>
        <p:spPr>
          <a:xfrm>
            <a:off x="164592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97</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3.1M avg</a:t>
            </a:r>
            <a:endParaRPr lang="en-US" sz="1600" dirty="0"/>
          </a:p>
        </p:txBody>
      </p:sp>
      <p:sp>
        <p:nvSpPr>
          <p:cNvPr id="48" name="Shape 46"/>
          <p:cNvSpPr/>
          <p:nvPr/>
        </p:nvSpPr>
        <p:spPr>
          <a:xfrm>
            <a:off x="297180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49" name="Text 47"/>
          <p:cNvSpPr/>
          <p:nvPr/>
        </p:nvSpPr>
        <p:spPr>
          <a:xfrm>
            <a:off x="297180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108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3.7M avg</a:t>
            </a:r>
            <a:endParaRPr lang="en-US" sz="1600" dirty="0"/>
          </a:p>
        </p:txBody>
      </p:sp>
      <p:sp>
        <p:nvSpPr>
          <p:cNvPr id="50" name="Shape 48"/>
          <p:cNvSpPr/>
          <p:nvPr/>
        </p:nvSpPr>
        <p:spPr>
          <a:xfrm>
            <a:off x="429768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51" name="Text 49"/>
          <p:cNvSpPr/>
          <p:nvPr/>
        </p:nvSpPr>
        <p:spPr>
          <a:xfrm>
            <a:off x="429768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106</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2.3M avg</a:t>
            </a:r>
            <a:endParaRPr lang="en-US" sz="1600" dirty="0"/>
          </a:p>
        </p:txBody>
      </p:sp>
      <p:sp>
        <p:nvSpPr>
          <p:cNvPr id="52" name="Shape 50"/>
          <p:cNvSpPr/>
          <p:nvPr/>
        </p:nvSpPr>
        <p:spPr>
          <a:xfrm>
            <a:off x="5623560" y="3474720"/>
            <a:ext cx="1325880" cy="594360"/>
          </a:xfrm>
          <a:prstGeom prst="rect">
            <a:avLst/>
          </a:prstGeom>
          <a:solidFill>
            <a:srgbClr val="D6EAF8"/>
          </a:solidFill>
          <a:ln w="19050">
            <a:solidFill>
              <a:srgbClr val="F4F6F8"/>
            </a:solidFill>
            <a:prstDash val="solid"/>
          </a:ln>
        </p:spPr>
        <p:txBody>
          <a:bodyPr/>
          <a:lstStyle/>
          <a:p>
            <a:endParaRPr lang="en-US"/>
          </a:p>
        </p:txBody>
      </p:sp>
      <p:sp>
        <p:nvSpPr>
          <p:cNvPr id="53" name="Text 51"/>
          <p:cNvSpPr/>
          <p:nvPr/>
        </p:nvSpPr>
        <p:spPr>
          <a:xfrm>
            <a:off x="562356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72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5.3M avg</a:t>
            </a:r>
            <a:endParaRPr lang="en-US" sz="1600" dirty="0"/>
          </a:p>
        </p:txBody>
      </p:sp>
      <p:sp>
        <p:nvSpPr>
          <p:cNvPr id="54" name="Shape 52"/>
          <p:cNvSpPr/>
          <p:nvPr/>
        </p:nvSpPr>
        <p:spPr>
          <a:xfrm>
            <a:off x="6949440" y="3474720"/>
            <a:ext cx="1325880" cy="594360"/>
          </a:xfrm>
          <a:prstGeom prst="rect">
            <a:avLst/>
          </a:prstGeom>
          <a:solidFill>
            <a:srgbClr val="AED6F1"/>
          </a:solidFill>
          <a:ln w="19050">
            <a:solidFill>
              <a:srgbClr val="F4F6F8"/>
            </a:solidFill>
            <a:prstDash val="solid"/>
          </a:ln>
        </p:spPr>
        <p:txBody>
          <a:bodyPr/>
          <a:lstStyle/>
          <a:p>
            <a:endParaRPr lang="en-US"/>
          </a:p>
        </p:txBody>
      </p:sp>
      <p:sp>
        <p:nvSpPr>
          <p:cNvPr id="55" name="Text 53"/>
          <p:cNvSpPr/>
          <p:nvPr/>
        </p:nvSpPr>
        <p:spPr>
          <a:xfrm>
            <a:off x="6949440" y="347472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242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1.1M avg</a:t>
            </a:r>
            <a:endParaRPr lang="en-US" sz="1600" dirty="0"/>
          </a:p>
        </p:txBody>
      </p:sp>
      <p:sp>
        <p:nvSpPr>
          <p:cNvPr id="56" name="Shape 54"/>
          <p:cNvSpPr/>
          <p:nvPr/>
        </p:nvSpPr>
        <p:spPr>
          <a:xfrm>
            <a:off x="164592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57" name="Text 55"/>
          <p:cNvSpPr/>
          <p:nvPr/>
        </p:nvSpPr>
        <p:spPr>
          <a:xfrm>
            <a:off x="164592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62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3.9M avg</a:t>
            </a:r>
            <a:endParaRPr lang="en-US" sz="1600" dirty="0"/>
          </a:p>
        </p:txBody>
      </p:sp>
      <p:sp>
        <p:nvSpPr>
          <p:cNvPr id="58" name="Shape 56"/>
          <p:cNvSpPr/>
          <p:nvPr/>
        </p:nvSpPr>
        <p:spPr>
          <a:xfrm>
            <a:off x="297180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59" name="Text 57"/>
          <p:cNvSpPr/>
          <p:nvPr/>
        </p:nvSpPr>
        <p:spPr>
          <a:xfrm>
            <a:off x="297180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141</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3.2M avg</a:t>
            </a:r>
            <a:endParaRPr lang="en-US" sz="1600" dirty="0"/>
          </a:p>
        </p:txBody>
      </p:sp>
      <p:sp>
        <p:nvSpPr>
          <p:cNvPr id="60" name="Shape 58"/>
          <p:cNvSpPr/>
          <p:nvPr/>
        </p:nvSpPr>
        <p:spPr>
          <a:xfrm>
            <a:off x="4297680" y="4069080"/>
            <a:ext cx="1325880" cy="594360"/>
          </a:xfrm>
          <a:prstGeom prst="rect">
            <a:avLst/>
          </a:prstGeom>
          <a:solidFill>
            <a:srgbClr val="D6EAF8"/>
          </a:solidFill>
          <a:ln w="19050">
            <a:solidFill>
              <a:srgbClr val="F4F6F8"/>
            </a:solidFill>
            <a:prstDash val="solid"/>
          </a:ln>
        </p:spPr>
        <p:txBody>
          <a:bodyPr/>
          <a:lstStyle/>
          <a:p>
            <a:endParaRPr lang="en-US"/>
          </a:p>
        </p:txBody>
      </p:sp>
      <p:sp>
        <p:nvSpPr>
          <p:cNvPr id="61" name="Text 59"/>
          <p:cNvSpPr/>
          <p:nvPr/>
        </p:nvSpPr>
        <p:spPr>
          <a:xfrm>
            <a:off x="429768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98</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4.9M avg</a:t>
            </a:r>
            <a:endParaRPr lang="en-US" sz="1600" dirty="0"/>
          </a:p>
        </p:txBody>
      </p:sp>
      <p:sp>
        <p:nvSpPr>
          <p:cNvPr id="62" name="Shape 60"/>
          <p:cNvSpPr/>
          <p:nvPr/>
        </p:nvSpPr>
        <p:spPr>
          <a:xfrm>
            <a:off x="5623560" y="4069080"/>
            <a:ext cx="1325880" cy="594360"/>
          </a:xfrm>
          <a:prstGeom prst="rect">
            <a:avLst/>
          </a:prstGeom>
          <a:solidFill>
            <a:srgbClr val="EBF5FB"/>
          </a:solidFill>
          <a:ln w="19050">
            <a:solidFill>
              <a:srgbClr val="F4F6F8"/>
            </a:solidFill>
            <a:prstDash val="solid"/>
          </a:ln>
        </p:spPr>
        <p:txBody>
          <a:bodyPr/>
          <a:lstStyle/>
          <a:p>
            <a:endParaRPr lang="en-US"/>
          </a:p>
        </p:txBody>
      </p:sp>
      <p:sp>
        <p:nvSpPr>
          <p:cNvPr id="63" name="Text 61"/>
          <p:cNvSpPr/>
          <p:nvPr/>
        </p:nvSpPr>
        <p:spPr>
          <a:xfrm>
            <a:off x="562356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15</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5.0M avg</a:t>
            </a:r>
            <a:endParaRPr lang="en-US" sz="1600" dirty="0"/>
          </a:p>
        </p:txBody>
      </p:sp>
      <p:sp>
        <p:nvSpPr>
          <p:cNvPr id="64" name="Shape 62"/>
          <p:cNvSpPr/>
          <p:nvPr/>
        </p:nvSpPr>
        <p:spPr>
          <a:xfrm>
            <a:off x="6949440" y="4069080"/>
            <a:ext cx="1325880" cy="594360"/>
          </a:xfrm>
          <a:prstGeom prst="rect">
            <a:avLst/>
          </a:prstGeom>
          <a:solidFill>
            <a:srgbClr val="AED6F1"/>
          </a:solidFill>
          <a:ln w="19050">
            <a:solidFill>
              <a:srgbClr val="F4F6F8"/>
            </a:solidFill>
            <a:prstDash val="solid"/>
          </a:ln>
        </p:spPr>
        <p:txBody>
          <a:bodyPr/>
          <a:lstStyle/>
          <a:p>
            <a:endParaRPr lang="en-US"/>
          </a:p>
        </p:txBody>
      </p:sp>
      <p:sp>
        <p:nvSpPr>
          <p:cNvPr id="65" name="Text 63"/>
          <p:cNvSpPr/>
          <p:nvPr/>
        </p:nvSpPr>
        <p:spPr>
          <a:xfrm>
            <a:off x="6949440" y="4069080"/>
            <a:ext cx="1325880" cy="594360"/>
          </a:xfrm>
          <a:prstGeom prst="rect">
            <a:avLst/>
          </a:prstGeom>
          <a:noFill/>
          <a:ln/>
        </p:spPr>
        <p:txBody>
          <a:bodyPr wrap="square" lIns="0" tIns="0" rIns="0" bIns="0" rtlCol="0" anchor="ctr"/>
          <a:lstStyle/>
          <a:p>
            <a:pPr marL="0" indent="0" algn="ctr">
              <a:buNone/>
            </a:pPr>
            <a:r>
              <a:rPr lang="en-US" sz="1600" b="1" dirty="0">
                <a:solidFill>
                  <a:srgbClr val="2C3E50"/>
                </a:solidFill>
                <a:latin typeface="Arial" pitchFamily="34" charset="0"/>
                <a:ea typeface="Arial" pitchFamily="34" charset="-122"/>
                <a:cs typeface="Arial" pitchFamily="34" charset="-120"/>
              </a:rPr>
              <a:t>272</a:t>
            </a:r>
            <a:endParaRPr lang="en-US" sz="1600" dirty="0"/>
          </a:p>
          <a:p>
            <a:pPr marL="0" indent="0" algn="ctr">
              <a:buNone/>
            </a:pPr>
            <a:r>
              <a:rPr lang="en-US" sz="900" dirty="0">
                <a:solidFill>
                  <a:srgbClr val="5D6D7E"/>
                </a:solidFill>
                <a:latin typeface="Arial" pitchFamily="34" charset="0"/>
                <a:ea typeface="Arial" pitchFamily="34" charset="-122"/>
                <a:cs typeface="Arial" pitchFamily="34" charset="-120"/>
              </a:rPr>
              <a:t>1.2M avg</a:t>
            </a:r>
            <a:endParaRPr lang="en-US" sz="1600" dirty="0"/>
          </a:p>
        </p:txBody>
      </p:sp>
      <p:sp>
        <p:nvSpPr>
          <p:cNvPr id="66" name="Shape 64"/>
          <p:cNvSpPr/>
          <p:nvPr/>
        </p:nvSpPr>
        <p:spPr>
          <a:xfrm>
            <a:off x="457200" y="4864608"/>
            <a:ext cx="201168" cy="201168"/>
          </a:xfrm>
          <a:prstGeom prst="rect">
            <a:avLst/>
          </a:prstGeom>
          <a:solidFill>
            <a:srgbClr val="EBF5FB"/>
          </a:solidFill>
          <a:ln/>
        </p:spPr>
        <p:txBody>
          <a:bodyPr/>
          <a:lstStyle/>
          <a:p>
            <a:endParaRPr lang="en-US"/>
          </a:p>
        </p:txBody>
      </p:sp>
      <p:sp>
        <p:nvSpPr>
          <p:cNvPr id="67" name="Text 65"/>
          <p:cNvSpPr/>
          <p:nvPr/>
        </p:nvSpPr>
        <p:spPr>
          <a:xfrm>
            <a:off x="68580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&lt;50</a:t>
            </a:r>
            <a:endParaRPr lang="en-US" sz="900" dirty="0"/>
          </a:p>
        </p:txBody>
      </p:sp>
      <p:sp>
        <p:nvSpPr>
          <p:cNvPr id="68" name="Shape 66"/>
          <p:cNvSpPr/>
          <p:nvPr/>
        </p:nvSpPr>
        <p:spPr>
          <a:xfrm>
            <a:off x="1554480" y="4864608"/>
            <a:ext cx="201168" cy="201168"/>
          </a:xfrm>
          <a:prstGeom prst="rect">
            <a:avLst/>
          </a:prstGeom>
          <a:solidFill>
            <a:srgbClr val="D6EAF8"/>
          </a:solidFill>
          <a:ln/>
        </p:spPr>
        <p:txBody>
          <a:bodyPr/>
          <a:lstStyle/>
          <a:p>
            <a:endParaRPr lang="en-US"/>
          </a:p>
        </p:txBody>
      </p:sp>
      <p:sp>
        <p:nvSpPr>
          <p:cNvPr id="69" name="Text 67"/>
          <p:cNvSpPr/>
          <p:nvPr/>
        </p:nvSpPr>
        <p:spPr>
          <a:xfrm>
            <a:off x="178308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50-150</a:t>
            </a:r>
            <a:endParaRPr lang="en-US" sz="900" dirty="0"/>
          </a:p>
        </p:txBody>
      </p:sp>
      <p:sp>
        <p:nvSpPr>
          <p:cNvPr id="70" name="Shape 68"/>
          <p:cNvSpPr/>
          <p:nvPr/>
        </p:nvSpPr>
        <p:spPr>
          <a:xfrm>
            <a:off x="2651760" y="4864608"/>
            <a:ext cx="201168" cy="201168"/>
          </a:xfrm>
          <a:prstGeom prst="rect">
            <a:avLst/>
          </a:prstGeom>
          <a:solidFill>
            <a:srgbClr val="AED6F1"/>
          </a:solidFill>
          <a:ln/>
        </p:spPr>
        <p:txBody>
          <a:bodyPr/>
          <a:lstStyle/>
          <a:p>
            <a:endParaRPr lang="en-US"/>
          </a:p>
        </p:txBody>
      </p:sp>
      <p:sp>
        <p:nvSpPr>
          <p:cNvPr id="71" name="Text 69"/>
          <p:cNvSpPr/>
          <p:nvPr/>
        </p:nvSpPr>
        <p:spPr>
          <a:xfrm>
            <a:off x="288036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150-300</a:t>
            </a:r>
            <a:endParaRPr lang="en-US" sz="900" dirty="0"/>
          </a:p>
        </p:txBody>
      </p:sp>
      <p:sp>
        <p:nvSpPr>
          <p:cNvPr id="72" name="Shape 70"/>
          <p:cNvSpPr/>
          <p:nvPr/>
        </p:nvSpPr>
        <p:spPr>
          <a:xfrm>
            <a:off x="3749040" y="4864608"/>
            <a:ext cx="201168" cy="201168"/>
          </a:xfrm>
          <a:prstGeom prst="rect">
            <a:avLst/>
          </a:prstGeom>
          <a:solidFill>
            <a:srgbClr val="5DADE2"/>
          </a:solidFill>
          <a:ln/>
        </p:spPr>
        <p:txBody>
          <a:bodyPr/>
          <a:lstStyle/>
          <a:p>
            <a:endParaRPr lang="en-US"/>
          </a:p>
        </p:txBody>
      </p:sp>
      <p:sp>
        <p:nvSpPr>
          <p:cNvPr id="73" name="Text 71"/>
          <p:cNvSpPr/>
          <p:nvPr/>
        </p:nvSpPr>
        <p:spPr>
          <a:xfrm>
            <a:off x="397764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300-800</a:t>
            </a:r>
            <a:endParaRPr lang="en-US" sz="900" dirty="0"/>
          </a:p>
        </p:txBody>
      </p:sp>
      <p:sp>
        <p:nvSpPr>
          <p:cNvPr id="74" name="Shape 72"/>
          <p:cNvSpPr/>
          <p:nvPr/>
        </p:nvSpPr>
        <p:spPr>
          <a:xfrm>
            <a:off x="4846320" y="4864608"/>
            <a:ext cx="201168" cy="201168"/>
          </a:xfrm>
          <a:prstGeom prst="rect">
            <a:avLst/>
          </a:prstGeom>
          <a:solidFill>
            <a:srgbClr val="2E86C1"/>
          </a:solidFill>
          <a:ln/>
        </p:spPr>
        <p:txBody>
          <a:bodyPr/>
          <a:lstStyle/>
          <a:p>
            <a:endParaRPr lang="en-US"/>
          </a:p>
        </p:txBody>
      </p:sp>
      <p:sp>
        <p:nvSpPr>
          <p:cNvPr id="75" name="Text 73"/>
          <p:cNvSpPr/>
          <p:nvPr/>
        </p:nvSpPr>
        <p:spPr>
          <a:xfrm>
            <a:off x="507492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800-1500</a:t>
            </a:r>
            <a:endParaRPr lang="en-US" sz="900" dirty="0"/>
          </a:p>
        </p:txBody>
      </p:sp>
      <p:sp>
        <p:nvSpPr>
          <p:cNvPr id="76" name="Shape 74"/>
          <p:cNvSpPr/>
          <p:nvPr/>
        </p:nvSpPr>
        <p:spPr>
          <a:xfrm>
            <a:off x="5943600" y="4864608"/>
            <a:ext cx="201168" cy="201168"/>
          </a:xfrm>
          <a:prstGeom prst="rect">
            <a:avLst/>
          </a:prstGeom>
          <a:solidFill>
            <a:srgbClr val="1B4F72"/>
          </a:solidFill>
          <a:ln/>
        </p:spPr>
        <p:txBody>
          <a:bodyPr/>
          <a:lstStyle/>
          <a:p>
            <a:endParaRPr lang="en-US"/>
          </a:p>
        </p:txBody>
      </p:sp>
      <p:sp>
        <p:nvSpPr>
          <p:cNvPr id="77" name="Text 75"/>
          <p:cNvSpPr/>
          <p:nvPr/>
        </p:nvSpPr>
        <p:spPr>
          <a:xfrm>
            <a:off x="6172200" y="4864608"/>
            <a:ext cx="822960" cy="201168"/>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&gt;1500</a:t>
            </a:r>
            <a:endParaRPr lang="en-US" sz="900" dirty="0"/>
          </a:p>
        </p:txBody>
      </p:sp>
      <p:sp>
        <p:nvSpPr>
          <p:cNvPr id="78" name="Shape 76"/>
          <p:cNvSpPr/>
          <p:nvPr/>
        </p:nvSpPr>
        <p:spPr>
          <a:xfrm>
            <a:off x="457200" y="4526280"/>
            <a:ext cx="8229600" cy="292608"/>
          </a:xfrm>
          <a:prstGeom prst="rect">
            <a:avLst/>
          </a:prstGeom>
          <a:solidFill>
            <a:srgbClr val="FFF3E0"/>
          </a:solidFill>
          <a:ln/>
        </p:spPr>
        <p:txBody>
          <a:bodyPr/>
          <a:lstStyle/>
          <a:p>
            <a:endParaRPr lang="en-US"/>
          </a:p>
        </p:txBody>
      </p:sp>
      <p:sp>
        <p:nvSpPr>
          <p:cNvPr id="79" name="Shape 77"/>
          <p:cNvSpPr/>
          <p:nvPr/>
        </p:nvSpPr>
        <p:spPr>
          <a:xfrm>
            <a:off x="457200" y="4526280"/>
            <a:ext cx="54864" cy="292608"/>
          </a:xfrm>
          <a:prstGeom prst="rect">
            <a:avLst/>
          </a:prstGeom>
          <a:solidFill>
            <a:srgbClr val="E67E22"/>
          </a:solidFill>
          <a:ln/>
        </p:spPr>
        <p:txBody>
          <a:bodyPr/>
          <a:lstStyle/>
          <a:p>
            <a:endParaRPr lang="en-US"/>
          </a:p>
        </p:txBody>
      </p:sp>
      <p:sp>
        <p:nvSpPr>
          <p:cNvPr id="80" name="Text 78"/>
          <p:cNvSpPr/>
          <p:nvPr/>
        </p:nvSpPr>
        <p:spPr>
          <a:xfrm>
            <a:off x="640080" y="4526280"/>
            <a:ext cx="7955280" cy="292608"/>
          </a:xfrm>
          <a:prstGeom prst="rect">
            <a:avLst/>
          </a:prstGeom>
          <a:noFill/>
          <a:ln/>
        </p:spPr>
        <p:txBody>
          <a:bodyPr wrap="square" lIns="0" tIns="0" rIns="0" bIns="0" rtlCol="0" anchor="ctr"/>
          <a:lstStyle/>
          <a:p>
            <a:pPr marL="0" indent="0">
              <a:buNone/>
            </a:pPr>
            <a:r>
              <a:rPr lang="en-US" sz="1100" b="1" dirty="0">
                <a:solidFill>
                  <a:srgbClr val="2C3E50"/>
                </a:solidFill>
                <a:latin typeface="Arial" pitchFamily="34" charset="0"/>
                <a:ea typeface="Arial" pitchFamily="34" charset="-122"/>
                <a:cs typeface="Arial" pitchFamily="34" charset="-120"/>
              </a:rPr>
              <a:t>Sparse + Rich: </a:t>
            </a:r>
            <a:r>
              <a:rPr lang="en-US" sz="1100" dirty="0">
                <a:solidFill>
                  <a:srgbClr val="5D6D7E"/>
                </a:solidFill>
                <a:latin typeface="Arial" pitchFamily="34" charset="0"/>
                <a:ea typeface="Arial" pitchFamily="34" charset="-122"/>
                <a:cs typeface="Arial" pitchFamily="34" charset="-120"/>
              </a:rPr>
              <a:t>2,350 units at 0.1M avg    </a:t>
            </a:r>
            <a:r>
              <a:rPr lang="en-US" sz="1100" b="1" dirty="0">
                <a:solidFill>
                  <a:srgbClr val="2C3E50"/>
                </a:solidFill>
                <a:latin typeface="Arial" pitchFamily="34" charset="0"/>
                <a:ea typeface="Arial" pitchFamily="34" charset="-122"/>
                <a:cs typeface="Arial" pitchFamily="34" charset="-120"/>
              </a:rPr>
              <a:t>Dense + Poor: </a:t>
            </a:r>
            <a:r>
              <a:rPr lang="en-US" sz="1100" dirty="0">
                <a:solidFill>
                  <a:srgbClr val="5D6D7E"/>
                </a:solidFill>
                <a:latin typeface="Arial" pitchFamily="34" charset="0"/>
                <a:ea typeface="Arial" pitchFamily="34" charset="-122"/>
                <a:cs typeface="Arial" pitchFamily="34" charset="-120"/>
              </a:rPr>
              <a:t>62 units at 3.9M avg — </a:t>
            </a:r>
            <a:r>
              <a:rPr lang="en-US" sz="1100" b="1" dirty="0">
                <a:solidFill>
                  <a:srgbClr val="C0392B"/>
                </a:solidFill>
                <a:latin typeface="Arial" pitchFamily="34" charset="0"/>
                <a:ea typeface="Arial" pitchFamily="34" charset="-122"/>
                <a:cs typeface="Arial" pitchFamily="34" charset="-120"/>
              </a:rPr>
              <a:t>38× less granular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India: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555 leaves</a:t>
            </a:r>
            <a:r>
              <a:rPr lang="en-US" sz="1300" dirty="0">
                <a:solidFill>
                  <a:srgbClr val="A0A0A0"/>
                </a:solidFill>
              </a:rPr>
              <a:t>  |  </a:t>
            </a:r>
            <a:r>
              <a:rPr lang="en-US" sz="1300" b="1" dirty="0">
                <a:solidFill>
                  <a:srgbClr val="FFFFFF"/>
                </a:solidFill>
              </a:rPr>
              <a:t>1.18B people</a:t>
            </a:r>
            <a:r>
              <a:rPr lang="en-US" sz="1300" dirty="0">
                <a:solidFill>
                  <a:srgbClr val="A0A0A0"/>
                </a:solidFill>
              </a:rPr>
              <a:t>  |  </a:t>
            </a:r>
            <a:r>
              <a:rPr lang="en-US" sz="1300" b="1" dirty="0">
                <a:solidFill>
                  <a:srgbClr val="E67E22"/>
                </a:solidFill>
              </a:rPr>
              <a:t>ρ = 0.020</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All of India falls within global Q1–Q3 for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15" name="Text 13"/>
          <p:cNvSpPr/>
          <p:nvPr/>
        </p:nvSpPr>
        <p:spPr>
          <a:xfrm>
            <a:off x="1005840"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1.7</a:t>
            </a:r>
            <a:endParaRPr lang="en-US" sz="900" dirty="0"/>
          </a:p>
        </p:txBody>
      </p:sp>
      <p:sp>
        <p:nvSpPr>
          <p:cNvPr id="16" name="Text 14"/>
          <p:cNvSpPr/>
          <p:nvPr/>
        </p:nvSpPr>
        <p:spPr>
          <a:xfrm>
            <a:off x="1005840"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0.1%</a:t>
            </a:r>
            <a:endParaRPr lang="en-US" sz="700" dirty="0"/>
          </a:p>
        </p:txBody>
      </p:sp>
      <p:sp>
        <p:nvSpPr>
          <p:cNvPr id="17" name="Shape 15"/>
          <p:cNvSpPr/>
          <p:nvPr/>
        </p:nvSpPr>
        <p:spPr>
          <a:xfrm>
            <a:off x="1709928"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18" name="Text 16"/>
          <p:cNvSpPr/>
          <p:nvPr/>
        </p:nvSpPr>
        <p:spPr>
          <a:xfrm>
            <a:off x="1709928"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a:t>
            </a:r>
            <a:endParaRPr lang="en-US" sz="900" dirty="0"/>
          </a:p>
        </p:txBody>
      </p:sp>
      <p:sp>
        <p:nvSpPr>
          <p:cNvPr id="19" name="Text 17"/>
          <p:cNvSpPr/>
          <p:nvPr/>
        </p:nvSpPr>
        <p:spPr>
          <a:xfrm>
            <a:off x="1709928"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0.3%</a:t>
            </a:r>
            <a:endParaRPr lang="en-US" sz="700" dirty="0"/>
          </a:p>
        </p:txBody>
      </p:sp>
      <p:sp>
        <p:nvSpPr>
          <p:cNvPr id="20" name="Shape 18"/>
          <p:cNvSpPr/>
          <p:nvPr/>
        </p:nvSpPr>
        <p:spPr>
          <a:xfrm>
            <a:off x="2414016"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21" name="Text 19"/>
          <p:cNvSpPr/>
          <p:nvPr/>
        </p:nvSpPr>
        <p:spPr>
          <a:xfrm>
            <a:off x="2414016"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2.2</a:t>
            </a:r>
            <a:endParaRPr lang="en-US" sz="900" dirty="0"/>
          </a:p>
        </p:txBody>
      </p:sp>
      <p:sp>
        <p:nvSpPr>
          <p:cNvPr id="22" name="Text 20"/>
          <p:cNvSpPr/>
          <p:nvPr/>
        </p:nvSpPr>
        <p:spPr>
          <a:xfrm>
            <a:off x="2414016"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0.2%</a:t>
            </a:r>
            <a:endParaRPr lang="en-US" sz="700" dirty="0"/>
          </a:p>
        </p:txBody>
      </p:sp>
      <p:sp>
        <p:nvSpPr>
          <p:cNvPr id="23" name="Shape 21"/>
          <p:cNvSpPr/>
          <p:nvPr/>
        </p:nvSpPr>
        <p:spPr>
          <a:xfrm>
            <a:off x="3118104"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4" name="Text 22"/>
          <p:cNvSpPr/>
          <p:nvPr/>
        </p:nvSpPr>
        <p:spPr>
          <a:xfrm>
            <a:off x="3118104"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3822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6" name="Text 24"/>
          <p:cNvSpPr/>
          <p:nvPr/>
        </p:nvSpPr>
        <p:spPr>
          <a:xfrm>
            <a:off x="3822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8" name="Shape 26"/>
          <p:cNvSpPr/>
          <p:nvPr/>
        </p:nvSpPr>
        <p:spPr>
          <a:xfrm>
            <a:off x="1005840"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29" name="Text 27"/>
          <p:cNvSpPr/>
          <p:nvPr/>
        </p:nvSpPr>
        <p:spPr>
          <a:xfrm>
            <a:off x="1005840"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24.6</a:t>
            </a:r>
            <a:endParaRPr lang="en-US" sz="900" dirty="0"/>
          </a:p>
        </p:txBody>
      </p:sp>
      <p:sp>
        <p:nvSpPr>
          <p:cNvPr id="30" name="Text 28"/>
          <p:cNvSpPr/>
          <p:nvPr/>
        </p:nvSpPr>
        <p:spPr>
          <a:xfrm>
            <a:off x="1005840"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31" name="Shape 29"/>
          <p:cNvSpPr/>
          <p:nvPr/>
        </p:nvSpPr>
        <p:spPr>
          <a:xfrm>
            <a:off x="1709928"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2" name="Text 30"/>
          <p:cNvSpPr/>
          <p:nvPr/>
        </p:nvSpPr>
        <p:spPr>
          <a:xfrm>
            <a:off x="1709928"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55.0</a:t>
            </a:r>
            <a:endParaRPr lang="en-US" sz="900" dirty="0"/>
          </a:p>
        </p:txBody>
      </p:sp>
      <p:sp>
        <p:nvSpPr>
          <p:cNvPr id="33" name="Text 31"/>
          <p:cNvSpPr/>
          <p:nvPr/>
        </p:nvSpPr>
        <p:spPr>
          <a:xfrm>
            <a:off x="1709928"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4.6%</a:t>
            </a:r>
            <a:endParaRPr lang="en-US" sz="700" dirty="0"/>
          </a:p>
        </p:txBody>
      </p:sp>
      <p:sp>
        <p:nvSpPr>
          <p:cNvPr id="34" name="Shape 32"/>
          <p:cNvSpPr/>
          <p:nvPr/>
        </p:nvSpPr>
        <p:spPr>
          <a:xfrm>
            <a:off x="2414016"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5" name="Text 33"/>
          <p:cNvSpPr/>
          <p:nvPr/>
        </p:nvSpPr>
        <p:spPr>
          <a:xfrm>
            <a:off x="2414016"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26.9</a:t>
            </a:r>
            <a:endParaRPr lang="en-US" sz="900" dirty="0"/>
          </a:p>
        </p:txBody>
      </p:sp>
      <p:sp>
        <p:nvSpPr>
          <p:cNvPr id="36" name="Text 34"/>
          <p:cNvSpPr/>
          <p:nvPr/>
        </p:nvSpPr>
        <p:spPr>
          <a:xfrm>
            <a:off x="2414016"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2.3%</a:t>
            </a:r>
            <a:endParaRPr lang="en-US" sz="700" dirty="0"/>
          </a:p>
        </p:txBody>
      </p:sp>
      <p:sp>
        <p:nvSpPr>
          <p:cNvPr id="37" name="Shape 35"/>
          <p:cNvSpPr/>
          <p:nvPr/>
        </p:nvSpPr>
        <p:spPr>
          <a:xfrm>
            <a:off x="3118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8" name="Text 36"/>
          <p:cNvSpPr/>
          <p:nvPr/>
        </p:nvSpPr>
        <p:spPr>
          <a:xfrm>
            <a:off x="3118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3822192"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40" name="Text 38"/>
          <p:cNvSpPr/>
          <p:nvPr/>
        </p:nvSpPr>
        <p:spPr>
          <a:xfrm>
            <a:off x="3822192"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1" name="Text 39"/>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42" name="Shape 40"/>
          <p:cNvSpPr/>
          <p:nvPr/>
        </p:nvSpPr>
        <p:spPr>
          <a:xfrm>
            <a:off x="1005840"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43" name="Text 41"/>
          <p:cNvSpPr/>
          <p:nvPr/>
        </p:nvSpPr>
        <p:spPr>
          <a:xfrm>
            <a:off x="1005840"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50.6</a:t>
            </a:r>
            <a:endParaRPr lang="en-US" sz="900" dirty="0"/>
          </a:p>
        </p:txBody>
      </p:sp>
      <p:sp>
        <p:nvSpPr>
          <p:cNvPr id="44" name="Text 42"/>
          <p:cNvSpPr/>
          <p:nvPr/>
        </p:nvSpPr>
        <p:spPr>
          <a:xfrm>
            <a:off x="1005840"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4.3%</a:t>
            </a:r>
            <a:endParaRPr lang="en-US" sz="700" dirty="0"/>
          </a:p>
        </p:txBody>
      </p:sp>
      <p:sp>
        <p:nvSpPr>
          <p:cNvPr id="45" name="Shape 43"/>
          <p:cNvSpPr/>
          <p:nvPr/>
        </p:nvSpPr>
        <p:spPr>
          <a:xfrm>
            <a:off x="1709928" y="2514600"/>
            <a:ext cx="704088" cy="502920"/>
          </a:xfrm>
          <a:prstGeom prst="rect">
            <a:avLst/>
          </a:prstGeom>
          <a:solidFill>
            <a:srgbClr val="FBD38D"/>
          </a:solidFill>
          <a:ln w="6350">
            <a:solidFill>
              <a:srgbClr val="DDDDDD"/>
            </a:solidFill>
            <a:prstDash val="solid"/>
          </a:ln>
        </p:spPr>
        <p:txBody>
          <a:bodyPr/>
          <a:lstStyle/>
          <a:p>
            <a:endParaRPr lang="en-US"/>
          </a:p>
        </p:txBody>
      </p:sp>
      <p:sp>
        <p:nvSpPr>
          <p:cNvPr id="46" name="Text 44"/>
          <p:cNvSpPr/>
          <p:nvPr/>
        </p:nvSpPr>
        <p:spPr>
          <a:xfrm>
            <a:off x="1709928"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163.3</a:t>
            </a:r>
            <a:endParaRPr lang="en-US" sz="900" dirty="0"/>
          </a:p>
        </p:txBody>
      </p:sp>
      <p:sp>
        <p:nvSpPr>
          <p:cNvPr id="47" name="Text 45"/>
          <p:cNvSpPr/>
          <p:nvPr/>
        </p:nvSpPr>
        <p:spPr>
          <a:xfrm>
            <a:off x="1709928"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13.8%</a:t>
            </a:r>
            <a:endParaRPr lang="en-US" sz="700" dirty="0"/>
          </a:p>
        </p:txBody>
      </p:sp>
      <p:sp>
        <p:nvSpPr>
          <p:cNvPr id="48" name="Shape 46"/>
          <p:cNvSpPr/>
          <p:nvPr/>
        </p:nvSpPr>
        <p:spPr>
          <a:xfrm>
            <a:off x="2414016" y="2514600"/>
            <a:ext cx="704088" cy="502920"/>
          </a:xfrm>
          <a:prstGeom prst="rect">
            <a:avLst/>
          </a:prstGeom>
          <a:solidFill>
            <a:srgbClr val="FEEBC8"/>
          </a:solidFill>
          <a:ln w="6350">
            <a:solidFill>
              <a:srgbClr val="DDDDDD"/>
            </a:solidFill>
            <a:prstDash val="solid"/>
          </a:ln>
        </p:spPr>
        <p:txBody>
          <a:bodyPr/>
          <a:lstStyle/>
          <a:p>
            <a:endParaRPr lang="en-US"/>
          </a:p>
        </p:txBody>
      </p:sp>
      <p:sp>
        <p:nvSpPr>
          <p:cNvPr id="49" name="Text 47"/>
          <p:cNvSpPr/>
          <p:nvPr/>
        </p:nvSpPr>
        <p:spPr>
          <a:xfrm>
            <a:off x="2414016"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80.7</a:t>
            </a:r>
            <a:endParaRPr lang="en-US" sz="900" dirty="0"/>
          </a:p>
        </p:txBody>
      </p:sp>
      <p:sp>
        <p:nvSpPr>
          <p:cNvPr id="50" name="Text 48"/>
          <p:cNvSpPr/>
          <p:nvPr/>
        </p:nvSpPr>
        <p:spPr>
          <a:xfrm>
            <a:off x="2414016"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6.8%</a:t>
            </a:r>
            <a:endParaRPr lang="en-US" sz="700" dirty="0"/>
          </a:p>
        </p:txBody>
      </p:sp>
      <p:sp>
        <p:nvSpPr>
          <p:cNvPr id="51" name="Shape 49"/>
          <p:cNvSpPr/>
          <p:nvPr/>
        </p:nvSpPr>
        <p:spPr>
          <a:xfrm>
            <a:off x="3118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52" name="Text 50"/>
          <p:cNvSpPr/>
          <p:nvPr/>
        </p:nvSpPr>
        <p:spPr>
          <a:xfrm>
            <a:off x="3118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3822192"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54" name="Text 52"/>
          <p:cNvSpPr/>
          <p:nvPr/>
        </p:nvSpPr>
        <p:spPr>
          <a:xfrm>
            <a:off x="3822192"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5" name="Text 53"/>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6" name="Shape 54"/>
          <p:cNvSpPr/>
          <p:nvPr/>
        </p:nvSpPr>
        <p:spPr>
          <a:xfrm>
            <a:off x="1005840"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57" name="Text 55"/>
          <p:cNvSpPr/>
          <p:nvPr/>
        </p:nvSpPr>
        <p:spPr>
          <a:xfrm>
            <a:off x="1005840"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75.9</a:t>
            </a:r>
            <a:endParaRPr lang="en-US" sz="900" dirty="0"/>
          </a:p>
        </p:txBody>
      </p:sp>
      <p:sp>
        <p:nvSpPr>
          <p:cNvPr id="58" name="Text 56"/>
          <p:cNvSpPr/>
          <p:nvPr/>
        </p:nvSpPr>
        <p:spPr>
          <a:xfrm>
            <a:off x="1005840"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6.4%</a:t>
            </a:r>
            <a:endParaRPr lang="en-US" sz="700" dirty="0"/>
          </a:p>
        </p:txBody>
      </p:sp>
      <p:sp>
        <p:nvSpPr>
          <p:cNvPr id="59" name="Shape 57"/>
          <p:cNvSpPr/>
          <p:nvPr/>
        </p:nvSpPr>
        <p:spPr>
          <a:xfrm>
            <a:off x="1709928" y="3017520"/>
            <a:ext cx="704088" cy="502920"/>
          </a:xfrm>
          <a:prstGeom prst="rect">
            <a:avLst/>
          </a:prstGeom>
          <a:solidFill>
            <a:srgbClr val="F6AD55"/>
          </a:solidFill>
          <a:ln w="6350">
            <a:solidFill>
              <a:srgbClr val="DDDDDD"/>
            </a:solidFill>
            <a:prstDash val="solid"/>
          </a:ln>
        </p:spPr>
        <p:txBody>
          <a:bodyPr/>
          <a:lstStyle/>
          <a:p>
            <a:endParaRPr lang="en-US"/>
          </a:p>
        </p:txBody>
      </p:sp>
      <p:sp>
        <p:nvSpPr>
          <p:cNvPr id="60" name="Text 58"/>
          <p:cNvSpPr/>
          <p:nvPr/>
        </p:nvSpPr>
        <p:spPr>
          <a:xfrm>
            <a:off x="1709928"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197.0</a:t>
            </a:r>
            <a:endParaRPr lang="en-US" sz="900" dirty="0"/>
          </a:p>
        </p:txBody>
      </p:sp>
      <p:sp>
        <p:nvSpPr>
          <p:cNvPr id="61" name="Text 59"/>
          <p:cNvSpPr/>
          <p:nvPr/>
        </p:nvSpPr>
        <p:spPr>
          <a:xfrm>
            <a:off x="1709928"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16.6%</a:t>
            </a:r>
            <a:endParaRPr lang="en-US" sz="700" dirty="0"/>
          </a:p>
        </p:txBody>
      </p:sp>
      <p:sp>
        <p:nvSpPr>
          <p:cNvPr id="62" name="Shape 60"/>
          <p:cNvSpPr/>
          <p:nvPr/>
        </p:nvSpPr>
        <p:spPr>
          <a:xfrm>
            <a:off x="2414016"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63" name="Text 61"/>
          <p:cNvSpPr/>
          <p:nvPr/>
        </p:nvSpPr>
        <p:spPr>
          <a:xfrm>
            <a:off x="2414016"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87.4</a:t>
            </a:r>
            <a:endParaRPr lang="en-US" sz="900" dirty="0"/>
          </a:p>
        </p:txBody>
      </p:sp>
      <p:sp>
        <p:nvSpPr>
          <p:cNvPr id="64" name="Text 62"/>
          <p:cNvSpPr/>
          <p:nvPr/>
        </p:nvSpPr>
        <p:spPr>
          <a:xfrm>
            <a:off x="2414016"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7.4%</a:t>
            </a:r>
            <a:endParaRPr lang="en-US" sz="700" dirty="0"/>
          </a:p>
        </p:txBody>
      </p:sp>
      <p:sp>
        <p:nvSpPr>
          <p:cNvPr id="65" name="Shape 63"/>
          <p:cNvSpPr/>
          <p:nvPr/>
        </p:nvSpPr>
        <p:spPr>
          <a:xfrm>
            <a:off x="3118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66" name="Text 64"/>
          <p:cNvSpPr/>
          <p:nvPr/>
        </p:nvSpPr>
        <p:spPr>
          <a:xfrm>
            <a:off x="3118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3822192"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68" name="Text 66"/>
          <p:cNvSpPr/>
          <p:nvPr/>
        </p:nvSpPr>
        <p:spPr>
          <a:xfrm>
            <a:off x="3822192"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9" name="Text 67"/>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70" name="Shape 68"/>
          <p:cNvSpPr/>
          <p:nvPr/>
        </p:nvSpPr>
        <p:spPr>
          <a:xfrm>
            <a:off x="1005840" y="3520440"/>
            <a:ext cx="704088" cy="502920"/>
          </a:xfrm>
          <a:prstGeom prst="rect">
            <a:avLst/>
          </a:prstGeom>
          <a:solidFill>
            <a:srgbClr val="FFF3C4"/>
          </a:solidFill>
          <a:ln w="6350">
            <a:solidFill>
              <a:srgbClr val="DDDDDD"/>
            </a:solidFill>
            <a:prstDash val="solid"/>
          </a:ln>
        </p:spPr>
        <p:txBody>
          <a:bodyPr/>
          <a:lstStyle/>
          <a:p>
            <a:endParaRPr lang="en-US"/>
          </a:p>
        </p:txBody>
      </p:sp>
      <p:sp>
        <p:nvSpPr>
          <p:cNvPr id="71" name="Text 69"/>
          <p:cNvSpPr/>
          <p:nvPr/>
        </p:nvSpPr>
        <p:spPr>
          <a:xfrm>
            <a:off x="1005840"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55.0</a:t>
            </a:r>
            <a:endParaRPr lang="en-US" sz="900" dirty="0"/>
          </a:p>
        </p:txBody>
      </p:sp>
      <p:sp>
        <p:nvSpPr>
          <p:cNvPr id="72" name="Text 70"/>
          <p:cNvSpPr/>
          <p:nvPr/>
        </p:nvSpPr>
        <p:spPr>
          <a:xfrm>
            <a:off x="1005840"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4.6%</a:t>
            </a:r>
            <a:endParaRPr lang="en-US" sz="700" dirty="0"/>
          </a:p>
        </p:txBody>
      </p:sp>
      <p:sp>
        <p:nvSpPr>
          <p:cNvPr id="73" name="Shape 71"/>
          <p:cNvSpPr/>
          <p:nvPr/>
        </p:nvSpPr>
        <p:spPr>
          <a:xfrm>
            <a:off x="1709928" y="3520440"/>
            <a:ext cx="704088" cy="502920"/>
          </a:xfrm>
          <a:prstGeom prst="rect">
            <a:avLst/>
          </a:prstGeom>
          <a:solidFill>
            <a:srgbClr val="ED8936"/>
          </a:solidFill>
          <a:ln w="6350">
            <a:solidFill>
              <a:srgbClr val="DDDDDD"/>
            </a:solidFill>
            <a:prstDash val="solid"/>
          </a:ln>
        </p:spPr>
        <p:txBody>
          <a:bodyPr/>
          <a:lstStyle/>
          <a:p>
            <a:endParaRPr lang="en-US"/>
          </a:p>
        </p:txBody>
      </p:sp>
      <p:sp>
        <p:nvSpPr>
          <p:cNvPr id="74" name="Text 72"/>
          <p:cNvSpPr/>
          <p:nvPr/>
        </p:nvSpPr>
        <p:spPr>
          <a:xfrm>
            <a:off x="1709928" y="352044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252.2</a:t>
            </a:r>
            <a:endParaRPr lang="en-US" sz="900" dirty="0"/>
          </a:p>
        </p:txBody>
      </p:sp>
      <p:sp>
        <p:nvSpPr>
          <p:cNvPr id="75" name="Text 73"/>
          <p:cNvSpPr/>
          <p:nvPr/>
        </p:nvSpPr>
        <p:spPr>
          <a:xfrm>
            <a:off x="1709928" y="377190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21.3%</a:t>
            </a:r>
            <a:endParaRPr lang="en-US" sz="700" dirty="0"/>
          </a:p>
        </p:txBody>
      </p:sp>
      <p:sp>
        <p:nvSpPr>
          <p:cNvPr id="76" name="Shape 74"/>
          <p:cNvSpPr/>
          <p:nvPr/>
        </p:nvSpPr>
        <p:spPr>
          <a:xfrm>
            <a:off x="2414016" y="3520440"/>
            <a:ext cx="704088" cy="502920"/>
          </a:xfrm>
          <a:prstGeom prst="rect">
            <a:avLst/>
          </a:prstGeom>
          <a:solidFill>
            <a:srgbClr val="FEEBC8"/>
          </a:solidFill>
          <a:ln w="6350">
            <a:solidFill>
              <a:srgbClr val="DDDDDD"/>
            </a:solidFill>
            <a:prstDash val="solid"/>
          </a:ln>
        </p:spPr>
        <p:txBody>
          <a:bodyPr/>
          <a:lstStyle/>
          <a:p>
            <a:endParaRPr lang="en-US"/>
          </a:p>
        </p:txBody>
      </p:sp>
      <p:sp>
        <p:nvSpPr>
          <p:cNvPr id="77" name="Text 75"/>
          <p:cNvSpPr/>
          <p:nvPr/>
        </p:nvSpPr>
        <p:spPr>
          <a:xfrm>
            <a:off x="2414016"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109.3</a:t>
            </a:r>
            <a:endParaRPr lang="en-US" sz="900" dirty="0"/>
          </a:p>
        </p:txBody>
      </p:sp>
      <p:sp>
        <p:nvSpPr>
          <p:cNvPr id="78" name="Text 76"/>
          <p:cNvSpPr/>
          <p:nvPr/>
        </p:nvSpPr>
        <p:spPr>
          <a:xfrm>
            <a:off x="2414016"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9.2%</a:t>
            </a:r>
            <a:endParaRPr lang="en-US" sz="700" dirty="0"/>
          </a:p>
        </p:txBody>
      </p:sp>
      <p:sp>
        <p:nvSpPr>
          <p:cNvPr id="79" name="Shape 77"/>
          <p:cNvSpPr/>
          <p:nvPr/>
        </p:nvSpPr>
        <p:spPr>
          <a:xfrm>
            <a:off x="3118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80" name="Text 78"/>
          <p:cNvSpPr/>
          <p:nvPr/>
        </p:nvSpPr>
        <p:spPr>
          <a:xfrm>
            <a:off x="3118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1" name="Shape 79"/>
          <p:cNvSpPr/>
          <p:nvPr/>
        </p:nvSpPr>
        <p:spPr>
          <a:xfrm>
            <a:off x="3822192"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82" name="Text 80"/>
          <p:cNvSpPr/>
          <p:nvPr/>
        </p:nvSpPr>
        <p:spPr>
          <a:xfrm>
            <a:off x="3822192"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3" name="Text 81"/>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84" name="Text 82"/>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5" name="Text 83"/>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86" name="Text 84"/>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87" name="Text 85"/>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88" name="Text 86"/>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9" name="Text 87"/>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90" name="Shape 88"/>
          <p:cNvSpPr/>
          <p:nvPr/>
        </p:nvSpPr>
        <p:spPr>
          <a:xfrm>
            <a:off x="5577840"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1" name="Text 89"/>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a:t>
            </a:r>
            <a:endParaRPr lang="en-US" sz="1000" dirty="0"/>
          </a:p>
        </p:txBody>
      </p:sp>
      <p:sp>
        <p:nvSpPr>
          <p:cNvPr id="92" name="Shape 90"/>
          <p:cNvSpPr/>
          <p:nvPr/>
        </p:nvSpPr>
        <p:spPr>
          <a:xfrm>
            <a:off x="6281928"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3" name="Text 91"/>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a:t>
            </a:r>
            <a:endParaRPr lang="en-US" sz="1000" dirty="0"/>
          </a:p>
        </p:txBody>
      </p:sp>
      <p:sp>
        <p:nvSpPr>
          <p:cNvPr id="94" name="Shape 92"/>
          <p:cNvSpPr/>
          <p:nvPr/>
        </p:nvSpPr>
        <p:spPr>
          <a:xfrm>
            <a:off x="6986016"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95" name="Text 93"/>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96" name="Shape 94"/>
          <p:cNvSpPr/>
          <p:nvPr/>
        </p:nvSpPr>
        <p:spPr>
          <a:xfrm>
            <a:off x="7690104"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Shape 96"/>
          <p:cNvSpPr/>
          <p:nvPr/>
        </p:nvSpPr>
        <p:spPr>
          <a:xfrm>
            <a:off x="8394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9" name="Text 97"/>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0" name="Text 98"/>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101" name="Shape 99"/>
          <p:cNvSpPr/>
          <p:nvPr/>
        </p:nvSpPr>
        <p:spPr>
          <a:xfrm>
            <a:off x="5577840" y="2011680"/>
            <a:ext cx="704088" cy="502920"/>
          </a:xfrm>
          <a:prstGeom prst="rect">
            <a:avLst/>
          </a:prstGeom>
          <a:solidFill>
            <a:srgbClr val="D6EAF8"/>
          </a:solidFill>
          <a:ln w="6350">
            <a:solidFill>
              <a:srgbClr val="DDDDDD"/>
            </a:solidFill>
            <a:prstDash val="solid"/>
          </a:ln>
        </p:spPr>
        <p:txBody>
          <a:bodyPr/>
          <a:lstStyle/>
          <a:p>
            <a:endParaRPr lang="en-US"/>
          </a:p>
        </p:txBody>
      </p:sp>
      <p:sp>
        <p:nvSpPr>
          <p:cNvPr id="102" name="Text 100"/>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19</a:t>
            </a:r>
            <a:endParaRPr lang="en-US" sz="1000" dirty="0"/>
          </a:p>
        </p:txBody>
      </p:sp>
      <p:sp>
        <p:nvSpPr>
          <p:cNvPr id="103" name="Shape 101"/>
          <p:cNvSpPr/>
          <p:nvPr/>
        </p:nvSpPr>
        <p:spPr>
          <a:xfrm>
            <a:off x="6281928" y="2011680"/>
            <a:ext cx="704088" cy="502920"/>
          </a:xfrm>
          <a:prstGeom prst="rect">
            <a:avLst/>
          </a:prstGeom>
          <a:solidFill>
            <a:srgbClr val="AED6F1"/>
          </a:solidFill>
          <a:ln w="6350">
            <a:solidFill>
              <a:srgbClr val="DDDDDD"/>
            </a:solidFill>
            <a:prstDash val="solid"/>
          </a:ln>
        </p:spPr>
        <p:txBody>
          <a:bodyPr/>
          <a:lstStyle/>
          <a:p>
            <a:endParaRPr lang="en-US"/>
          </a:p>
        </p:txBody>
      </p:sp>
      <p:sp>
        <p:nvSpPr>
          <p:cNvPr id="104" name="Text 102"/>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41</a:t>
            </a:r>
            <a:endParaRPr lang="en-US" sz="1000" dirty="0"/>
          </a:p>
        </p:txBody>
      </p:sp>
      <p:sp>
        <p:nvSpPr>
          <p:cNvPr id="105" name="Shape 103"/>
          <p:cNvSpPr/>
          <p:nvPr/>
        </p:nvSpPr>
        <p:spPr>
          <a:xfrm>
            <a:off x="6986016" y="2011680"/>
            <a:ext cx="704088" cy="502920"/>
          </a:xfrm>
          <a:prstGeom prst="rect">
            <a:avLst/>
          </a:prstGeom>
          <a:solidFill>
            <a:srgbClr val="D6EAF8"/>
          </a:solidFill>
          <a:ln w="6350">
            <a:solidFill>
              <a:srgbClr val="DDDDDD"/>
            </a:solidFill>
            <a:prstDash val="solid"/>
          </a:ln>
        </p:spPr>
        <p:txBody>
          <a:bodyPr/>
          <a:lstStyle/>
          <a:p>
            <a:endParaRPr lang="en-US"/>
          </a:p>
        </p:txBody>
      </p:sp>
      <p:sp>
        <p:nvSpPr>
          <p:cNvPr id="106" name="Text 104"/>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23</a:t>
            </a:r>
            <a:endParaRPr lang="en-US" sz="1000" dirty="0"/>
          </a:p>
        </p:txBody>
      </p:sp>
      <p:sp>
        <p:nvSpPr>
          <p:cNvPr id="107" name="Shape 105"/>
          <p:cNvSpPr/>
          <p:nvPr/>
        </p:nvSpPr>
        <p:spPr>
          <a:xfrm>
            <a:off x="7690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8" name="Text 106"/>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9" name="Shape 107"/>
          <p:cNvSpPr/>
          <p:nvPr/>
        </p:nvSpPr>
        <p:spPr>
          <a:xfrm>
            <a:off x="8394192"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10" name="Text 108"/>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1" name="Text 109"/>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12" name="Shape 110"/>
          <p:cNvSpPr/>
          <p:nvPr/>
        </p:nvSpPr>
        <p:spPr>
          <a:xfrm>
            <a:off x="5577840" y="2514600"/>
            <a:ext cx="704088" cy="502920"/>
          </a:xfrm>
          <a:prstGeom prst="rect">
            <a:avLst/>
          </a:prstGeom>
          <a:solidFill>
            <a:srgbClr val="AED6F1"/>
          </a:solidFill>
          <a:ln w="6350">
            <a:solidFill>
              <a:srgbClr val="DDDDDD"/>
            </a:solidFill>
            <a:prstDash val="solid"/>
          </a:ln>
        </p:spPr>
        <p:txBody>
          <a:bodyPr/>
          <a:lstStyle/>
          <a:p>
            <a:endParaRPr lang="en-US"/>
          </a:p>
        </p:txBody>
      </p:sp>
      <p:sp>
        <p:nvSpPr>
          <p:cNvPr id="113" name="Text 111"/>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31</a:t>
            </a:r>
            <a:endParaRPr lang="en-US" sz="1000" dirty="0"/>
          </a:p>
        </p:txBody>
      </p:sp>
      <p:sp>
        <p:nvSpPr>
          <p:cNvPr id="114" name="Shape 112"/>
          <p:cNvSpPr/>
          <p:nvPr/>
        </p:nvSpPr>
        <p:spPr>
          <a:xfrm>
            <a:off x="6281928" y="2514600"/>
            <a:ext cx="704088" cy="502920"/>
          </a:xfrm>
          <a:prstGeom prst="rect">
            <a:avLst/>
          </a:prstGeom>
          <a:solidFill>
            <a:srgbClr val="5DADE2"/>
          </a:solidFill>
          <a:ln w="6350">
            <a:solidFill>
              <a:srgbClr val="DDDDDD"/>
            </a:solidFill>
            <a:prstDash val="solid"/>
          </a:ln>
        </p:spPr>
        <p:txBody>
          <a:bodyPr/>
          <a:lstStyle/>
          <a:p>
            <a:endParaRPr lang="en-US"/>
          </a:p>
        </p:txBody>
      </p:sp>
      <p:sp>
        <p:nvSpPr>
          <p:cNvPr id="115" name="Text 113"/>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90</a:t>
            </a:r>
            <a:endParaRPr lang="en-US" sz="1000" dirty="0"/>
          </a:p>
        </p:txBody>
      </p:sp>
      <p:sp>
        <p:nvSpPr>
          <p:cNvPr id="116" name="Shape 114"/>
          <p:cNvSpPr/>
          <p:nvPr/>
        </p:nvSpPr>
        <p:spPr>
          <a:xfrm>
            <a:off x="6986016" y="2514600"/>
            <a:ext cx="704088" cy="502920"/>
          </a:xfrm>
          <a:prstGeom prst="rect">
            <a:avLst/>
          </a:prstGeom>
          <a:solidFill>
            <a:srgbClr val="AED6F1"/>
          </a:solidFill>
          <a:ln w="6350">
            <a:solidFill>
              <a:srgbClr val="DDDDDD"/>
            </a:solidFill>
            <a:prstDash val="solid"/>
          </a:ln>
        </p:spPr>
        <p:txBody>
          <a:bodyPr/>
          <a:lstStyle/>
          <a:p>
            <a:endParaRPr lang="en-US"/>
          </a:p>
        </p:txBody>
      </p:sp>
      <p:sp>
        <p:nvSpPr>
          <p:cNvPr id="117" name="Text 115"/>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44</a:t>
            </a:r>
            <a:endParaRPr lang="en-US" sz="1000" dirty="0"/>
          </a:p>
        </p:txBody>
      </p:sp>
      <p:sp>
        <p:nvSpPr>
          <p:cNvPr id="118" name="Shape 116"/>
          <p:cNvSpPr/>
          <p:nvPr/>
        </p:nvSpPr>
        <p:spPr>
          <a:xfrm>
            <a:off x="7690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9" name="Text 117"/>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0" name="Shape 118"/>
          <p:cNvSpPr/>
          <p:nvPr/>
        </p:nvSpPr>
        <p:spPr>
          <a:xfrm>
            <a:off x="8394192"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21" name="Text 119"/>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2" name="Text 120"/>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23" name="Shape 121"/>
          <p:cNvSpPr/>
          <p:nvPr/>
        </p:nvSpPr>
        <p:spPr>
          <a:xfrm>
            <a:off x="5577840" y="3017520"/>
            <a:ext cx="704088" cy="502920"/>
          </a:xfrm>
          <a:prstGeom prst="rect">
            <a:avLst/>
          </a:prstGeom>
          <a:solidFill>
            <a:srgbClr val="AED6F1"/>
          </a:solidFill>
          <a:ln w="6350">
            <a:solidFill>
              <a:srgbClr val="DDDDDD"/>
            </a:solidFill>
            <a:prstDash val="solid"/>
          </a:ln>
        </p:spPr>
        <p:txBody>
          <a:bodyPr/>
          <a:lstStyle/>
          <a:p>
            <a:endParaRPr lang="en-US"/>
          </a:p>
        </p:txBody>
      </p:sp>
      <p:sp>
        <p:nvSpPr>
          <p:cNvPr id="124" name="Text 122"/>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36</a:t>
            </a:r>
            <a:endParaRPr lang="en-US" sz="1000" dirty="0"/>
          </a:p>
        </p:txBody>
      </p:sp>
      <p:sp>
        <p:nvSpPr>
          <p:cNvPr id="125" name="Shape 123"/>
          <p:cNvSpPr/>
          <p:nvPr/>
        </p:nvSpPr>
        <p:spPr>
          <a:xfrm>
            <a:off x="6281928" y="3017520"/>
            <a:ext cx="704088" cy="502920"/>
          </a:xfrm>
          <a:prstGeom prst="rect">
            <a:avLst/>
          </a:prstGeom>
          <a:solidFill>
            <a:srgbClr val="5DADE2"/>
          </a:solidFill>
          <a:ln w="6350">
            <a:solidFill>
              <a:srgbClr val="DDDDDD"/>
            </a:solidFill>
            <a:prstDash val="solid"/>
          </a:ln>
        </p:spPr>
        <p:txBody>
          <a:bodyPr/>
          <a:lstStyle/>
          <a:p>
            <a:endParaRPr lang="en-US"/>
          </a:p>
        </p:txBody>
      </p:sp>
      <p:sp>
        <p:nvSpPr>
          <p:cNvPr id="126" name="Text 124"/>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89</a:t>
            </a:r>
            <a:endParaRPr lang="en-US" sz="1000" dirty="0"/>
          </a:p>
        </p:txBody>
      </p:sp>
      <p:sp>
        <p:nvSpPr>
          <p:cNvPr id="127" name="Shape 125"/>
          <p:cNvSpPr/>
          <p:nvPr/>
        </p:nvSpPr>
        <p:spPr>
          <a:xfrm>
            <a:off x="6986016" y="3017520"/>
            <a:ext cx="704088" cy="502920"/>
          </a:xfrm>
          <a:prstGeom prst="rect">
            <a:avLst/>
          </a:prstGeom>
          <a:solidFill>
            <a:srgbClr val="AED6F1"/>
          </a:solidFill>
          <a:ln w="6350">
            <a:solidFill>
              <a:srgbClr val="DDDDDD"/>
            </a:solidFill>
            <a:prstDash val="solid"/>
          </a:ln>
        </p:spPr>
        <p:txBody>
          <a:bodyPr/>
          <a:lstStyle/>
          <a:p>
            <a:endParaRPr lang="en-US"/>
          </a:p>
        </p:txBody>
      </p:sp>
      <p:sp>
        <p:nvSpPr>
          <p:cNvPr id="128" name="Text 126"/>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41</a:t>
            </a:r>
            <a:endParaRPr lang="en-US" sz="1000" dirty="0"/>
          </a:p>
        </p:txBody>
      </p:sp>
      <p:sp>
        <p:nvSpPr>
          <p:cNvPr id="129" name="Shape 127"/>
          <p:cNvSpPr/>
          <p:nvPr/>
        </p:nvSpPr>
        <p:spPr>
          <a:xfrm>
            <a:off x="7690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30" name="Text 128"/>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1" name="Shape 129"/>
          <p:cNvSpPr/>
          <p:nvPr/>
        </p:nvSpPr>
        <p:spPr>
          <a:xfrm>
            <a:off x="8394192"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32" name="Text 130"/>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3" name="Text 131"/>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34" name="Shape 132"/>
          <p:cNvSpPr/>
          <p:nvPr/>
        </p:nvSpPr>
        <p:spPr>
          <a:xfrm>
            <a:off x="5577840" y="3520440"/>
            <a:ext cx="704088" cy="502920"/>
          </a:xfrm>
          <a:prstGeom prst="rect">
            <a:avLst/>
          </a:prstGeom>
          <a:solidFill>
            <a:srgbClr val="D6EAF8"/>
          </a:solidFill>
          <a:ln w="6350">
            <a:solidFill>
              <a:srgbClr val="DDDDDD"/>
            </a:solidFill>
            <a:prstDash val="solid"/>
          </a:ln>
        </p:spPr>
        <p:txBody>
          <a:bodyPr/>
          <a:lstStyle/>
          <a:p>
            <a:endParaRPr lang="en-US"/>
          </a:p>
        </p:txBody>
      </p:sp>
      <p:sp>
        <p:nvSpPr>
          <p:cNvPr id="135" name="Text 133"/>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20</a:t>
            </a:r>
            <a:endParaRPr lang="en-US" sz="1000" dirty="0"/>
          </a:p>
        </p:txBody>
      </p:sp>
      <p:sp>
        <p:nvSpPr>
          <p:cNvPr id="136" name="Shape 134"/>
          <p:cNvSpPr/>
          <p:nvPr/>
        </p:nvSpPr>
        <p:spPr>
          <a:xfrm>
            <a:off x="6281928" y="3520440"/>
            <a:ext cx="704088" cy="502920"/>
          </a:xfrm>
          <a:prstGeom prst="rect">
            <a:avLst/>
          </a:prstGeom>
          <a:solidFill>
            <a:srgbClr val="5DADE2"/>
          </a:solidFill>
          <a:ln w="6350">
            <a:solidFill>
              <a:srgbClr val="DDDDDD"/>
            </a:solidFill>
            <a:prstDash val="solid"/>
          </a:ln>
        </p:spPr>
        <p:txBody>
          <a:bodyPr/>
          <a:lstStyle/>
          <a:p>
            <a:endParaRPr lang="en-US"/>
          </a:p>
        </p:txBody>
      </p:sp>
      <p:sp>
        <p:nvSpPr>
          <p:cNvPr id="137" name="Text 135"/>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72</a:t>
            </a:r>
            <a:endParaRPr lang="en-US" sz="1000" dirty="0"/>
          </a:p>
        </p:txBody>
      </p:sp>
      <p:sp>
        <p:nvSpPr>
          <p:cNvPr id="138" name="Shape 136"/>
          <p:cNvSpPr/>
          <p:nvPr/>
        </p:nvSpPr>
        <p:spPr>
          <a:xfrm>
            <a:off x="6986016" y="3520440"/>
            <a:ext cx="704088" cy="502920"/>
          </a:xfrm>
          <a:prstGeom prst="rect">
            <a:avLst/>
          </a:prstGeom>
          <a:solidFill>
            <a:srgbClr val="AED6F1"/>
          </a:solidFill>
          <a:ln w="6350">
            <a:solidFill>
              <a:srgbClr val="DDDDDD"/>
            </a:solidFill>
            <a:prstDash val="solid"/>
          </a:ln>
        </p:spPr>
        <p:txBody>
          <a:bodyPr/>
          <a:lstStyle/>
          <a:p>
            <a:endParaRPr lang="en-US"/>
          </a:p>
        </p:txBody>
      </p:sp>
      <p:sp>
        <p:nvSpPr>
          <p:cNvPr id="139" name="Text 137"/>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36</a:t>
            </a:r>
            <a:endParaRPr lang="en-US" sz="1000" dirty="0"/>
          </a:p>
        </p:txBody>
      </p:sp>
      <p:sp>
        <p:nvSpPr>
          <p:cNvPr id="140" name="Shape 138"/>
          <p:cNvSpPr/>
          <p:nvPr/>
        </p:nvSpPr>
        <p:spPr>
          <a:xfrm>
            <a:off x="7690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41" name="Text 139"/>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42" name="Shape 140"/>
          <p:cNvSpPr/>
          <p:nvPr/>
        </p:nvSpPr>
        <p:spPr>
          <a:xfrm>
            <a:off x="8394192"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43" name="Text 141"/>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44" name="Shape 142"/>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45" name="Shape 143"/>
          <p:cNvSpPr/>
          <p:nvPr/>
        </p:nvSpPr>
        <p:spPr>
          <a:xfrm>
            <a:off x="457200" y="4114800"/>
            <a:ext cx="54864" cy="868680"/>
          </a:xfrm>
          <a:prstGeom prst="rect">
            <a:avLst/>
          </a:prstGeom>
          <a:solidFill>
            <a:srgbClr val="E67E22"/>
          </a:solidFill>
          <a:ln/>
        </p:spPr>
        <p:txBody>
          <a:bodyPr/>
          <a:lstStyle/>
          <a:p>
            <a:endParaRPr lang="en-US"/>
          </a:p>
        </p:txBody>
      </p:sp>
      <p:sp>
        <p:nvSpPr>
          <p:cNvPr id="146" name="Text 144"/>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Density is uncorrelated with income (ρ ≈ 0). Dense and sparse places are equally poor by global standards. India alone fills the Dense+Poor quadrant that the global analysis flagged as under-measured.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China: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359 leaves</a:t>
            </a:r>
            <a:r>
              <a:rPr lang="en-US" sz="1300" dirty="0">
                <a:solidFill>
                  <a:srgbClr val="A0A0A0"/>
                </a:solidFill>
              </a:rPr>
              <a:t>  |  </a:t>
            </a:r>
            <a:r>
              <a:rPr lang="en-US" sz="1300" b="1" dirty="0">
                <a:solidFill>
                  <a:srgbClr val="FFFFFF"/>
                </a:solidFill>
              </a:rPr>
              <a:t>1.41B people</a:t>
            </a:r>
            <a:r>
              <a:rPr lang="en-US" sz="1300" dirty="0">
                <a:solidFill>
                  <a:srgbClr val="A0A0A0"/>
                </a:solidFill>
              </a:rPr>
              <a:t>  |  </a:t>
            </a:r>
            <a:r>
              <a:rPr lang="en-US" sz="1300" b="1" dirty="0">
                <a:solidFill>
                  <a:srgbClr val="E67E22"/>
                </a:solidFill>
              </a:rPr>
              <a:t>ρ = 0.339</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No Chinese prefecture falls below global Q3 for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5" name="Text 13"/>
          <p:cNvSpPr/>
          <p:nvPr/>
        </p:nvSpPr>
        <p:spPr>
          <a:xfrm>
            <a:off x="1005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1709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7" name="Text 15"/>
          <p:cNvSpPr/>
          <p:nvPr/>
        </p:nvSpPr>
        <p:spPr>
          <a:xfrm>
            <a:off x="1709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414016" y="1508760"/>
            <a:ext cx="704088" cy="502920"/>
          </a:xfrm>
          <a:prstGeom prst="rect">
            <a:avLst/>
          </a:prstGeom>
          <a:solidFill>
            <a:srgbClr val="FFF3C4"/>
          </a:solidFill>
          <a:ln w="6350">
            <a:solidFill>
              <a:srgbClr val="DDDDDD"/>
            </a:solidFill>
            <a:prstDash val="solid"/>
          </a:ln>
        </p:spPr>
        <p:txBody>
          <a:bodyPr/>
          <a:lstStyle/>
          <a:p>
            <a:endParaRPr lang="en-US"/>
          </a:p>
        </p:txBody>
      </p:sp>
      <p:sp>
        <p:nvSpPr>
          <p:cNvPr id="19" name="Text 17"/>
          <p:cNvSpPr/>
          <p:nvPr/>
        </p:nvSpPr>
        <p:spPr>
          <a:xfrm>
            <a:off x="2414016"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38.4</a:t>
            </a:r>
            <a:endParaRPr lang="en-US" sz="900" dirty="0"/>
          </a:p>
        </p:txBody>
      </p:sp>
      <p:sp>
        <p:nvSpPr>
          <p:cNvPr id="20" name="Text 18"/>
          <p:cNvSpPr/>
          <p:nvPr/>
        </p:nvSpPr>
        <p:spPr>
          <a:xfrm>
            <a:off x="2414016"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2.7%</a:t>
            </a:r>
            <a:endParaRPr lang="en-US" sz="700" dirty="0"/>
          </a:p>
        </p:txBody>
      </p:sp>
      <p:sp>
        <p:nvSpPr>
          <p:cNvPr id="21" name="Shape 19"/>
          <p:cNvSpPr/>
          <p:nvPr/>
        </p:nvSpPr>
        <p:spPr>
          <a:xfrm>
            <a:off x="3118104" y="1508760"/>
            <a:ext cx="704088" cy="502920"/>
          </a:xfrm>
          <a:prstGeom prst="rect">
            <a:avLst/>
          </a:prstGeom>
          <a:solidFill>
            <a:srgbClr val="FEEBC8"/>
          </a:solidFill>
          <a:ln w="6350">
            <a:solidFill>
              <a:srgbClr val="DDDDDD"/>
            </a:solidFill>
            <a:prstDash val="solid"/>
          </a:ln>
        </p:spPr>
        <p:txBody>
          <a:bodyPr/>
          <a:lstStyle/>
          <a:p>
            <a:endParaRPr lang="en-US"/>
          </a:p>
        </p:txBody>
      </p:sp>
      <p:sp>
        <p:nvSpPr>
          <p:cNvPr id="22" name="Text 20"/>
          <p:cNvSpPr/>
          <p:nvPr/>
        </p:nvSpPr>
        <p:spPr>
          <a:xfrm>
            <a:off x="3118104"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76.7</a:t>
            </a:r>
            <a:endParaRPr lang="en-US" sz="900" dirty="0"/>
          </a:p>
        </p:txBody>
      </p:sp>
      <p:sp>
        <p:nvSpPr>
          <p:cNvPr id="23" name="Text 21"/>
          <p:cNvSpPr/>
          <p:nvPr/>
        </p:nvSpPr>
        <p:spPr>
          <a:xfrm>
            <a:off x="3118104"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5.4%</a:t>
            </a:r>
            <a:endParaRPr lang="en-US" sz="700" dirty="0"/>
          </a:p>
        </p:txBody>
      </p:sp>
      <p:sp>
        <p:nvSpPr>
          <p:cNvPr id="24" name="Shape 22"/>
          <p:cNvSpPr/>
          <p:nvPr/>
        </p:nvSpPr>
        <p:spPr>
          <a:xfrm>
            <a:off x="3822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25" name="Text 23"/>
          <p:cNvSpPr/>
          <p:nvPr/>
        </p:nvSpPr>
        <p:spPr>
          <a:xfrm>
            <a:off x="3822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7" name="Shape 25"/>
          <p:cNvSpPr/>
          <p:nvPr/>
        </p:nvSpPr>
        <p:spPr>
          <a:xfrm>
            <a:off x="1005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28" name="Text 26"/>
          <p:cNvSpPr/>
          <p:nvPr/>
        </p:nvSpPr>
        <p:spPr>
          <a:xfrm>
            <a:off x="1005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1709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0" name="Text 28"/>
          <p:cNvSpPr/>
          <p:nvPr/>
        </p:nvSpPr>
        <p:spPr>
          <a:xfrm>
            <a:off x="1709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2414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2" name="Text 30"/>
          <p:cNvSpPr/>
          <p:nvPr/>
        </p:nvSpPr>
        <p:spPr>
          <a:xfrm>
            <a:off x="2414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3118104" y="2011680"/>
            <a:ext cx="704088" cy="502920"/>
          </a:xfrm>
          <a:prstGeom prst="rect">
            <a:avLst/>
          </a:prstGeom>
          <a:solidFill>
            <a:srgbClr val="FBD38D"/>
          </a:solidFill>
          <a:ln w="6350">
            <a:solidFill>
              <a:srgbClr val="DDDDDD"/>
            </a:solidFill>
            <a:prstDash val="solid"/>
          </a:ln>
        </p:spPr>
        <p:txBody>
          <a:bodyPr/>
          <a:lstStyle/>
          <a:p>
            <a:endParaRPr lang="en-US"/>
          </a:p>
        </p:txBody>
      </p:sp>
      <p:sp>
        <p:nvSpPr>
          <p:cNvPr id="34" name="Text 32"/>
          <p:cNvSpPr/>
          <p:nvPr/>
        </p:nvSpPr>
        <p:spPr>
          <a:xfrm>
            <a:off x="3118104"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179.6</a:t>
            </a:r>
            <a:endParaRPr lang="en-US" sz="900" dirty="0"/>
          </a:p>
        </p:txBody>
      </p:sp>
      <p:sp>
        <p:nvSpPr>
          <p:cNvPr id="35" name="Text 33"/>
          <p:cNvSpPr/>
          <p:nvPr/>
        </p:nvSpPr>
        <p:spPr>
          <a:xfrm>
            <a:off x="3118104"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12.7%</a:t>
            </a:r>
            <a:endParaRPr lang="en-US" sz="700" dirty="0"/>
          </a:p>
        </p:txBody>
      </p:sp>
      <p:sp>
        <p:nvSpPr>
          <p:cNvPr id="36" name="Shape 34"/>
          <p:cNvSpPr/>
          <p:nvPr/>
        </p:nvSpPr>
        <p:spPr>
          <a:xfrm>
            <a:off x="3822192" y="2011680"/>
            <a:ext cx="704088" cy="502920"/>
          </a:xfrm>
          <a:prstGeom prst="rect">
            <a:avLst/>
          </a:prstGeom>
          <a:solidFill>
            <a:srgbClr val="FFF3C4"/>
          </a:solidFill>
          <a:ln w="6350">
            <a:solidFill>
              <a:srgbClr val="DDDDDD"/>
            </a:solidFill>
            <a:prstDash val="solid"/>
          </a:ln>
        </p:spPr>
        <p:txBody>
          <a:bodyPr/>
          <a:lstStyle/>
          <a:p>
            <a:endParaRPr lang="en-US"/>
          </a:p>
        </p:txBody>
      </p:sp>
      <p:sp>
        <p:nvSpPr>
          <p:cNvPr id="37" name="Text 35"/>
          <p:cNvSpPr/>
          <p:nvPr/>
        </p:nvSpPr>
        <p:spPr>
          <a:xfrm>
            <a:off x="3822192"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30.0</a:t>
            </a:r>
            <a:endParaRPr lang="en-US" sz="900" dirty="0"/>
          </a:p>
        </p:txBody>
      </p:sp>
      <p:sp>
        <p:nvSpPr>
          <p:cNvPr id="38" name="Text 36"/>
          <p:cNvSpPr/>
          <p:nvPr/>
        </p:nvSpPr>
        <p:spPr>
          <a:xfrm>
            <a:off x="3822192"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39" name="Text 37"/>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40" name="Shape 38"/>
          <p:cNvSpPr/>
          <p:nvPr/>
        </p:nvSpPr>
        <p:spPr>
          <a:xfrm>
            <a:off x="1005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1" name="Text 39"/>
          <p:cNvSpPr/>
          <p:nvPr/>
        </p:nvSpPr>
        <p:spPr>
          <a:xfrm>
            <a:off x="1005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2" name="Shape 40"/>
          <p:cNvSpPr/>
          <p:nvPr/>
        </p:nvSpPr>
        <p:spPr>
          <a:xfrm>
            <a:off x="1709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3" name="Text 41"/>
          <p:cNvSpPr/>
          <p:nvPr/>
        </p:nvSpPr>
        <p:spPr>
          <a:xfrm>
            <a:off x="1709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2414016"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45" name="Text 43"/>
          <p:cNvSpPr/>
          <p:nvPr/>
        </p:nvSpPr>
        <p:spPr>
          <a:xfrm>
            <a:off x="2414016"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48.5</a:t>
            </a:r>
            <a:endParaRPr lang="en-US" sz="900" dirty="0"/>
          </a:p>
        </p:txBody>
      </p:sp>
      <p:sp>
        <p:nvSpPr>
          <p:cNvPr id="46" name="Text 44"/>
          <p:cNvSpPr/>
          <p:nvPr/>
        </p:nvSpPr>
        <p:spPr>
          <a:xfrm>
            <a:off x="2414016"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3.4%</a:t>
            </a:r>
            <a:endParaRPr lang="en-US" sz="700" dirty="0"/>
          </a:p>
        </p:txBody>
      </p:sp>
      <p:sp>
        <p:nvSpPr>
          <p:cNvPr id="47" name="Shape 45"/>
          <p:cNvSpPr/>
          <p:nvPr/>
        </p:nvSpPr>
        <p:spPr>
          <a:xfrm>
            <a:off x="3118104" y="2514600"/>
            <a:ext cx="704088" cy="502920"/>
          </a:xfrm>
          <a:prstGeom prst="rect">
            <a:avLst/>
          </a:prstGeom>
          <a:solidFill>
            <a:srgbClr val="ED8936"/>
          </a:solidFill>
          <a:ln w="6350">
            <a:solidFill>
              <a:srgbClr val="DDDDDD"/>
            </a:solidFill>
            <a:prstDash val="solid"/>
          </a:ln>
        </p:spPr>
        <p:txBody>
          <a:bodyPr/>
          <a:lstStyle/>
          <a:p>
            <a:endParaRPr lang="en-US"/>
          </a:p>
        </p:txBody>
      </p:sp>
      <p:sp>
        <p:nvSpPr>
          <p:cNvPr id="48" name="Text 46"/>
          <p:cNvSpPr/>
          <p:nvPr/>
        </p:nvSpPr>
        <p:spPr>
          <a:xfrm>
            <a:off x="3118104" y="251460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371.5</a:t>
            </a:r>
            <a:endParaRPr lang="en-US" sz="900" dirty="0"/>
          </a:p>
        </p:txBody>
      </p:sp>
      <p:sp>
        <p:nvSpPr>
          <p:cNvPr id="49" name="Text 47"/>
          <p:cNvSpPr/>
          <p:nvPr/>
        </p:nvSpPr>
        <p:spPr>
          <a:xfrm>
            <a:off x="3118104" y="276606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26.3%</a:t>
            </a:r>
            <a:endParaRPr lang="en-US" sz="700" dirty="0"/>
          </a:p>
        </p:txBody>
      </p:sp>
      <p:sp>
        <p:nvSpPr>
          <p:cNvPr id="50" name="Shape 48"/>
          <p:cNvSpPr/>
          <p:nvPr/>
        </p:nvSpPr>
        <p:spPr>
          <a:xfrm>
            <a:off x="3822192" y="2514600"/>
            <a:ext cx="704088" cy="502920"/>
          </a:xfrm>
          <a:prstGeom prst="rect">
            <a:avLst/>
          </a:prstGeom>
          <a:solidFill>
            <a:srgbClr val="FFF3C4"/>
          </a:solidFill>
          <a:ln w="6350">
            <a:solidFill>
              <a:srgbClr val="DDDDDD"/>
            </a:solidFill>
            <a:prstDash val="solid"/>
          </a:ln>
        </p:spPr>
        <p:txBody>
          <a:bodyPr/>
          <a:lstStyle/>
          <a:p>
            <a:endParaRPr lang="en-US"/>
          </a:p>
        </p:txBody>
      </p:sp>
      <p:sp>
        <p:nvSpPr>
          <p:cNvPr id="51" name="Text 49"/>
          <p:cNvSpPr/>
          <p:nvPr/>
        </p:nvSpPr>
        <p:spPr>
          <a:xfrm>
            <a:off x="3822192"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39.4</a:t>
            </a:r>
            <a:endParaRPr lang="en-US" sz="900" dirty="0"/>
          </a:p>
        </p:txBody>
      </p:sp>
      <p:sp>
        <p:nvSpPr>
          <p:cNvPr id="52" name="Text 50"/>
          <p:cNvSpPr/>
          <p:nvPr/>
        </p:nvSpPr>
        <p:spPr>
          <a:xfrm>
            <a:off x="3822192"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2.8%</a:t>
            </a:r>
            <a:endParaRPr lang="en-US" sz="700" dirty="0"/>
          </a:p>
        </p:txBody>
      </p:sp>
      <p:sp>
        <p:nvSpPr>
          <p:cNvPr id="53" name="Text 51"/>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4" name="Shape 52"/>
          <p:cNvSpPr/>
          <p:nvPr/>
        </p:nvSpPr>
        <p:spPr>
          <a:xfrm>
            <a:off x="1005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5" name="Text 53"/>
          <p:cNvSpPr/>
          <p:nvPr/>
        </p:nvSpPr>
        <p:spPr>
          <a:xfrm>
            <a:off x="1005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6" name="Shape 54"/>
          <p:cNvSpPr/>
          <p:nvPr/>
        </p:nvSpPr>
        <p:spPr>
          <a:xfrm>
            <a:off x="1709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7" name="Text 55"/>
          <p:cNvSpPr/>
          <p:nvPr/>
        </p:nvSpPr>
        <p:spPr>
          <a:xfrm>
            <a:off x="1709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2414016" y="3017520"/>
            <a:ext cx="704088" cy="502920"/>
          </a:xfrm>
          <a:prstGeom prst="rect">
            <a:avLst/>
          </a:prstGeom>
          <a:solidFill>
            <a:srgbClr val="FFF3C4"/>
          </a:solidFill>
          <a:ln w="6350">
            <a:solidFill>
              <a:srgbClr val="DDDDDD"/>
            </a:solidFill>
            <a:prstDash val="solid"/>
          </a:ln>
        </p:spPr>
        <p:txBody>
          <a:bodyPr/>
          <a:lstStyle/>
          <a:p>
            <a:endParaRPr lang="en-US"/>
          </a:p>
        </p:txBody>
      </p:sp>
      <p:sp>
        <p:nvSpPr>
          <p:cNvPr id="59" name="Text 57"/>
          <p:cNvSpPr/>
          <p:nvPr/>
        </p:nvSpPr>
        <p:spPr>
          <a:xfrm>
            <a:off x="2414016"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30.3</a:t>
            </a:r>
            <a:endParaRPr lang="en-US" sz="900" dirty="0"/>
          </a:p>
        </p:txBody>
      </p:sp>
      <p:sp>
        <p:nvSpPr>
          <p:cNvPr id="60" name="Text 58"/>
          <p:cNvSpPr/>
          <p:nvPr/>
        </p:nvSpPr>
        <p:spPr>
          <a:xfrm>
            <a:off x="2414016"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2.1%</a:t>
            </a:r>
            <a:endParaRPr lang="en-US" sz="700" dirty="0"/>
          </a:p>
        </p:txBody>
      </p:sp>
      <p:sp>
        <p:nvSpPr>
          <p:cNvPr id="61" name="Shape 59"/>
          <p:cNvSpPr/>
          <p:nvPr/>
        </p:nvSpPr>
        <p:spPr>
          <a:xfrm>
            <a:off x="3118104" y="3017520"/>
            <a:ext cx="704088" cy="502920"/>
          </a:xfrm>
          <a:prstGeom prst="rect">
            <a:avLst/>
          </a:prstGeom>
          <a:solidFill>
            <a:srgbClr val="ED8936"/>
          </a:solidFill>
          <a:ln w="6350">
            <a:solidFill>
              <a:srgbClr val="DDDDDD"/>
            </a:solidFill>
            <a:prstDash val="solid"/>
          </a:ln>
        </p:spPr>
        <p:txBody>
          <a:bodyPr/>
          <a:lstStyle/>
          <a:p>
            <a:endParaRPr lang="en-US"/>
          </a:p>
        </p:txBody>
      </p:sp>
      <p:sp>
        <p:nvSpPr>
          <p:cNvPr id="62" name="Text 60"/>
          <p:cNvSpPr/>
          <p:nvPr/>
        </p:nvSpPr>
        <p:spPr>
          <a:xfrm>
            <a:off x="3118104" y="301752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371.5</a:t>
            </a:r>
            <a:endParaRPr lang="en-US" sz="900" dirty="0"/>
          </a:p>
        </p:txBody>
      </p:sp>
      <p:sp>
        <p:nvSpPr>
          <p:cNvPr id="63" name="Text 61"/>
          <p:cNvSpPr/>
          <p:nvPr/>
        </p:nvSpPr>
        <p:spPr>
          <a:xfrm>
            <a:off x="3118104" y="326898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26.3%</a:t>
            </a:r>
            <a:endParaRPr lang="en-US" sz="700" dirty="0"/>
          </a:p>
        </p:txBody>
      </p:sp>
      <p:sp>
        <p:nvSpPr>
          <p:cNvPr id="64" name="Shape 62"/>
          <p:cNvSpPr/>
          <p:nvPr/>
        </p:nvSpPr>
        <p:spPr>
          <a:xfrm>
            <a:off x="3822192" y="3017520"/>
            <a:ext cx="704088" cy="502920"/>
          </a:xfrm>
          <a:prstGeom prst="rect">
            <a:avLst/>
          </a:prstGeom>
          <a:solidFill>
            <a:srgbClr val="FEEBC8"/>
          </a:solidFill>
          <a:ln w="6350">
            <a:solidFill>
              <a:srgbClr val="DDDDDD"/>
            </a:solidFill>
            <a:prstDash val="solid"/>
          </a:ln>
        </p:spPr>
        <p:txBody>
          <a:bodyPr/>
          <a:lstStyle/>
          <a:p>
            <a:endParaRPr lang="en-US"/>
          </a:p>
        </p:txBody>
      </p:sp>
      <p:sp>
        <p:nvSpPr>
          <p:cNvPr id="65" name="Text 63"/>
          <p:cNvSpPr/>
          <p:nvPr/>
        </p:nvSpPr>
        <p:spPr>
          <a:xfrm>
            <a:off x="3822192"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97.0</a:t>
            </a:r>
            <a:endParaRPr lang="en-US" sz="900" dirty="0"/>
          </a:p>
        </p:txBody>
      </p:sp>
      <p:sp>
        <p:nvSpPr>
          <p:cNvPr id="66" name="Text 64"/>
          <p:cNvSpPr/>
          <p:nvPr/>
        </p:nvSpPr>
        <p:spPr>
          <a:xfrm>
            <a:off x="3822192"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6.9%</a:t>
            </a:r>
            <a:endParaRPr lang="en-US" sz="700" dirty="0"/>
          </a:p>
        </p:txBody>
      </p:sp>
      <p:sp>
        <p:nvSpPr>
          <p:cNvPr id="67" name="Text 65"/>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68" name="Shape 66"/>
          <p:cNvSpPr/>
          <p:nvPr/>
        </p:nvSpPr>
        <p:spPr>
          <a:xfrm>
            <a:off x="1005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9" name="Text 67"/>
          <p:cNvSpPr/>
          <p:nvPr/>
        </p:nvSpPr>
        <p:spPr>
          <a:xfrm>
            <a:off x="1005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0" name="Shape 68"/>
          <p:cNvSpPr/>
          <p:nvPr/>
        </p:nvSpPr>
        <p:spPr>
          <a:xfrm>
            <a:off x="1709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71" name="Text 69"/>
          <p:cNvSpPr/>
          <p:nvPr/>
        </p:nvSpPr>
        <p:spPr>
          <a:xfrm>
            <a:off x="1709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2" name="Shape 70"/>
          <p:cNvSpPr/>
          <p:nvPr/>
        </p:nvSpPr>
        <p:spPr>
          <a:xfrm>
            <a:off x="2414016" y="3520440"/>
            <a:ext cx="704088" cy="502920"/>
          </a:xfrm>
          <a:prstGeom prst="rect">
            <a:avLst/>
          </a:prstGeom>
          <a:solidFill>
            <a:srgbClr val="FEF3D5"/>
          </a:solidFill>
          <a:ln w="6350">
            <a:solidFill>
              <a:srgbClr val="DDDDDD"/>
            </a:solidFill>
            <a:prstDash val="solid"/>
          </a:ln>
        </p:spPr>
        <p:txBody>
          <a:bodyPr/>
          <a:lstStyle/>
          <a:p>
            <a:endParaRPr lang="en-US"/>
          </a:p>
        </p:txBody>
      </p:sp>
      <p:sp>
        <p:nvSpPr>
          <p:cNvPr id="73" name="Text 71"/>
          <p:cNvSpPr/>
          <p:nvPr/>
        </p:nvSpPr>
        <p:spPr>
          <a:xfrm>
            <a:off x="2414016"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7.5</a:t>
            </a:r>
            <a:endParaRPr lang="en-US" sz="900" dirty="0"/>
          </a:p>
        </p:txBody>
      </p:sp>
      <p:sp>
        <p:nvSpPr>
          <p:cNvPr id="74" name="Text 72"/>
          <p:cNvSpPr/>
          <p:nvPr/>
        </p:nvSpPr>
        <p:spPr>
          <a:xfrm>
            <a:off x="2414016"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0.5%</a:t>
            </a:r>
            <a:endParaRPr lang="en-US" sz="700" dirty="0"/>
          </a:p>
        </p:txBody>
      </p:sp>
      <p:sp>
        <p:nvSpPr>
          <p:cNvPr id="75" name="Shape 73"/>
          <p:cNvSpPr/>
          <p:nvPr/>
        </p:nvSpPr>
        <p:spPr>
          <a:xfrm>
            <a:off x="3118104" y="3520440"/>
            <a:ext cx="704088" cy="502920"/>
          </a:xfrm>
          <a:prstGeom prst="rect">
            <a:avLst/>
          </a:prstGeom>
          <a:solidFill>
            <a:srgbClr val="FFF3C4"/>
          </a:solidFill>
          <a:ln w="6350">
            <a:solidFill>
              <a:srgbClr val="DDDDDD"/>
            </a:solidFill>
            <a:prstDash val="solid"/>
          </a:ln>
        </p:spPr>
        <p:txBody>
          <a:bodyPr/>
          <a:lstStyle/>
          <a:p>
            <a:endParaRPr lang="en-US"/>
          </a:p>
        </p:txBody>
      </p:sp>
      <p:sp>
        <p:nvSpPr>
          <p:cNvPr id="76" name="Text 74"/>
          <p:cNvSpPr/>
          <p:nvPr/>
        </p:nvSpPr>
        <p:spPr>
          <a:xfrm>
            <a:off x="3118104"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50.6</a:t>
            </a:r>
            <a:endParaRPr lang="en-US" sz="900" dirty="0"/>
          </a:p>
        </p:txBody>
      </p:sp>
      <p:sp>
        <p:nvSpPr>
          <p:cNvPr id="77" name="Text 75"/>
          <p:cNvSpPr/>
          <p:nvPr/>
        </p:nvSpPr>
        <p:spPr>
          <a:xfrm>
            <a:off x="3118104"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3.6%</a:t>
            </a:r>
            <a:endParaRPr lang="en-US" sz="700" dirty="0"/>
          </a:p>
        </p:txBody>
      </p:sp>
      <p:sp>
        <p:nvSpPr>
          <p:cNvPr id="78" name="Shape 76"/>
          <p:cNvSpPr/>
          <p:nvPr/>
        </p:nvSpPr>
        <p:spPr>
          <a:xfrm>
            <a:off x="3822192" y="3520440"/>
            <a:ext cx="704088" cy="502920"/>
          </a:xfrm>
          <a:prstGeom prst="rect">
            <a:avLst/>
          </a:prstGeom>
          <a:solidFill>
            <a:srgbClr val="FEEBC8"/>
          </a:solidFill>
          <a:ln w="6350">
            <a:solidFill>
              <a:srgbClr val="DDDDDD"/>
            </a:solidFill>
            <a:prstDash val="solid"/>
          </a:ln>
        </p:spPr>
        <p:txBody>
          <a:bodyPr/>
          <a:lstStyle/>
          <a:p>
            <a:endParaRPr lang="en-US"/>
          </a:p>
        </p:txBody>
      </p:sp>
      <p:sp>
        <p:nvSpPr>
          <p:cNvPr id="79" name="Text 77"/>
          <p:cNvSpPr/>
          <p:nvPr/>
        </p:nvSpPr>
        <p:spPr>
          <a:xfrm>
            <a:off x="3822192" y="352044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73.2</a:t>
            </a:r>
            <a:endParaRPr lang="en-US" sz="900" dirty="0"/>
          </a:p>
        </p:txBody>
      </p:sp>
      <p:sp>
        <p:nvSpPr>
          <p:cNvPr id="80" name="Text 78"/>
          <p:cNvSpPr/>
          <p:nvPr/>
        </p:nvSpPr>
        <p:spPr>
          <a:xfrm>
            <a:off x="3822192" y="377190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5.2%</a:t>
            </a:r>
            <a:endParaRPr lang="en-US" sz="700" dirty="0"/>
          </a:p>
        </p:txBody>
      </p:sp>
      <p:sp>
        <p:nvSpPr>
          <p:cNvPr id="81" name="Text 79"/>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82" name="Text 80"/>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3" name="Text 81"/>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84" name="Text 82"/>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85" name="Text 83"/>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86" name="Text 84"/>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7" name="Text 85"/>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88" name="Shape 86"/>
          <p:cNvSpPr/>
          <p:nvPr/>
        </p:nvSpPr>
        <p:spPr>
          <a:xfrm>
            <a:off x="5577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9" name="Text 87"/>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0" name="Shape 88"/>
          <p:cNvSpPr/>
          <p:nvPr/>
        </p:nvSpPr>
        <p:spPr>
          <a:xfrm>
            <a:off x="6281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1" name="Text 89"/>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2" name="Shape 90"/>
          <p:cNvSpPr/>
          <p:nvPr/>
        </p:nvSpPr>
        <p:spPr>
          <a:xfrm>
            <a:off x="6986016" y="1508760"/>
            <a:ext cx="704088" cy="502920"/>
          </a:xfrm>
          <a:prstGeom prst="rect">
            <a:avLst/>
          </a:prstGeom>
          <a:solidFill>
            <a:srgbClr val="D6EAF8"/>
          </a:solidFill>
          <a:ln w="6350">
            <a:solidFill>
              <a:srgbClr val="DDDDDD"/>
            </a:solidFill>
            <a:prstDash val="solid"/>
          </a:ln>
        </p:spPr>
        <p:txBody>
          <a:bodyPr/>
          <a:lstStyle/>
          <a:p>
            <a:endParaRPr lang="en-US"/>
          </a:p>
        </p:txBody>
      </p:sp>
      <p:sp>
        <p:nvSpPr>
          <p:cNvPr id="93" name="Text 91"/>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24</a:t>
            </a:r>
            <a:endParaRPr lang="en-US" sz="1000" dirty="0"/>
          </a:p>
        </p:txBody>
      </p:sp>
      <p:sp>
        <p:nvSpPr>
          <p:cNvPr id="94" name="Shape 92"/>
          <p:cNvSpPr/>
          <p:nvPr/>
        </p:nvSpPr>
        <p:spPr>
          <a:xfrm>
            <a:off x="7690104" y="1508760"/>
            <a:ext cx="704088" cy="502920"/>
          </a:xfrm>
          <a:prstGeom prst="rect">
            <a:avLst/>
          </a:prstGeom>
          <a:solidFill>
            <a:srgbClr val="AED6F1"/>
          </a:solidFill>
          <a:ln w="6350">
            <a:solidFill>
              <a:srgbClr val="DDDDDD"/>
            </a:solidFill>
            <a:prstDash val="solid"/>
          </a:ln>
        </p:spPr>
        <p:txBody>
          <a:bodyPr/>
          <a:lstStyle/>
          <a:p>
            <a:endParaRPr lang="en-US"/>
          </a:p>
        </p:txBody>
      </p:sp>
      <p:sp>
        <p:nvSpPr>
          <p:cNvPr id="95" name="Text 93"/>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44</a:t>
            </a:r>
            <a:endParaRPr lang="en-US" sz="1000" dirty="0"/>
          </a:p>
        </p:txBody>
      </p:sp>
      <p:sp>
        <p:nvSpPr>
          <p:cNvPr id="96" name="Shape 94"/>
          <p:cNvSpPr/>
          <p:nvPr/>
        </p:nvSpPr>
        <p:spPr>
          <a:xfrm>
            <a:off x="8394192"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Text 96"/>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9" name="Shape 97"/>
          <p:cNvSpPr/>
          <p:nvPr/>
        </p:nvSpPr>
        <p:spPr>
          <a:xfrm>
            <a:off x="5577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0" name="Text 98"/>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1" name="Shape 99"/>
          <p:cNvSpPr/>
          <p:nvPr/>
        </p:nvSpPr>
        <p:spPr>
          <a:xfrm>
            <a:off x="6281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2" name="Text 100"/>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3" name="Shape 101"/>
          <p:cNvSpPr/>
          <p:nvPr/>
        </p:nvSpPr>
        <p:spPr>
          <a:xfrm>
            <a:off x="6986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104" name="Text 102"/>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5" name="Shape 103"/>
          <p:cNvSpPr/>
          <p:nvPr/>
        </p:nvSpPr>
        <p:spPr>
          <a:xfrm>
            <a:off x="7690104" y="2011680"/>
            <a:ext cx="704088" cy="502920"/>
          </a:xfrm>
          <a:prstGeom prst="rect">
            <a:avLst/>
          </a:prstGeom>
          <a:solidFill>
            <a:srgbClr val="5DADE2"/>
          </a:solidFill>
          <a:ln w="6350">
            <a:solidFill>
              <a:srgbClr val="DDDDDD"/>
            </a:solidFill>
            <a:prstDash val="solid"/>
          </a:ln>
        </p:spPr>
        <p:txBody>
          <a:bodyPr/>
          <a:lstStyle/>
          <a:p>
            <a:endParaRPr lang="en-US"/>
          </a:p>
        </p:txBody>
      </p:sp>
      <p:sp>
        <p:nvSpPr>
          <p:cNvPr id="106" name="Text 104"/>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61</a:t>
            </a:r>
            <a:endParaRPr lang="en-US" sz="1000" dirty="0"/>
          </a:p>
        </p:txBody>
      </p:sp>
      <p:sp>
        <p:nvSpPr>
          <p:cNvPr id="107" name="Shape 105"/>
          <p:cNvSpPr/>
          <p:nvPr/>
        </p:nvSpPr>
        <p:spPr>
          <a:xfrm>
            <a:off x="8394192" y="2011680"/>
            <a:ext cx="704088" cy="502920"/>
          </a:xfrm>
          <a:prstGeom prst="rect">
            <a:avLst/>
          </a:prstGeom>
          <a:solidFill>
            <a:srgbClr val="EBF5FB"/>
          </a:solidFill>
          <a:ln w="6350">
            <a:solidFill>
              <a:srgbClr val="DDDDDD"/>
            </a:solidFill>
            <a:prstDash val="solid"/>
          </a:ln>
        </p:spPr>
        <p:txBody>
          <a:bodyPr/>
          <a:lstStyle/>
          <a:p>
            <a:endParaRPr lang="en-US"/>
          </a:p>
        </p:txBody>
      </p:sp>
      <p:sp>
        <p:nvSpPr>
          <p:cNvPr id="108" name="Text 106"/>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a:t>
            </a:r>
            <a:endParaRPr lang="en-US" sz="1000" dirty="0"/>
          </a:p>
        </p:txBody>
      </p:sp>
      <p:sp>
        <p:nvSpPr>
          <p:cNvPr id="109" name="Text 107"/>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10" name="Shape 108"/>
          <p:cNvSpPr/>
          <p:nvPr/>
        </p:nvSpPr>
        <p:spPr>
          <a:xfrm>
            <a:off x="5577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1" name="Text 109"/>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2" name="Shape 110"/>
          <p:cNvSpPr/>
          <p:nvPr/>
        </p:nvSpPr>
        <p:spPr>
          <a:xfrm>
            <a:off x="6281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3" name="Text 111"/>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4" name="Shape 112"/>
          <p:cNvSpPr/>
          <p:nvPr/>
        </p:nvSpPr>
        <p:spPr>
          <a:xfrm>
            <a:off x="6986016" y="2514600"/>
            <a:ext cx="704088" cy="502920"/>
          </a:xfrm>
          <a:prstGeom prst="rect">
            <a:avLst/>
          </a:prstGeom>
          <a:solidFill>
            <a:srgbClr val="D6EAF8"/>
          </a:solidFill>
          <a:ln w="6350">
            <a:solidFill>
              <a:srgbClr val="DDDDDD"/>
            </a:solidFill>
            <a:prstDash val="solid"/>
          </a:ln>
        </p:spPr>
        <p:txBody>
          <a:bodyPr/>
          <a:lstStyle/>
          <a:p>
            <a:endParaRPr lang="en-US"/>
          </a:p>
        </p:txBody>
      </p:sp>
      <p:sp>
        <p:nvSpPr>
          <p:cNvPr id="115" name="Text 113"/>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15</a:t>
            </a:r>
            <a:endParaRPr lang="en-US" sz="1000" dirty="0"/>
          </a:p>
        </p:txBody>
      </p:sp>
      <p:sp>
        <p:nvSpPr>
          <p:cNvPr id="116" name="Shape 114"/>
          <p:cNvSpPr/>
          <p:nvPr/>
        </p:nvSpPr>
        <p:spPr>
          <a:xfrm>
            <a:off x="7690104" y="2514600"/>
            <a:ext cx="704088" cy="502920"/>
          </a:xfrm>
          <a:prstGeom prst="rect">
            <a:avLst/>
          </a:prstGeom>
          <a:solidFill>
            <a:srgbClr val="2E86C1"/>
          </a:solidFill>
          <a:ln w="6350">
            <a:solidFill>
              <a:srgbClr val="DDDDDD"/>
            </a:solidFill>
            <a:prstDash val="solid"/>
          </a:ln>
        </p:spPr>
        <p:txBody>
          <a:bodyPr/>
          <a:lstStyle/>
          <a:p>
            <a:endParaRPr lang="en-US"/>
          </a:p>
        </p:txBody>
      </p:sp>
      <p:sp>
        <p:nvSpPr>
          <p:cNvPr id="117" name="Text 115"/>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105</a:t>
            </a:r>
            <a:endParaRPr lang="en-US" sz="1000" dirty="0"/>
          </a:p>
        </p:txBody>
      </p:sp>
      <p:sp>
        <p:nvSpPr>
          <p:cNvPr id="118" name="Shape 116"/>
          <p:cNvSpPr/>
          <p:nvPr/>
        </p:nvSpPr>
        <p:spPr>
          <a:xfrm>
            <a:off x="8394192" y="2514600"/>
            <a:ext cx="704088" cy="502920"/>
          </a:xfrm>
          <a:prstGeom prst="rect">
            <a:avLst/>
          </a:prstGeom>
          <a:solidFill>
            <a:srgbClr val="EBF5FB"/>
          </a:solidFill>
          <a:ln w="6350">
            <a:solidFill>
              <a:srgbClr val="DDDDDD"/>
            </a:solidFill>
            <a:prstDash val="solid"/>
          </a:ln>
        </p:spPr>
        <p:txBody>
          <a:bodyPr/>
          <a:lstStyle/>
          <a:p>
            <a:endParaRPr lang="en-US"/>
          </a:p>
        </p:txBody>
      </p:sp>
      <p:sp>
        <p:nvSpPr>
          <p:cNvPr id="119" name="Text 117"/>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9</a:t>
            </a:r>
            <a:endParaRPr lang="en-US" sz="1000" dirty="0"/>
          </a:p>
        </p:txBody>
      </p:sp>
      <p:sp>
        <p:nvSpPr>
          <p:cNvPr id="120" name="Text 118"/>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21" name="Shape 119"/>
          <p:cNvSpPr/>
          <p:nvPr/>
        </p:nvSpPr>
        <p:spPr>
          <a:xfrm>
            <a:off x="5577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2" name="Text 120"/>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3" name="Shape 121"/>
          <p:cNvSpPr/>
          <p:nvPr/>
        </p:nvSpPr>
        <p:spPr>
          <a:xfrm>
            <a:off x="6281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4" name="Text 122"/>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5" name="Shape 123"/>
          <p:cNvSpPr/>
          <p:nvPr/>
        </p:nvSpPr>
        <p:spPr>
          <a:xfrm>
            <a:off x="6986016" y="3017520"/>
            <a:ext cx="704088" cy="502920"/>
          </a:xfrm>
          <a:prstGeom prst="rect">
            <a:avLst/>
          </a:prstGeom>
          <a:solidFill>
            <a:srgbClr val="EBF5FB"/>
          </a:solidFill>
          <a:ln w="6350">
            <a:solidFill>
              <a:srgbClr val="DDDDDD"/>
            </a:solidFill>
            <a:prstDash val="solid"/>
          </a:ln>
        </p:spPr>
        <p:txBody>
          <a:bodyPr/>
          <a:lstStyle/>
          <a:p>
            <a:endParaRPr lang="en-US"/>
          </a:p>
        </p:txBody>
      </p:sp>
      <p:sp>
        <p:nvSpPr>
          <p:cNvPr id="126" name="Text 124"/>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127" name="Shape 125"/>
          <p:cNvSpPr/>
          <p:nvPr/>
        </p:nvSpPr>
        <p:spPr>
          <a:xfrm>
            <a:off x="7690104" y="3017520"/>
            <a:ext cx="704088" cy="502920"/>
          </a:xfrm>
          <a:prstGeom prst="rect">
            <a:avLst/>
          </a:prstGeom>
          <a:solidFill>
            <a:srgbClr val="5DADE2"/>
          </a:solidFill>
          <a:ln w="6350">
            <a:solidFill>
              <a:srgbClr val="DDDDDD"/>
            </a:solidFill>
            <a:prstDash val="solid"/>
          </a:ln>
        </p:spPr>
        <p:txBody>
          <a:bodyPr/>
          <a:lstStyle/>
          <a:p>
            <a:endParaRPr lang="en-US"/>
          </a:p>
        </p:txBody>
      </p:sp>
      <p:sp>
        <p:nvSpPr>
          <p:cNvPr id="128" name="Text 126"/>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61</a:t>
            </a:r>
            <a:endParaRPr lang="en-US" sz="1000" dirty="0"/>
          </a:p>
        </p:txBody>
      </p:sp>
      <p:sp>
        <p:nvSpPr>
          <p:cNvPr id="129" name="Shape 127"/>
          <p:cNvSpPr/>
          <p:nvPr/>
        </p:nvSpPr>
        <p:spPr>
          <a:xfrm>
            <a:off x="8394192" y="3017520"/>
            <a:ext cx="704088" cy="502920"/>
          </a:xfrm>
          <a:prstGeom prst="rect">
            <a:avLst/>
          </a:prstGeom>
          <a:solidFill>
            <a:srgbClr val="D6EAF8"/>
          </a:solidFill>
          <a:ln w="6350">
            <a:solidFill>
              <a:srgbClr val="DDDDDD"/>
            </a:solidFill>
            <a:prstDash val="solid"/>
          </a:ln>
        </p:spPr>
        <p:txBody>
          <a:bodyPr/>
          <a:lstStyle/>
          <a:p>
            <a:endParaRPr lang="en-US"/>
          </a:p>
        </p:txBody>
      </p:sp>
      <p:sp>
        <p:nvSpPr>
          <p:cNvPr id="130" name="Text 128"/>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20</a:t>
            </a:r>
            <a:endParaRPr lang="en-US" sz="1000" dirty="0"/>
          </a:p>
        </p:txBody>
      </p:sp>
      <p:sp>
        <p:nvSpPr>
          <p:cNvPr id="131" name="Text 129"/>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32" name="Shape 130"/>
          <p:cNvSpPr/>
          <p:nvPr/>
        </p:nvSpPr>
        <p:spPr>
          <a:xfrm>
            <a:off x="5577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3" name="Text 131"/>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4" name="Shape 132"/>
          <p:cNvSpPr/>
          <p:nvPr/>
        </p:nvSpPr>
        <p:spPr>
          <a:xfrm>
            <a:off x="6281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5" name="Text 133"/>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6" name="Shape 134"/>
          <p:cNvSpPr/>
          <p:nvPr/>
        </p:nvSpPr>
        <p:spPr>
          <a:xfrm>
            <a:off x="6986016"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37" name="Text 135"/>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1</a:t>
            </a:r>
            <a:endParaRPr lang="en-US" sz="1000" dirty="0"/>
          </a:p>
        </p:txBody>
      </p:sp>
      <p:sp>
        <p:nvSpPr>
          <p:cNvPr id="138" name="Shape 136"/>
          <p:cNvSpPr/>
          <p:nvPr/>
        </p:nvSpPr>
        <p:spPr>
          <a:xfrm>
            <a:off x="7690104"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39" name="Text 137"/>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7</a:t>
            </a:r>
            <a:endParaRPr lang="en-US" sz="1000" dirty="0"/>
          </a:p>
        </p:txBody>
      </p:sp>
      <p:sp>
        <p:nvSpPr>
          <p:cNvPr id="140" name="Shape 138"/>
          <p:cNvSpPr/>
          <p:nvPr/>
        </p:nvSpPr>
        <p:spPr>
          <a:xfrm>
            <a:off x="8394192" y="3520440"/>
            <a:ext cx="704088" cy="502920"/>
          </a:xfrm>
          <a:prstGeom prst="rect">
            <a:avLst/>
          </a:prstGeom>
          <a:solidFill>
            <a:srgbClr val="EBF5FB"/>
          </a:solidFill>
          <a:ln w="6350">
            <a:solidFill>
              <a:srgbClr val="DDDDDD"/>
            </a:solidFill>
            <a:prstDash val="solid"/>
          </a:ln>
        </p:spPr>
        <p:txBody>
          <a:bodyPr/>
          <a:lstStyle/>
          <a:p>
            <a:endParaRPr lang="en-US"/>
          </a:p>
        </p:txBody>
      </p:sp>
      <p:sp>
        <p:nvSpPr>
          <p:cNvPr id="141" name="Text 139"/>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5</a:t>
            </a:r>
            <a:endParaRPr lang="en-US" sz="1000" dirty="0"/>
          </a:p>
        </p:txBody>
      </p:sp>
      <p:sp>
        <p:nvSpPr>
          <p:cNvPr id="142" name="Shape 140"/>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43" name="Shape 141"/>
          <p:cNvSpPr/>
          <p:nvPr/>
        </p:nvSpPr>
        <p:spPr>
          <a:xfrm>
            <a:off x="457200" y="4114800"/>
            <a:ext cx="54864" cy="868680"/>
          </a:xfrm>
          <a:prstGeom prst="rect">
            <a:avLst/>
          </a:prstGeom>
          <a:solidFill>
            <a:srgbClr val="E67E22"/>
          </a:solidFill>
          <a:ln/>
        </p:spPr>
        <p:txBody>
          <a:bodyPr/>
          <a:lstStyle/>
          <a:p>
            <a:endParaRPr lang="en-US"/>
          </a:p>
        </p:txBody>
      </p:sp>
      <p:sp>
        <p:nvSpPr>
          <p:cNvPr id="144" name="Text 142"/>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China shows a significant positive correlation (ρ = 0.34): denser prefectures tend to be richer. This is the opposite of the global pattern — consistent with a manufacturing-led urbanization model that has pulled coastal areas ahead.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p:spPr>
        <p:txBody>
          <a:bodyPr/>
          <a:lstStyle/>
          <a:p>
            <a:endParaRPr lang="en-US"/>
          </a:p>
        </p:txBody>
      </p:sp>
      <p:sp>
        <p:nvSpPr>
          <p:cNvPr id="3" name="Text 1"/>
          <p:cNvSpPr/>
          <p:nvPr/>
        </p:nvSpPr>
        <p:spPr>
          <a:xfrm>
            <a:off x="457200" y="91440"/>
            <a:ext cx="5029200" cy="59436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USA: Through the Global Lens</a:t>
            </a:r>
            <a:endParaRPr lang="en-US" sz="2200" dirty="0"/>
          </a:p>
        </p:txBody>
      </p:sp>
      <p:sp>
        <p:nvSpPr>
          <p:cNvPr id="4" name="Text 2"/>
          <p:cNvSpPr/>
          <p:nvPr/>
        </p:nvSpPr>
        <p:spPr>
          <a:xfrm>
            <a:off x="5303520" y="91440"/>
            <a:ext cx="3474720" cy="594360"/>
          </a:xfrm>
          <a:prstGeom prst="rect">
            <a:avLst/>
          </a:prstGeom>
          <a:noFill/>
          <a:ln/>
        </p:spPr>
        <p:txBody>
          <a:bodyPr wrap="square" lIns="0" tIns="0" rIns="0" bIns="0" rtlCol="0" anchor="ctr"/>
          <a:lstStyle/>
          <a:p>
            <a:pPr marL="0" indent="0" algn="r">
              <a:buNone/>
            </a:pPr>
            <a:r>
              <a:rPr lang="en-US" sz="1300" b="1" dirty="0">
                <a:solidFill>
                  <a:srgbClr val="FFFFFF"/>
                </a:solidFill>
              </a:rPr>
              <a:t>3,112 leaves</a:t>
            </a:r>
            <a:r>
              <a:rPr lang="en-US" sz="1300" dirty="0">
                <a:solidFill>
                  <a:srgbClr val="A0A0A0"/>
                </a:solidFill>
              </a:rPr>
              <a:t>  |  </a:t>
            </a:r>
            <a:r>
              <a:rPr lang="en-US" sz="1300" b="1" dirty="0">
                <a:solidFill>
                  <a:srgbClr val="FFFFFF"/>
                </a:solidFill>
              </a:rPr>
              <a:t>0.33B people</a:t>
            </a:r>
            <a:r>
              <a:rPr lang="en-US" sz="1300" dirty="0">
                <a:solidFill>
                  <a:srgbClr val="A0A0A0"/>
                </a:solidFill>
              </a:rPr>
              <a:t>  |  </a:t>
            </a:r>
            <a:r>
              <a:rPr lang="en-US" sz="1300" b="1" dirty="0">
                <a:solidFill>
                  <a:srgbClr val="E67E22"/>
                </a:solidFill>
              </a:rPr>
              <a:t>ρ = 0.031</a:t>
            </a:r>
            <a:endParaRPr lang="en-US" sz="1300" dirty="0"/>
          </a:p>
        </p:txBody>
      </p:sp>
      <p:sp>
        <p:nvSpPr>
          <p:cNvPr id="5"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300" i="1" dirty="0">
                <a:solidFill>
                  <a:srgbClr val="5D6D7E"/>
                </a:solidFill>
                <a:latin typeface="Calibri" pitchFamily="34" charset="0"/>
                <a:ea typeface="Calibri" pitchFamily="34" charset="-122"/>
                <a:cs typeface="Calibri" pitchFamily="34" charset="-120"/>
              </a:rPr>
              <a:t>Almost the entire country occupies a single column: Q5 wealth</a:t>
            </a:r>
            <a:endParaRPr lang="en-US" sz="1300" dirty="0"/>
          </a:p>
        </p:txBody>
      </p:sp>
      <p:sp>
        <p:nvSpPr>
          <p:cNvPr id="6" name="Text 4"/>
          <p:cNvSpPr/>
          <p:nvPr/>
        </p:nvSpPr>
        <p:spPr>
          <a:xfrm>
            <a:off x="502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Population (millions)</a:t>
            </a:r>
            <a:endParaRPr lang="en-US" sz="1100" dirty="0"/>
          </a:p>
        </p:txBody>
      </p:sp>
      <p:sp>
        <p:nvSpPr>
          <p:cNvPr id="7" name="Text 5"/>
          <p:cNvSpPr/>
          <p:nvPr/>
        </p:nvSpPr>
        <p:spPr>
          <a:xfrm>
            <a:off x="1005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8" name="Text 6"/>
          <p:cNvSpPr/>
          <p:nvPr/>
        </p:nvSpPr>
        <p:spPr>
          <a:xfrm>
            <a:off x="1709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 name="Text 7"/>
          <p:cNvSpPr/>
          <p:nvPr/>
        </p:nvSpPr>
        <p:spPr>
          <a:xfrm>
            <a:off x="2414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 name="Text 8"/>
          <p:cNvSpPr/>
          <p:nvPr/>
        </p:nvSpPr>
        <p:spPr>
          <a:xfrm>
            <a:off x="3118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 name="Text 9"/>
          <p:cNvSpPr/>
          <p:nvPr/>
        </p:nvSpPr>
        <p:spPr>
          <a:xfrm>
            <a:off x="3822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12" name="Text 10"/>
          <p:cNvSpPr/>
          <p:nvPr/>
        </p:nvSpPr>
        <p:spPr>
          <a:xfrm rot="16200000">
            <a:off x="45720" y="2240280"/>
            <a:ext cx="411480" cy="1371600"/>
          </a:xfrm>
          <a:prstGeom prst="rect">
            <a:avLst/>
          </a:prstGeom>
          <a:noFill/>
          <a:ln/>
        </p:spPr>
        <p:txBody>
          <a:bodyPr wrap="square" lIns="0" tIns="0" rIns="0" bIns="0" rtlCol="0" anchor="ctr"/>
          <a:lstStyle/>
          <a:p>
            <a:pPr marL="0" indent="0" algn="ctr">
              <a:buNone/>
            </a:pPr>
            <a:r>
              <a:rPr lang="en-US" sz="800" b="1" dirty="0">
                <a:solidFill>
                  <a:srgbClr val="5D6D7E"/>
                </a:solidFill>
                <a:latin typeface="Calibri" pitchFamily="34" charset="0"/>
                <a:ea typeface="Calibri" pitchFamily="34" charset="-122"/>
                <a:cs typeface="Calibri" pitchFamily="34" charset="-120"/>
              </a:rPr>
              <a:t>Density →</a:t>
            </a:r>
            <a:endParaRPr lang="en-US" sz="800" dirty="0"/>
          </a:p>
        </p:txBody>
      </p:sp>
      <p:sp>
        <p:nvSpPr>
          <p:cNvPr id="13" name="Text 11"/>
          <p:cNvSpPr/>
          <p:nvPr/>
        </p:nvSpPr>
        <p:spPr>
          <a:xfrm>
            <a:off x="502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14" name="Shape 12"/>
          <p:cNvSpPr/>
          <p:nvPr/>
        </p:nvSpPr>
        <p:spPr>
          <a:xfrm>
            <a:off x="1005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5" name="Text 13"/>
          <p:cNvSpPr/>
          <p:nvPr/>
        </p:nvSpPr>
        <p:spPr>
          <a:xfrm>
            <a:off x="1005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1709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7" name="Text 15"/>
          <p:cNvSpPr/>
          <p:nvPr/>
        </p:nvSpPr>
        <p:spPr>
          <a:xfrm>
            <a:off x="1709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414016"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19" name="Text 17"/>
          <p:cNvSpPr/>
          <p:nvPr/>
        </p:nvSpPr>
        <p:spPr>
          <a:xfrm>
            <a:off x="2414016"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3118104" y="1508760"/>
            <a:ext cx="704088" cy="502920"/>
          </a:xfrm>
          <a:prstGeom prst="rect">
            <a:avLst/>
          </a:prstGeom>
          <a:solidFill>
            <a:srgbClr val="FEF3D5"/>
          </a:solidFill>
          <a:ln w="6350">
            <a:solidFill>
              <a:srgbClr val="DDDDDD"/>
            </a:solidFill>
            <a:prstDash val="solid"/>
          </a:ln>
        </p:spPr>
        <p:txBody>
          <a:bodyPr/>
          <a:lstStyle/>
          <a:p>
            <a:endParaRPr lang="en-US"/>
          </a:p>
        </p:txBody>
      </p:sp>
      <p:sp>
        <p:nvSpPr>
          <p:cNvPr id="21" name="Text 19"/>
          <p:cNvSpPr/>
          <p:nvPr/>
        </p:nvSpPr>
        <p:spPr>
          <a:xfrm>
            <a:off x="3118104"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0.1</a:t>
            </a:r>
            <a:endParaRPr lang="en-US" sz="900" dirty="0"/>
          </a:p>
        </p:txBody>
      </p:sp>
      <p:sp>
        <p:nvSpPr>
          <p:cNvPr id="22" name="Text 20"/>
          <p:cNvSpPr/>
          <p:nvPr/>
        </p:nvSpPr>
        <p:spPr>
          <a:xfrm>
            <a:off x="3118104"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0.0%</a:t>
            </a:r>
            <a:endParaRPr lang="en-US" sz="700" dirty="0"/>
          </a:p>
        </p:txBody>
      </p:sp>
      <p:sp>
        <p:nvSpPr>
          <p:cNvPr id="23" name="Shape 21"/>
          <p:cNvSpPr/>
          <p:nvPr/>
        </p:nvSpPr>
        <p:spPr>
          <a:xfrm>
            <a:off x="3822192" y="1508760"/>
            <a:ext cx="704088" cy="502920"/>
          </a:xfrm>
          <a:prstGeom prst="rect">
            <a:avLst/>
          </a:prstGeom>
          <a:solidFill>
            <a:srgbClr val="FBD38D"/>
          </a:solidFill>
          <a:ln w="6350">
            <a:solidFill>
              <a:srgbClr val="DDDDDD"/>
            </a:solidFill>
            <a:prstDash val="solid"/>
          </a:ln>
        </p:spPr>
        <p:txBody>
          <a:bodyPr/>
          <a:lstStyle/>
          <a:p>
            <a:endParaRPr lang="en-US"/>
          </a:p>
        </p:txBody>
      </p:sp>
      <p:sp>
        <p:nvSpPr>
          <p:cNvPr id="24" name="Text 22"/>
          <p:cNvSpPr/>
          <p:nvPr/>
        </p:nvSpPr>
        <p:spPr>
          <a:xfrm>
            <a:off x="3822192" y="150876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44.2</a:t>
            </a:r>
            <a:endParaRPr lang="en-US" sz="900" dirty="0"/>
          </a:p>
        </p:txBody>
      </p:sp>
      <p:sp>
        <p:nvSpPr>
          <p:cNvPr id="25" name="Text 23"/>
          <p:cNvSpPr/>
          <p:nvPr/>
        </p:nvSpPr>
        <p:spPr>
          <a:xfrm>
            <a:off x="3822192" y="176022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13.3%</a:t>
            </a:r>
            <a:endParaRPr lang="en-US" sz="700" dirty="0"/>
          </a:p>
        </p:txBody>
      </p:sp>
      <p:sp>
        <p:nvSpPr>
          <p:cNvPr id="26" name="Text 24"/>
          <p:cNvSpPr/>
          <p:nvPr/>
        </p:nvSpPr>
        <p:spPr>
          <a:xfrm>
            <a:off x="502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27" name="Shape 25"/>
          <p:cNvSpPr/>
          <p:nvPr/>
        </p:nvSpPr>
        <p:spPr>
          <a:xfrm>
            <a:off x="1005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28" name="Text 26"/>
          <p:cNvSpPr/>
          <p:nvPr/>
        </p:nvSpPr>
        <p:spPr>
          <a:xfrm>
            <a:off x="1005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1709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0" name="Text 28"/>
          <p:cNvSpPr/>
          <p:nvPr/>
        </p:nvSpPr>
        <p:spPr>
          <a:xfrm>
            <a:off x="1709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2414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2" name="Text 30"/>
          <p:cNvSpPr/>
          <p:nvPr/>
        </p:nvSpPr>
        <p:spPr>
          <a:xfrm>
            <a:off x="2414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3118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34" name="Text 32"/>
          <p:cNvSpPr/>
          <p:nvPr/>
        </p:nvSpPr>
        <p:spPr>
          <a:xfrm>
            <a:off x="3118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35" name="Shape 33"/>
          <p:cNvSpPr/>
          <p:nvPr/>
        </p:nvSpPr>
        <p:spPr>
          <a:xfrm>
            <a:off x="3822192" y="2011680"/>
            <a:ext cx="704088" cy="502920"/>
          </a:xfrm>
          <a:prstGeom prst="rect">
            <a:avLst/>
          </a:prstGeom>
          <a:solidFill>
            <a:srgbClr val="FBD38D"/>
          </a:solidFill>
          <a:ln w="6350">
            <a:solidFill>
              <a:srgbClr val="DDDDDD"/>
            </a:solidFill>
            <a:prstDash val="solid"/>
          </a:ln>
        </p:spPr>
        <p:txBody>
          <a:bodyPr/>
          <a:lstStyle/>
          <a:p>
            <a:endParaRPr lang="en-US"/>
          </a:p>
        </p:txBody>
      </p:sp>
      <p:sp>
        <p:nvSpPr>
          <p:cNvPr id="36" name="Text 34"/>
          <p:cNvSpPr/>
          <p:nvPr/>
        </p:nvSpPr>
        <p:spPr>
          <a:xfrm>
            <a:off x="3822192" y="201168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44.5</a:t>
            </a:r>
            <a:endParaRPr lang="en-US" sz="900" dirty="0"/>
          </a:p>
        </p:txBody>
      </p:sp>
      <p:sp>
        <p:nvSpPr>
          <p:cNvPr id="37" name="Text 35"/>
          <p:cNvSpPr/>
          <p:nvPr/>
        </p:nvSpPr>
        <p:spPr>
          <a:xfrm>
            <a:off x="3822192" y="226314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13.4%</a:t>
            </a:r>
            <a:endParaRPr lang="en-US" sz="700" dirty="0"/>
          </a:p>
        </p:txBody>
      </p:sp>
      <p:sp>
        <p:nvSpPr>
          <p:cNvPr id="38" name="Text 36"/>
          <p:cNvSpPr/>
          <p:nvPr/>
        </p:nvSpPr>
        <p:spPr>
          <a:xfrm>
            <a:off x="502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39" name="Shape 37"/>
          <p:cNvSpPr/>
          <p:nvPr/>
        </p:nvSpPr>
        <p:spPr>
          <a:xfrm>
            <a:off x="1005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0" name="Text 38"/>
          <p:cNvSpPr/>
          <p:nvPr/>
        </p:nvSpPr>
        <p:spPr>
          <a:xfrm>
            <a:off x="1005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1" name="Shape 39"/>
          <p:cNvSpPr/>
          <p:nvPr/>
        </p:nvSpPr>
        <p:spPr>
          <a:xfrm>
            <a:off x="1709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2" name="Text 40"/>
          <p:cNvSpPr/>
          <p:nvPr/>
        </p:nvSpPr>
        <p:spPr>
          <a:xfrm>
            <a:off x="1709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2414016"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4" name="Text 42"/>
          <p:cNvSpPr/>
          <p:nvPr/>
        </p:nvSpPr>
        <p:spPr>
          <a:xfrm>
            <a:off x="2414016"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3118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46" name="Text 44"/>
          <p:cNvSpPr/>
          <p:nvPr/>
        </p:nvSpPr>
        <p:spPr>
          <a:xfrm>
            <a:off x="3118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47" name="Shape 45"/>
          <p:cNvSpPr/>
          <p:nvPr/>
        </p:nvSpPr>
        <p:spPr>
          <a:xfrm>
            <a:off x="3822192" y="2514600"/>
            <a:ext cx="704088" cy="502920"/>
          </a:xfrm>
          <a:prstGeom prst="rect">
            <a:avLst/>
          </a:prstGeom>
          <a:solidFill>
            <a:srgbClr val="FBD38D"/>
          </a:solidFill>
          <a:ln w="6350">
            <a:solidFill>
              <a:srgbClr val="DDDDDD"/>
            </a:solidFill>
            <a:prstDash val="solid"/>
          </a:ln>
        </p:spPr>
        <p:txBody>
          <a:bodyPr/>
          <a:lstStyle/>
          <a:p>
            <a:endParaRPr lang="en-US"/>
          </a:p>
        </p:txBody>
      </p:sp>
      <p:sp>
        <p:nvSpPr>
          <p:cNvPr id="48" name="Text 46"/>
          <p:cNvSpPr/>
          <p:nvPr/>
        </p:nvSpPr>
        <p:spPr>
          <a:xfrm>
            <a:off x="3822192" y="251460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40.5</a:t>
            </a:r>
            <a:endParaRPr lang="en-US" sz="900" dirty="0"/>
          </a:p>
        </p:txBody>
      </p:sp>
      <p:sp>
        <p:nvSpPr>
          <p:cNvPr id="49" name="Text 47"/>
          <p:cNvSpPr/>
          <p:nvPr/>
        </p:nvSpPr>
        <p:spPr>
          <a:xfrm>
            <a:off x="3822192" y="276606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12.2%</a:t>
            </a:r>
            <a:endParaRPr lang="en-US" sz="700" dirty="0"/>
          </a:p>
        </p:txBody>
      </p:sp>
      <p:sp>
        <p:nvSpPr>
          <p:cNvPr id="50" name="Text 48"/>
          <p:cNvSpPr/>
          <p:nvPr/>
        </p:nvSpPr>
        <p:spPr>
          <a:xfrm>
            <a:off x="502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51" name="Shape 49"/>
          <p:cNvSpPr/>
          <p:nvPr/>
        </p:nvSpPr>
        <p:spPr>
          <a:xfrm>
            <a:off x="1005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2" name="Text 50"/>
          <p:cNvSpPr/>
          <p:nvPr/>
        </p:nvSpPr>
        <p:spPr>
          <a:xfrm>
            <a:off x="1005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1709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4" name="Text 52"/>
          <p:cNvSpPr/>
          <p:nvPr/>
        </p:nvSpPr>
        <p:spPr>
          <a:xfrm>
            <a:off x="1709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5" name="Shape 53"/>
          <p:cNvSpPr/>
          <p:nvPr/>
        </p:nvSpPr>
        <p:spPr>
          <a:xfrm>
            <a:off x="2414016"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6" name="Text 54"/>
          <p:cNvSpPr/>
          <p:nvPr/>
        </p:nvSpPr>
        <p:spPr>
          <a:xfrm>
            <a:off x="2414016"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3118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58" name="Text 56"/>
          <p:cNvSpPr/>
          <p:nvPr/>
        </p:nvSpPr>
        <p:spPr>
          <a:xfrm>
            <a:off x="3118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59" name="Shape 57"/>
          <p:cNvSpPr/>
          <p:nvPr/>
        </p:nvSpPr>
        <p:spPr>
          <a:xfrm>
            <a:off x="3822192" y="3017520"/>
            <a:ext cx="704088" cy="502920"/>
          </a:xfrm>
          <a:prstGeom prst="rect">
            <a:avLst/>
          </a:prstGeom>
          <a:solidFill>
            <a:srgbClr val="F6AD55"/>
          </a:solidFill>
          <a:ln w="6350">
            <a:solidFill>
              <a:srgbClr val="DDDDDD"/>
            </a:solidFill>
            <a:prstDash val="solid"/>
          </a:ln>
        </p:spPr>
        <p:txBody>
          <a:bodyPr/>
          <a:lstStyle/>
          <a:p>
            <a:endParaRPr lang="en-US"/>
          </a:p>
        </p:txBody>
      </p:sp>
      <p:sp>
        <p:nvSpPr>
          <p:cNvPr id="60" name="Text 58"/>
          <p:cNvSpPr/>
          <p:nvPr/>
        </p:nvSpPr>
        <p:spPr>
          <a:xfrm>
            <a:off x="3822192" y="3017520"/>
            <a:ext cx="704088" cy="276606"/>
          </a:xfrm>
          <a:prstGeom prst="rect">
            <a:avLst/>
          </a:prstGeom>
          <a:noFill/>
          <a:ln/>
        </p:spPr>
        <p:txBody>
          <a:bodyPr wrap="square" lIns="0" tIns="0" rIns="0" bIns="0" rtlCol="0" anchor="b"/>
          <a:lstStyle/>
          <a:p>
            <a:pPr marL="0" indent="0" algn="ctr">
              <a:buNone/>
            </a:pPr>
            <a:r>
              <a:rPr lang="en-US" sz="900" b="1" dirty="0">
                <a:solidFill>
                  <a:srgbClr val="2C3E50"/>
                </a:solidFill>
                <a:latin typeface="Calibri" pitchFamily="34" charset="0"/>
                <a:ea typeface="Calibri" pitchFamily="34" charset="-122"/>
                <a:cs typeface="Calibri" pitchFamily="34" charset="-120"/>
              </a:rPr>
              <a:t>57.8</a:t>
            </a:r>
            <a:endParaRPr lang="en-US" sz="900" dirty="0"/>
          </a:p>
        </p:txBody>
      </p:sp>
      <p:sp>
        <p:nvSpPr>
          <p:cNvPr id="61" name="Text 59"/>
          <p:cNvSpPr/>
          <p:nvPr/>
        </p:nvSpPr>
        <p:spPr>
          <a:xfrm>
            <a:off x="3822192" y="3268980"/>
            <a:ext cx="704088" cy="251460"/>
          </a:xfrm>
          <a:prstGeom prst="rect">
            <a:avLst/>
          </a:prstGeom>
          <a:noFill/>
          <a:ln/>
        </p:spPr>
        <p:txBody>
          <a:bodyPr wrap="square" lIns="0" tIns="0" rIns="0" bIns="0" rtlCol="0" anchor="t"/>
          <a:lstStyle/>
          <a:p>
            <a:pPr marL="0" indent="0" algn="ctr">
              <a:buNone/>
            </a:pPr>
            <a:r>
              <a:rPr lang="en-US" sz="700" dirty="0">
                <a:solidFill>
                  <a:srgbClr val="2C3E50"/>
                </a:solidFill>
                <a:latin typeface="Calibri" pitchFamily="34" charset="0"/>
                <a:ea typeface="Calibri" pitchFamily="34" charset="-122"/>
                <a:cs typeface="Calibri" pitchFamily="34" charset="-120"/>
              </a:rPr>
              <a:t>17.4%</a:t>
            </a:r>
            <a:endParaRPr lang="en-US" sz="700" dirty="0"/>
          </a:p>
        </p:txBody>
      </p:sp>
      <p:sp>
        <p:nvSpPr>
          <p:cNvPr id="62" name="Text 60"/>
          <p:cNvSpPr/>
          <p:nvPr/>
        </p:nvSpPr>
        <p:spPr>
          <a:xfrm>
            <a:off x="502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63" name="Shape 61"/>
          <p:cNvSpPr/>
          <p:nvPr/>
        </p:nvSpPr>
        <p:spPr>
          <a:xfrm>
            <a:off x="1005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4" name="Text 62"/>
          <p:cNvSpPr/>
          <p:nvPr/>
        </p:nvSpPr>
        <p:spPr>
          <a:xfrm>
            <a:off x="1005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5" name="Shape 63"/>
          <p:cNvSpPr/>
          <p:nvPr/>
        </p:nvSpPr>
        <p:spPr>
          <a:xfrm>
            <a:off x="1709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6" name="Text 64"/>
          <p:cNvSpPr/>
          <p:nvPr/>
        </p:nvSpPr>
        <p:spPr>
          <a:xfrm>
            <a:off x="1709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2414016"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68" name="Text 66"/>
          <p:cNvSpPr/>
          <p:nvPr/>
        </p:nvSpPr>
        <p:spPr>
          <a:xfrm>
            <a:off x="2414016"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69" name="Shape 67"/>
          <p:cNvSpPr/>
          <p:nvPr/>
        </p:nvSpPr>
        <p:spPr>
          <a:xfrm>
            <a:off x="3118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70" name="Text 68"/>
          <p:cNvSpPr/>
          <p:nvPr/>
        </p:nvSpPr>
        <p:spPr>
          <a:xfrm>
            <a:off x="3118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71" name="Shape 69"/>
          <p:cNvSpPr/>
          <p:nvPr/>
        </p:nvSpPr>
        <p:spPr>
          <a:xfrm>
            <a:off x="3822192" y="3520440"/>
            <a:ext cx="704088" cy="502920"/>
          </a:xfrm>
          <a:prstGeom prst="rect">
            <a:avLst/>
          </a:prstGeom>
          <a:solidFill>
            <a:srgbClr val="DD6B20"/>
          </a:solidFill>
          <a:ln w="6350">
            <a:solidFill>
              <a:srgbClr val="DDDDDD"/>
            </a:solidFill>
            <a:prstDash val="solid"/>
          </a:ln>
        </p:spPr>
        <p:txBody>
          <a:bodyPr/>
          <a:lstStyle/>
          <a:p>
            <a:endParaRPr lang="en-US"/>
          </a:p>
        </p:txBody>
      </p:sp>
      <p:sp>
        <p:nvSpPr>
          <p:cNvPr id="72" name="Text 70"/>
          <p:cNvSpPr/>
          <p:nvPr/>
        </p:nvSpPr>
        <p:spPr>
          <a:xfrm>
            <a:off x="3822192" y="3520440"/>
            <a:ext cx="704088" cy="276606"/>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144.4</a:t>
            </a:r>
            <a:endParaRPr lang="en-US" sz="900" dirty="0"/>
          </a:p>
        </p:txBody>
      </p:sp>
      <p:sp>
        <p:nvSpPr>
          <p:cNvPr id="73" name="Text 71"/>
          <p:cNvSpPr/>
          <p:nvPr/>
        </p:nvSpPr>
        <p:spPr>
          <a:xfrm>
            <a:off x="3822192" y="3771900"/>
            <a:ext cx="704088" cy="251460"/>
          </a:xfrm>
          <a:prstGeom prst="rect">
            <a:avLst/>
          </a:prstGeom>
          <a:noFill/>
          <a:ln/>
        </p:spPr>
        <p:txBody>
          <a:bodyPr wrap="square" lIns="0" tIns="0" rIns="0" bIns="0" rtlCol="0" anchor="t"/>
          <a:lstStyle/>
          <a:p>
            <a:pPr marL="0" indent="0" algn="ctr">
              <a:buNone/>
            </a:pPr>
            <a:r>
              <a:rPr lang="en-US" sz="700" dirty="0">
                <a:solidFill>
                  <a:srgbClr val="FFFFFF"/>
                </a:solidFill>
                <a:latin typeface="Calibri" pitchFamily="34" charset="0"/>
                <a:ea typeface="Calibri" pitchFamily="34" charset="-122"/>
                <a:cs typeface="Calibri" pitchFamily="34" charset="-120"/>
              </a:rPr>
              <a:t>43.6%</a:t>
            </a:r>
            <a:endParaRPr lang="en-US" sz="700" dirty="0"/>
          </a:p>
        </p:txBody>
      </p:sp>
      <p:sp>
        <p:nvSpPr>
          <p:cNvPr id="74" name="Text 72"/>
          <p:cNvSpPr/>
          <p:nvPr/>
        </p:nvSpPr>
        <p:spPr>
          <a:xfrm>
            <a:off x="5074920" y="1097280"/>
            <a:ext cx="4023360" cy="32004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Unit count (leaves)</a:t>
            </a:r>
            <a:endParaRPr lang="en-US" sz="1100" dirty="0"/>
          </a:p>
        </p:txBody>
      </p:sp>
      <p:sp>
        <p:nvSpPr>
          <p:cNvPr id="75" name="Text 73"/>
          <p:cNvSpPr/>
          <p:nvPr/>
        </p:nvSpPr>
        <p:spPr>
          <a:xfrm>
            <a:off x="5577840"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Poor</a:t>
            </a:r>
            <a:endParaRPr lang="en-US" sz="800" dirty="0"/>
          </a:p>
        </p:txBody>
      </p:sp>
      <p:sp>
        <p:nvSpPr>
          <p:cNvPr id="76" name="Text 74"/>
          <p:cNvSpPr/>
          <p:nvPr/>
        </p:nvSpPr>
        <p:spPr>
          <a:xfrm>
            <a:off x="6281928"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77" name="Text 75"/>
          <p:cNvSpPr/>
          <p:nvPr/>
        </p:nvSpPr>
        <p:spPr>
          <a:xfrm>
            <a:off x="6986016"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78" name="Text 76"/>
          <p:cNvSpPr/>
          <p:nvPr/>
        </p:nvSpPr>
        <p:spPr>
          <a:xfrm>
            <a:off x="7690104"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79" name="Text 77"/>
          <p:cNvSpPr/>
          <p:nvPr/>
        </p:nvSpPr>
        <p:spPr>
          <a:xfrm>
            <a:off x="8394192" y="1143000"/>
            <a:ext cx="704088" cy="365760"/>
          </a:xfrm>
          <a:prstGeom prst="rect">
            <a:avLst/>
          </a:prstGeom>
          <a:noFill/>
          <a:ln/>
        </p:spPr>
        <p:txBody>
          <a:bodyPr wrap="square" lIns="0" tIns="0" rIns="0" bIns="0" rtlCol="0" anchor="b"/>
          <a:lstStyle/>
          <a:p>
            <a:pPr marL="0" indent="0" algn="ct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ctr">
              <a:buNone/>
            </a:pPr>
            <a:r>
              <a:rPr lang="en-US" sz="800" b="1" dirty="0">
                <a:solidFill>
                  <a:srgbClr val="5D6D7E"/>
                </a:solidFill>
                <a:latin typeface="Calibri" pitchFamily="34" charset="0"/>
                <a:ea typeface="Calibri" pitchFamily="34" charset="-122"/>
                <a:cs typeface="Calibri" pitchFamily="34" charset="-120"/>
              </a:rPr>
              <a:t>Rich</a:t>
            </a:r>
            <a:endParaRPr lang="en-US" sz="800" dirty="0"/>
          </a:p>
        </p:txBody>
      </p:sp>
      <p:sp>
        <p:nvSpPr>
          <p:cNvPr id="80" name="Text 78"/>
          <p:cNvSpPr/>
          <p:nvPr/>
        </p:nvSpPr>
        <p:spPr>
          <a:xfrm>
            <a:off x="5074920" y="150876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Q1</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Sparse</a:t>
            </a:r>
            <a:endParaRPr lang="en-US" sz="800" dirty="0"/>
          </a:p>
        </p:txBody>
      </p:sp>
      <p:sp>
        <p:nvSpPr>
          <p:cNvPr id="81" name="Shape 79"/>
          <p:cNvSpPr/>
          <p:nvPr/>
        </p:nvSpPr>
        <p:spPr>
          <a:xfrm>
            <a:off x="5577840"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2" name="Text 80"/>
          <p:cNvSpPr/>
          <p:nvPr/>
        </p:nvSpPr>
        <p:spPr>
          <a:xfrm>
            <a:off x="5577840"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3" name="Shape 81"/>
          <p:cNvSpPr/>
          <p:nvPr/>
        </p:nvSpPr>
        <p:spPr>
          <a:xfrm>
            <a:off x="6281928"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4" name="Text 82"/>
          <p:cNvSpPr/>
          <p:nvPr/>
        </p:nvSpPr>
        <p:spPr>
          <a:xfrm>
            <a:off x="6281928"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5" name="Shape 83"/>
          <p:cNvSpPr/>
          <p:nvPr/>
        </p:nvSpPr>
        <p:spPr>
          <a:xfrm>
            <a:off x="6986016" y="1508760"/>
            <a:ext cx="704088" cy="502920"/>
          </a:xfrm>
          <a:prstGeom prst="rect">
            <a:avLst/>
          </a:prstGeom>
          <a:solidFill>
            <a:srgbClr val="EDEDED"/>
          </a:solidFill>
          <a:ln w="6350">
            <a:solidFill>
              <a:srgbClr val="DDDDDD"/>
            </a:solidFill>
            <a:prstDash val="solid"/>
          </a:ln>
        </p:spPr>
        <p:txBody>
          <a:bodyPr/>
          <a:lstStyle/>
          <a:p>
            <a:endParaRPr lang="en-US"/>
          </a:p>
        </p:txBody>
      </p:sp>
      <p:sp>
        <p:nvSpPr>
          <p:cNvPr id="86" name="Text 84"/>
          <p:cNvSpPr/>
          <p:nvPr/>
        </p:nvSpPr>
        <p:spPr>
          <a:xfrm>
            <a:off x="6986016" y="150876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87" name="Shape 85"/>
          <p:cNvSpPr/>
          <p:nvPr/>
        </p:nvSpPr>
        <p:spPr>
          <a:xfrm>
            <a:off x="7690104" y="1508760"/>
            <a:ext cx="704088" cy="502920"/>
          </a:xfrm>
          <a:prstGeom prst="rect">
            <a:avLst/>
          </a:prstGeom>
          <a:solidFill>
            <a:srgbClr val="EBF5FB"/>
          </a:solidFill>
          <a:ln w="6350">
            <a:solidFill>
              <a:srgbClr val="DDDDDD"/>
            </a:solidFill>
            <a:prstDash val="solid"/>
          </a:ln>
        </p:spPr>
        <p:txBody>
          <a:bodyPr/>
          <a:lstStyle/>
          <a:p>
            <a:endParaRPr lang="en-US"/>
          </a:p>
        </p:txBody>
      </p:sp>
      <p:sp>
        <p:nvSpPr>
          <p:cNvPr id="88" name="Text 86"/>
          <p:cNvSpPr/>
          <p:nvPr/>
        </p:nvSpPr>
        <p:spPr>
          <a:xfrm>
            <a:off x="7690104" y="1508760"/>
            <a:ext cx="704088" cy="502920"/>
          </a:xfrm>
          <a:prstGeom prst="rect">
            <a:avLst/>
          </a:prstGeom>
          <a:noFill/>
          <a:ln/>
        </p:spPr>
        <p:txBody>
          <a:bodyPr wrap="square" lIns="0" tIns="0" rIns="0" bIns="0" rtlCol="0" anchor="ctr"/>
          <a:lstStyle/>
          <a:p>
            <a:pPr marL="0" indent="0" algn="ctr">
              <a:buNone/>
            </a:pPr>
            <a:r>
              <a:rPr lang="en-US" sz="1000" b="1" dirty="0">
                <a:solidFill>
                  <a:srgbClr val="2C3E50"/>
                </a:solidFill>
                <a:latin typeface="Calibri" pitchFamily="34" charset="0"/>
                <a:ea typeface="Calibri" pitchFamily="34" charset="-122"/>
                <a:cs typeface="Calibri" pitchFamily="34" charset="-120"/>
              </a:rPr>
              <a:t>6</a:t>
            </a:r>
            <a:endParaRPr lang="en-US" sz="1000" dirty="0"/>
          </a:p>
        </p:txBody>
      </p:sp>
      <p:sp>
        <p:nvSpPr>
          <p:cNvPr id="89" name="Shape 87"/>
          <p:cNvSpPr/>
          <p:nvPr/>
        </p:nvSpPr>
        <p:spPr>
          <a:xfrm>
            <a:off x="8394192" y="1508760"/>
            <a:ext cx="704088" cy="502920"/>
          </a:xfrm>
          <a:prstGeom prst="rect">
            <a:avLst/>
          </a:prstGeom>
          <a:solidFill>
            <a:srgbClr val="1B4F72"/>
          </a:solidFill>
          <a:ln w="6350">
            <a:solidFill>
              <a:srgbClr val="DDDDDD"/>
            </a:solidFill>
            <a:prstDash val="solid"/>
          </a:ln>
        </p:spPr>
        <p:txBody>
          <a:bodyPr/>
          <a:lstStyle/>
          <a:p>
            <a:endParaRPr lang="en-US"/>
          </a:p>
        </p:txBody>
      </p:sp>
      <p:sp>
        <p:nvSpPr>
          <p:cNvPr id="90" name="Text 88"/>
          <p:cNvSpPr/>
          <p:nvPr/>
        </p:nvSpPr>
        <p:spPr>
          <a:xfrm>
            <a:off x="8394192" y="150876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2,051</a:t>
            </a:r>
            <a:endParaRPr lang="en-US" sz="1000" dirty="0"/>
          </a:p>
        </p:txBody>
      </p:sp>
      <p:sp>
        <p:nvSpPr>
          <p:cNvPr id="91" name="Text 89"/>
          <p:cNvSpPr/>
          <p:nvPr/>
        </p:nvSpPr>
        <p:spPr>
          <a:xfrm>
            <a:off x="5074920" y="201168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Q2</a:t>
            </a:r>
            <a:endParaRPr lang="en-US" sz="800" dirty="0"/>
          </a:p>
        </p:txBody>
      </p:sp>
      <p:sp>
        <p:nvSpPr>
          <p:cNvPr id="92" name="Shape 90"/>
          <p:cNvSpPr/>
          <p:nvPr/>
        </p:nvSpPr>
        <p:spPr>
          <a:xfrm>
            <a:off x="5577840"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3" name="Text 91"/>
          <p:cNvSpPr/>
          <p:nvPr/>
        </p:nvSpPr>
        <p:spPr>
          <a:xfrm>
            <a:off x="5577840"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4" name="Shape 92"/>
          <p:cNvSpPr/>
          <p:nvPr/>
        </p:nvSpPr>
        <p:spPr>
          <a:xfrm>
            <a:off x="6281928"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5" name="Text 93"/>
          <p:cNvSpPr/>
          <p:nvPr/>
        </p:nvSpPr>
        <p:spPr>
          <a:xfrm>
            <a:off x="6281928"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6" name="Shape 94"/>
          <p:cNvSpPr/>
          <p:nvPr/>
        </p:nvSpPr>
        <p:spPr>
          <a:xfrm>
            <a:off x="6986016"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7" name="Text 95"/>
          <p:cNvSpPr/>
          <p:nvPr/>
        </p:nvSpPr>
        <p:spPr>
          <a:xfrm>
            <a:off x="6986016"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98" name="Shape 96"/>
          <p:cNvSpPr/>
          <p:nvPr/>
        </p:nvSpPr>
        <p:spPr>
          <a:xfrm>
            <a:off x="7690104" y="2011680"/>
            <a:ext cx="704088" cy="502920"/>
          </a:xfrm>
          <a:prstGeom prst="rect">
            <a:avLst/>
          </a:prstGeom>
          <a:solidFill>
            <a:srgbClr val="EDEDED"/>
          </a:solidFill>
          <a:ln w="6350">
            <a:solidFill>
              <a:srgbClr val="DDDDDD"/>
            </a:solidFill>
            <a:prstDash val="solid"/>
          </a:ln>
        </p:spPr>
        <p:txBody>
          <a:bodyPr/>
          <a:lstStyle/>
          <a:p>
            <a:endParaRPr lang="en-US"/>
          </a:p>
        </p:txBody>
      </p:sp>
      <p:sp>
        <p:nvSpPr>
          <p:cNvPr id="99" name="Text 97"/>
          <p:cNvSpPr/>
          <p:nvPr/>
        </p:nvSpPr>
        <p:spPr>
          <a:xfrm>
            <a:off x="7690104" y="201168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0" name="Shape 98"/>
          <p:cNvSpPr/>
          <p:nvPr/>
        </p:nvSpPr>
        <p:spPr>
          <a:xfrm>
            <a:off x="8394192" y="2011680"/>
            <a:ext cx="704088" cy="502920"/>
          </a:xfrm>
          <a:prstGeom prst="rect">
            <a:avLst/>
          </a:prstGeom>
          <a:solidFill>
            <a:srgbClr val="1B4F72"/>
          </a:solidFill>
          <a:ln w="6350">
            <a:solidFill>
              <a:srgbClr val="DDDDDD"/>
            </a:solidFill>
            <a:prstDash val="solid"/>
          </a:ln>
        </p:spPr>
        <p:txBody>
          <a:bodyPr/>
          <a:lstStyle/>
          <a:p>
            <a:endParaRPr lang="en-US"/>
          </a:p>
        </p:txBody>
      </p:sp>
      <p:sp>
        <p:nvSpPr>
          <p:cNvPr id="101" name="Text 99"/>
          <p:cNvSpPr/>
          <p:nvPr/>
        </p:nvSpPr>
        <p:spPr>
          <a:xfrm>
            <a:off x="8394192" y="201168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528</a:t>
            </a:r>
            <a:endParaRPr lang="en-US" sz="1000" dirty="0"/>
          </a:p>
        </p:txBody>
      </p:sp>
      <p:sp>
        <p:nvSpPr>
          <p:cNvPr id="102" name="Text 100"/>
          <p:cNvSpPr/>
          <p:nvPr/>
        </p:nvSpPr>
        <p:spPr>
          <a:xfrm>
            <a:off x="5074920" y="251460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Q3</a:t>
            </a:r>
            <a:endParaRPr lang="en-US" sz="800" dirty="0"/>
          </a:p>
        </p:txBody>
      </p:sp>
      <p:sp>
        <p:nvSpPr>
          <p:cNvPr id="103" name="Shape 101"/>
          <p:cNvSpPr/>
          <p:nvPr/>
        </p:nvSpPr>
        <p:spPr>
          <a:xfrm>
            <a:off x="5577840"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4" name="Text 102"/>
          <p:cNvSpPr/>
          <p:nvPr/>
        </p:nvSpPr>
        <p:spPr>
          <a:xfrm>
            <a:off x="5577840"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5" name="Shape 103"/>
          <p:cNvSpPr/>
          <p:nvPr/>
        </p:nvSpPr>
        <p:spPr>
          <a:xfrm>
            <a:off x="6281928"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6" name="Text 104"/>
          <p:cNvSpPr/>
          <p:nvPr/>
        </p:nvSpPr>
        <p:spPr>
          <a:xfrm>
            <a:off x="6281928"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7" name="Shape 105"/>
          <p:cNvSpPr/>
          <p:nvPr/>
        </p:nvSpPr>
        <p:spPr>
          <a:xfrm>
            <a:off x="6986016"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08" name="Text 106"/>
          <p:cNvSpPr/>
          <p:nvPr/>
        </p:nvSpPr>
        <p:spPr>
          <a:xfrm>
            <a:off x="6986016"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09" name="Shape 107"/>
          <p:cNvSpPr/>
          <p:nvPr/>
        </p:nvSpPr>
        <p:spPr>
          <a:xfrm>
            <a:off x="7690104" y="2514600"/>
            <a:ext cx="704088" cy="502920"/>
          </a:xfrm>
          <a:prstGeom prst="rect">
            <a:avLst/>
          </a:prstGeom>
          <a:solidFill>
            <a:srgbClr val="EDEDED"/>
          </a:solidFill>
          <a:ln w="6350">
            <a:solidFill>
              <a:srgbClr val="DDDDDD"/>
            </a:solidFill>
            <a:prstDash val="solid"/>
          </a:ln>
        </p:spPr>
        <p:txBody>
          <a:bodyPr/>
          <a:lstStyle/>
          <a:p>
            <a:endParaRPr lang="en-US"/>
          </a:p>
        </p:txBody>
      </p:sp>
      <p:sp>
        <p:nvSpPr>
          <p:cNvPr id="110" name="Text 108"/>
          <p:cNvSpPr/>
          <p:nvPr/>
        </p:nvSpPr>
        <p:spPr>
          <a:xfrm>
            <a:off x="7690104" y="251460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1" name="Shape 109"/>
          <p:cNvSpPr/>
          <p:nvPr/>
        </p:nvSpPr>
        <p:spPr>
          <a:xfrm>
            <a:off x="8394192" y="2514600"/>
            <a:ext cx="704088" cy="502920"/>
          </a:xfrm>
          <a:prstGeom prst="rect">
            <a:avLst/>
          </a:prstGeom>
          <a:solidFill>
            <a:srgbClr val="2E86C1"/>
          </a:solidFill>
          <a:ln w="6350">
            <a:solidFill>
              <a:srgbClr val="DDDDDD"/>
            </a:solidFill>
            <a:prstDash val="solid"/>
          </a:ln>
        </p:spPr>
        <p:txBody>
          <a:bodyPr/>
          <a:lstStyle/>
          <a:p>
            <a:endParaRPr lang="en-US"/>
          </a:p>
        </p:txBody>
      </p:sp>
      <p:sp>
        <p:nvSpPr>
          <p:cNvPr id="112" name="Text 110"/>
          <p:cNvSpPr/>
          <p:nvPr/>
        </p:nvSpPr>
        <p:spPr>
          <a:xfrm>
            <a:off x="8394192" y="251460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211</a:t>
            </a:r>
            <a:endParaRPr lang="en-US" sz="1000" dirty="0"/>
          </a:p>
        </p:txBody>
      </p:sp>
      <p:sp>
        <p:nvSpPr>
          <p:cNvPr id="113" name="Text 111"/>
          <p:cNvSpPr/>
          <p:nvPr/>
        </p:nvSpPr>
        <p:spPr>
          <a:xfrm>
            <a:off x="5074920" y="301752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Q4</a:t>
            </a:r>
            <a:endParaRPr lang="en-US" sz="800" dirty="0"/>
          </a:p>
        </p:txBody>
      </p:sp>
      <p:sp>
        <p:nvSpPr>
          <p:cNvPr id="114" name="Shape 112"/>
          <p:cNvSpPr/>
          <p:nvPr/>
        </p:nvSpPr>
        <p:spPr>
          <a:xfrm>
            <a:off x="5577840"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5" name="Text 113"/>
          <p:cNvSpPr/>
          <p:nvPr/>
        </p:nvSpPr>
        <p:spPr>
          <a:xfrm>
            <a:off x="5577840"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6" name="Shape 114"/>
          <p:cNvSpPr/>
          <p:nvPr/>
        </p:nvSpPr>
        <p:spPr>
          <a:xfrm>
            <a:off x="6281928"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7" name="Text 115"/>
          <p:cNvSpPr/>
          <p:nvPr/>
        </p:nvSpPr>
        <p:spPr>
          <a:xfrm>
            <a:off x="6281928"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18" name="Shape 116"/>
          <p:cNvSpPr/>
          <p:nvPr/>
        </p:nvSpPr>
        <p:spPr>
          <a:xfrm>
            <a:off x="6986016"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19" name="Text 117"/>
          <p:cNvSpPr/>
          <p:nvPr/>
        </p:nvSpPr>
        <p:spPr>
          <a:xfrm>
            <a:off x="6986016"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0" name="Shape 118"/>
          <p:cNvSpPr/>
          <p:nvPr/>
        </p:nvSpPr>
        <p:spPr>
          <a:xfrm>
            <a:off x="7690104" y="3017520"/>
            <a:ext cx="704088" cy="502920"/>
          </a:xfrm>
          <a:prstGeom prst="rect">
            <a:avLst/>
          </a:prstGeom>
          <a:solidFill>
            <a:srgbClr val="EDEDED"/>
          </a:solidFill>
          <a:ln w="6350">
            <a:solidFill>
              <a:srgbClr val="DDDDDD"/>
            </a:solidFill>
            <a:prstDash val="solid"/>
          </a:ln>
        </p:spPr>
        <p:txBody>
          <a:bodyPr/>
          <a:lstStyle/>
          <a:p>
            <a:endParaRPr lang="en-US"/>
          </a:p>
        </p:txBody>
      </p:sp>
      <p:sp>
        <p:nvSpPr>
          <p:cNvPr id="121" name="Text 119"/>
          <p:cNvSpPr/>
          <p:nvPr/>
        </p:nvSpPr>
        <p:spPr>
          <a:xfrm>
            <a:off x="7690104" y="301752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2" name="Shape 120"/>
          <p:cNvSpPr/>
          <p:nvPr/>
        </p:nvSpPr>
        <p:spPr>
          <a:xfrm>
            <a:off x="8394192" y="3017520"/>
            <a:ext cx="704088" cy="502920"/>
          </a:xfrm>
          <a:prstGeom prst="rect">
            <a:avLst/>
          </a:prstGeom>
          <a:solidFill>
            <a:srgbClr val="2E86C1"/>
          </a:solidFill>
          <a:ln w="6350">
            <a:solidFill>
              <a:srgbClr val="DDDDDD"/>
            </a:solidFill>
            <a:prstDash val="solid"/>
          </a:ln>
        </p:spPr>
        <p:txBody>
          <a:bodyPr/>
          <a:lstStyle/>
          <a:p>
            <a:endParaRPr lang="en-US"/>
          </a:p>
        </p:txBody>
      </p:sp>
      <p:sp>
        <p:nvSpPr>
          <p:cNvPr id="123" name="Text 121"/>
          <p:cNvSpPr/>
          <p:nvPr/>
        </p:nvSpPr>
        <p:spPr>
          <a:xfrm>
            <a:off x="8394192" y="301752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159</a:t>
            </a:r>
            <a:endParaRPr lang="en-US" sz="1000" dirty="0"/>
          </a:p>
        </p:txBody>
      </p:sp>
      <p:sp>
        <p:nvSpPr>
          <p:cNvPr id="124" name="Text 122"/>
          <p:cNvSpPr/>
          <p:nvPr/>
        </p:nvSpPr>
        <p:spPr>
          <a:xfrm>
            <a:off x="5074920" y="3520440"/>
            <a:ext cx="502920" cy="502920"/>
          </a:xfrm>
          <a:prstGeom prst="rect">
            <a:avLst/>
          </a:prstGeom>
          <a:noFill/>
          <a:ln/>
        </p:spPr>
        <p:txBody>
          <a:bodyPr wrap="square" lIns="0" tIns="0" rIns="50800" bIns="0" rtlCol="0" anchor="ctr"/>
          <a:lstStyle/>
          <a:p>
            <a:pPr marL="0" indent="0" algn="r">
              <a:buNone/>
            </a:pPr>
            <a:r>
              <a:rPr lang="en-US" sz="800" b="1" dirty="0">
                <a:solidFill>
                  <a:srgbClr val="5D6D7E"/>
                </a:solidFill>
                <a:latin typeface="Calibri" pitchFamily="34" charset="0"/>
                <a:ea typeface="Calibri" pitchFamily="34" charset="-122"/>
                <a:cs typeface="Calibri" pitchFamily="34" charset="-120"/>
              </a:rPr>
              <a:t>Q5</a:t>
            </a:r>
            <a:endParaRPr lang="en-US" sz="800" dirty="0"/>
          </a:p>
          <a:p>
            <a:pPr marL="0" indent="0" algn="r">
              <a:buNone/>
            </a:pPr>
            <a:r>
              <a:rPr lang="en-US" sz="800" b="1" dirty="0">
                <a:solidFill>
                  <a:srgbClr val="5D6D7E"/>
                </a:solidFill>
                <a:latin typeface="Calibri" pitchFamily="34" charset="0"/>
                <a:ea typeface="Calibri" pitchFamily="34" charset="-122"/>
                <a:cs typeface="Calibri" pitchFamily="34" charset="-120"/>
              </a:rPr>
              <a:t>Dense</a:t>
            </a:r>
            <a:endParaRPr lang="en-US" sz="800" dirty="0"/>
          </a:p>
        </p:txBody>
      </p:sp>
      <p:sp>
        <p:nvSpPr>
          <p:cNvPr id="125" name="Shape 123"/>
          <p:cNvSpPr/>
          <p:nvPr/>
        </p:nvSpPr>
        <p:spPr>
          <a:xfrm>
            <a:off x="5577840"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26" name="Text 124"/>
          <p:cNvSpPr/>
          <p:nvPr/>
        </p:nvSpPr>
        <p:spPr>
          <a:xfrm>
            <a:off x="5577840"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7" name="Shape 125"/>
          <p:cNvSpPr/>
          <p:nvPr/>
        </p:nvSpPr>
        <p:spPr>
          <a:xfrm>
            <a:off x="6281928"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28" name="Text 126"/>
          <p:cNvSpPr/>
          <p:nvPr/>
        </p:nvSpPr>
        <p:spPr>
          <a:xfrm>
            <a:off x="6281928"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29" name="Shape 127"/>
          <p:cNvSpPr/>
          <p:nvPr/>
        </p:nvSpPr>
        <p:spPr>
          <a:xfrm>
            <a:off x="6986016"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0" name="Text 128"/>
          <p:cNvSpPr/>
          <p:nvPr/>
        </p:nvSpPr>
        <p:spPr>
          <a:xfrm>
            <a:off x="6986016"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1" name="Shape 129"/>
          <p:cNvSpPr/>
          <p:nvPr/>
        </p:nvSpPr>
        <p:spPr>
          <a:xfrm>
            <a:off x="7690104" y="3520440"/>
            <a:ext cx="704088" cy="502920"/>
          </a:xfrm>
          <a:prstGeom prst="rect">
            <a:avLst/>
          </a:prstGeom>
          <a:solidFill>
            <a:srgbClr val="EDEDED"/>
          </a:solidFill>
          <a:ln w="6350">
            <a:solidFill>
              <a:srgbClr val="DDDDDD"/>
            </a:solidFill>
            <a:prstDash val="solid"/>
          </a:ln>
        </p:spPr>
        <p:txBody>
          <a:bodyPr/>
          <a:lstStyle/>
          <a:p>
            <a:endParaRPr lang="en-US"/>
          </a:p>
        </p:txBody>
      </p:sp>
      <p:sp>
        <p:nvSpPr>
          <p:cNvPr id="132" name="Text 130"/>
          <p:cNvSpPr/>
          <p:nvPr/>
        </p:nvSpPr>
        <p:spPr>
          <a:xfrm>
            <a:off x="7690104" y="3520440"/>
            <a:ext cx="704088" cy="502920"/>
          </a:xfrm>
          <a:prstGeom prst="rect">
            <a:avLst/>
          </a:prstGeom>
          <a:noFill/>
          <a:ln/>
        </p:spPr>
        <p:txBody>
          <a:bodyPr wrap="square" lIns="0" tIns="0" rIns="0" bIns="0" rtlCol="0" anchor="ctr"/>
          <a:lstStyle/>
          <a:p>
            <a:pPr marL="0" indent="0" algn="ctr">
              <a:buNone/>
            </a:pPr>
            <a:r>
              <a:rPr lang="en-US" sz="1000" dirty="0">
                <a:solidFill>
                  <a:srgbClr val="999999"/>
                </a:solidFill>
                <a:latin typeface="Calibri" pitchFamily="34" charset="0"/>
                <a:ea typeface="Calibri" pitchFamily="34" charset="-122"/>
                <a:cs typeface="Calibri" pitchFamily="34" charset="-120"/>
              </a:rPr>
              <a:t>—</a:t>
            </a:r>
            <a:endParaRPr lang="en-US" sz="1000" dirty="0"/>
          </a:p>
        </p:txBody>
      </p:sp>
      <p:sp>
        <p:nvSpPr>
          <p:cNvPr id="133" name="Shape 131"/>
          <p:cNvSpPr/>
          <p:nvPr/>
        </p:nvSpPr>
        <p:spPr>
          <a:xfrm>
            <a:off x="8394192" y="3520440"/>
            <a:ext cx="704088" cy="502920"/>
          </a:xfrm>
          <a:prstGeom prst="rect">
            <a:avLst/>
          </a:prstGeom>
          <a:solidFill>
            <a:srgbClr val="2E86C1"/>
          </a:solidFill>
          <a:ln w="6350">
            <a:solidFill>
              <a:srgbClr val="DDDDDD"/>
            </a:solidFill>
            <a:prstDash val="solid"/>
          </a:ln>
        </p:spPr>
        <p:txBody>
          <a:bodyPr/>
          <a:lstStyle/>
          <a:p>
            <a:endParaRPr lang="en-US"/>
          </a:p>
        </p:txBody>
      </p:sp>
      <p:sp>
        <p:nvSpPr>
          <p:cNvPr id="134" name="Text 132"/>
          <p:cNvSpPr/>
          <p:nvPr/>
        </p:nvSpPr>
        <p:spPr>
          <a:xfrm>
            <a:off x="8394192" y="3520440"/>
            <a:ext cx="704088"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157</a:t>
            </a:r>
            <a:endParaRPr lang="en-US" sz="1000" dirty="0"/>
          </a:p>
        </p:txBody>
      </p:sp>
      <p:sp>
        <p:nvSpPr>
          <p:cNvPr id="135" name="Shape 133"/>
          <p:cNvSpPr/>
          <p:nvPr/>
        </p:nvSpPr>
        <p:spPr>
          <a:xfrm>
            <a:off x="457200" y="4114800"/>
            <a:ext cx="8229600" cy="868680"/>
          </a:xfrm>
          <a:prstGeom prst="rect">
            <a:avLst/>
          </a:prstGeom>
          <a:solidFill>
            <a:srgbClr val="FFFFFF"/>
          </a:solidFill>
          <a:ln w="6350">
            <a:solidFill>
              <a:srgbClr val="DDDDDD"/>
            </a:solidFill>
            <a:prstDash val="solid"/>
          </a:ln>
          <a:effectLst>
            <a:outerShdw blurRad="50800" dist="25400" dir="8100000" algn="bl" rotWithShape="0">
              <a:srgbClr val="000000">
                <a:alpha val="12000"/>
              </a:srgbClr>
            </a:outerShdw>
          </a:effectLst>
        </p:spPr>
        <p:txBody>
          <a:bodyPr/>
          <a:lstStyle/>
          <a:p>
            <a:endParaRPr lang="en-US"/>
          </a:p>
        </p:txBody>
      </p:sp>
      <p:sp>
        <p:nvSpPr>
          <p:cNvPr id="136" name="Shape 134"/>
          <p:cNvSpPr/>
          <p:nvPr/>
        </p:nvSpPr>
        <p:spPr>
          <a:xfrm>
            <a:off x="457200" y="4114800"/>
            <a:ext cx="54864" cy="868680"/>
          </a:xfrm>
          <a:prstGeom prst="rect">
            <a:avLst/>
          </a:prstGeom>
          <a:solidFill>
            <a:srgbClr val="E67E22"/>
          </a:solidFill>
          <a:ln/>
        </p:spPr>
        <p:txBody>
          <a:bodyPr/>
          <a:lstStyle/>
          <a:p>
            <a:endParaRPr lang="en-US"/>
          </a:p>
        </p:txBody>
      </p:sp>
      <p:sp>
        <p:nvSpPr>
          <p:cNvPr id="137" name="Text 135"/>
          <p:cNvSpPr/>
          <p:nvPr/>
        </p:nvSpPr>
        <p:spPr>
          <a:xfrm>
            <a:off x="640080" y="4133088"/>
            <a:ext cx="7909560" cy="822960"/>
          </a:xfrm>
          <a:prstGeom prst="rect">
            <a:avLst/>
          </a:prstGeom>
          <a:noFill/>
          <a:ln/>
        </p:spPr>
        <p:txBody>
          <a:bodyPr wrap="square" lIns="50800" tIns="101600" rIns="101600" bIns="5080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Income barely varies on the global scale (ρ ≈ 0). The measurement asymmetry is vivid: 2,057 counties describe 44M sparse Americans; 157 counties cover 144M dense ones. All are wealthy by world standards.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Three Stories in the Data</a:t>
            </a:r>
            <a:endParaRPr lang="en-US" sz="2800" dirty="0"/>
          </a:p>
        </p:txBody>
      </p:sp>
      <p:sp>
        <p:nvSpPr>
          <p:cNvPr id="3" name="Shape 1"/>
          <p:cNvSpPr/>
          <p:nvPr/>
        </p:nvSpPr>
        <p:spPr>
          <a:xfrm>
            <a:off x="548640" y="10058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05840"/>
            <a:ext cx="64008" cy="1188720"/>
          </a:xfrm>
          <a:prstGeom prst="rect">
            <a:avLst/>
          </a:prstGeom>
          <a:solidFill>
            <a:srgbClr val="2F5496"/>
          </a:solidFill>
          <a:ln/>
        </p:spPr>
        <p:txBody>
          <a:bodyPr/>
          <a:lstStyle/>
          <a:p>
            <a:endParaRPr lang="en-US"/>
          </a:p>
        </p:txBody>
      </p:sp>
      <p:sp>
        <p:nvSpPr>
          <p:cNvPr id="5" name="Shape 3"/>
          <p:cNvSpPr/>
          <p:nvPr/>
        </p:nvSpPr>
        <p:spPr>
          <a:xfrm>
            <a:off x="777240" y="1280160"/>
            <a:ext cx="548640" cy="548640"/>
          </a:xfrm>
          <a:prstGeom prst="ellipse">
            <a:avLst/>
          </a:prstGeom>
          <a:solidFill>
            <a:srgbClr val="2F5496"/>
          </a:solidFill>
          <a:ln/>
        </p:spPr>
        <p:txBody>
          <a:bodyPr/>
          <a:lstStyle/>
          <a:p>
            <a:endParaRPr lang="en-US"/>
          </a:p>
        </p:txBody>
      </p:sp>
      <p:sp>
        <p:nvSpPr>
          <p:cNvPr id="6" name="Text 4"/>
          <p:cNvSpPr/>
          <p:nvPr/>
        </p:nvSpPr>
        <p:spPr>
          <a:xfrm>
            <a:off x="777240" y="12801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508760" y="10972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Anti-Diagonal Pull</a:t>
            </a:r>
            <a:endParaRPr lang="en-US" sz="1600" dirty="0"/>
          </a:p>
        </p:txBody>
      </p:sp>
      <p:sp>
        <p:nvSpPr>
          <p:cNvPr id="8" name="Text 6"/>
          <p:cNvSpPr/>
          <p:nvPr/>
        </p:nvSpPr>
        <p:spPr>
          <a:xfrm>
            <a:off x="1508760" y="14630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Density and wealth are negatively correlated (Spearman ρ = −0.23). The densest quintile skews toward lower-middle income, not wealth. Sparse + Poor (5.2%) and Dense + Middle (11.6%) dominate.</a:t>
            </a:r>
            <a:endParaRPr lang="en-US" sz="1200" dirty="0"/>
          </a:p>
        </p:txBody>
      </p:sp>
      <p:sp>
        <p:nvSpPr>
          <p:cNvPr id="9" name="Shape 7"/>
          <p:cNvSpPr/>
          <p:nvPr/>
        </p:nvSpPr>
        <p:spPr>
          <a:xfrm>
            <a:off x="548640" y="23774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8"/>
          <p:cNvSpPr/>
          <p:nvPr/>
        </p:nvSpPr>
        <p:spPr>
          <a:xfrm>
            <a:off x="548640" y="2377440"/>
            <a:ext cx="64008" cy="1188720"/>
          </a:xfrm>
          <a:prstGeom prst="rect">
            <a:avLst/>
          </a:prstGeom>
          <a:solidFill>
            <a:srgbClr val="E67E22"/>
          </a:solidFill>
          <a:ln/>
        </p:spPr>
        <p:txBody>
          <a:bodyPr/>
          <a:lstStyle/>
          <a:p>
            <a:endParaRPr lang="en-US"/>
          </a:p>
        </p:txBody>
      </p:sp>
      <p:sp>
        <p:nvSpPr>
          <p:cNvPr id="11" name="Shape 9"/>
          <p:cNvSpPr/>
          <p:nvPr/>
        </p:nvSpPr>
        <p:spPr>
          <a:xfrm>
            <a:off x="777240" y="2651760"/>
            <a:ext cx="548640" cy="548640"/>
          </a:xfrm>
          <a:prstGeom prst="ellipse">
            <a:avLst/>
          </a:prstGeom>
          <a:solidFill>
            <a:srgbClr val="E67E22"/>
          </a:solidFill>
          <a:ln/>
        </p:spPr>
        <p:txBody>
          <a:bodyPr/>
          <a:lstStyle/>
          <a:p>
            <a:endParaRPr lang="en-US"/>
          </a:p>
        </p:txBody>
      </p:sp>
      <p:sp>
        <p:nvSpPr>
          <p:cNvPr id="12" name="Text 10"/>
          <p:cNvSpPr/>
          <p:nvPr/>
        </p:nvSpPr>
        <p:spPr>
          <a:xfrm>
            <a:off x="777240" y="26517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3" name="Text 11"/>
          <p:cNvSpPr/>
          <p:nvPr/>
        </p:nvSpPr>
        <p:spPr>
          <a:xfrm>
            <a:off x="1508760" y="24688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Measurement Asymmetry</a:t>
            </a:r>
            <a:endParaRPr lang="en-US" sz="1600" dirty="0"/>
          </a:p>
        </p:txBody>
      </p:sp>
      <p:sp>
        <p:nvSpPr>
          <p:cNvPr id="14" name="Text 12"/>
          <p:cNvSpPr/>
          <p:nvPr/>
        </p:nvSpPr>
        <p:spPr>
          <a:xfrm>
            <a:off x="1508760" y="28346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Sparse + Rich has 2,350 units averaging 127K people. Dense + Poor has 62 units averaging 3.9M. Same 20% of humanity — but rich countries measure 38× more finely. The data infrastructure itself encodes inequality.</a:t>
            </a:r>
            <a:endParaRPr lang="en-US" sz="1200" dirty="0"/>
          </a:p>
        </p:txBody>
      </p:sp>
      <p:sp>
        <p:nvSpPr>
          <p:cNvPr id="15" name="Shape 13"/>
          <p:cNvSpPr/>
          <p:nvPr/>
        </p:nvSpPr>
        <p:spPr>
          <a:xfrm>
            <a:off x="548640" y="3749040"/>
            <a:ext cx="804672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548640" y="3749040"/>
            <a:ext cx="64008" cy="1188720"/>
          </a:xfrm>
          <a:prstGeom prst="rect">
            <a:avLst/>
          </a:prstGeom>
          <a:solidFill>
            <a:srgbClr val="C0392B"/>
          </a:solidFill>
          <a:ln/>
        </p:spPr>
        <p:txBody>
          <a:bodyPr/>
          <a:lstStyle/>
          <a:p>
            <a:endParaRPr lang="en-US"/>
          </a:p>
        </p:txBody>
      </p:sp>
      <p:sp>
        <p:nvSpPr>
          <p:cNvPr id="17" name="Shape 15"/>
          <p:cNvSpPr/>
          <p:nvPr/>
        </p:nvSpPr>
        <p:spPr>
          <a:xfrm>
            <a:off x="777240" y="4023360"/>
            <a:ext cx="548640" cy="548640"/>
          </a:xfrm>
          <a:prstGeom prst="ellipse">
            <a:avLst/>
          </a:prstGeom>
          <a:solidFill>
            <a:srgbClr val="C0392B"/>
          </a:solidFill>
          <a:ln/>
        </p:spPr>
        <p:txBody>
          <a:bodyPr/>
          <a:lstStyle/>
          <a:p>
            <a:endParaRPr lang="en-US"/>
          </a:p>
        </p:txBody>
      </p:sp>
      <p:sp>
        <p:nvSpPr>
          <p:cNvPr id="18" name="Text 16"/>
          <p:cNvSpPr/>
          <p:nvPr/>
        </p:nvSpPr>
        <p:spPr>
          <a:xfrm>
            <a:off x="777240" y="40233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1508760" y="3840480"/>
            <a:ext cx="6858000" cy="365760"/>
          </a:xfrm>
          <a:prstGeom prst="rect">
            <a:avLst/>
          </a:prstGeom>
          <a:noFill/>
          <a:ln/>
        </p:spPr>
        <p:txBody>
          <a:bodyPr wrap="square" lIns="0" tIns="0" rIns="0" bIns="0" rtlCol="0" anchor="ctr"/>
          <a:lstStyle/>
          <a:p>
            <a:pPr marL="0" indent="0">
              <a:buNone/>
            </a:pPr>
            <a:r>
              <a:rPr lang="en-US" sz="1600" b="1" dirty="0">
                <a:solidFill>
                  <a:srgbClr val="2C3E50"/>
                </a:solidFill>
                <a:latin typeface="Georgia" pitchFamily="34" charset="0"/>
                <a:ea typeface="Georgia" pitchFamily="34" charset="-122"/>
                <a:cs typeface="Georgia" pitchFamily="34" charset="-120"/>
              </a:rPr>
              <a:t>The Nearly Empty Cell</a:t>
            </a:r>
            <a:endParaRPr lang="en-US" sz="1600" dirty="0"/>
          </a:p>
        </p:txBody>
      </p:sp>
      <p:sp>
        <p:nvSpPr>
          <p:cNvPr id="20" name="Text 18"/>
          <p:cNvSpPr/>
          <p:nvPr/>
        </p:nvSpPr>
        <p:spPr>
          <a:xfrm>
            <a:off x="1508760" y="4206240"/>
            <a:ext cx="6858000" cy="640080"/>
          </a:xfrm>
          <a:prstGeom prst="rect">
            <a:avLst/>
          </a:prstGeom>
          <a:noFill/>
          <a:ln/>
        </p:spPr>
        <p:txBody>
          <a:bodyPr wrap="square" lIns="0" tIns="0" rIns="0" bIns="0" rtlCol="0" anchor="ctr"/>
          <a:lstStyle/>
          <a:p>
            <a:pPr marL="0" indent="0">
              <a:buNone/>
            </a:pPr>
            <a:r>
              <a:rPr lang="en-US" sz="1200" dirty="0">
                <a:solidFill>
                  <a:srgbClr val="5D6D7E"/>
                </a:solidFill>
                <a:latin typeface="Arial" pitchFamily="34" charset="0"/>
                <a:ea typeface="Arial" pitchFamily="34" charset="-122"/>
                <a:cs typeface="Arial" pitchFamily="34" charset="-120"/>
              </a:rPr>
              <a:t>Dense + Upper-Middle (Q5 × Q4) has just 15 units and 0.9% of world population — the rarest combination. Density either traps (South Asia) or amplifies (US/EU metros). Almost nothing in between.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2F5496">
              <a:alpha val="50000"/>
            </a:srgbClr>
          </a:solidFill>
          <a:ln/>
        </p:spPr>
        <p:txBody>
          <a:bodyPr/>
          <a:lstStyle/>
          <a:p>
            <a:endParaRPr lang="en-US"/>
          </a:p>
        </p:txBody>
      </p:sp>
      <p:sp>
        <p:nvSpPr>
          <p:cNvPr id="3" name="Shape 1"/>
          <p:cNvSpPr/>
          <p:nvPr/>
        </p:nvSpPr>
        <p:spPr>
          <a:xfrm>
            <a:off x="5486400" y="1828800"/>
            <a:ext cx="4572000" cy="4572000"/>
          </a:xfrm>
          <a:prstGeom prst="ellipse">
            <a:avLst/>
          </a:prstGeom>
          <a:solidFill>
            <a:srgbClr val="3A6FB0">
              <a:alpha val="30000"/>
            </a:srgbClr>
          </a:solidFill>
          <a:ln/>
        </p:spPr>
        <p:txBody>
          <a:bodyPr/>
          <a:lstStyle/>
          <a:p>
            <a:endParaRPr lang="en-US"/>
          </a:p>
        </p:txBody>
      </p:sp>
      <p:sp>
        <p:nvSpPr>
          <p:cNvPr id="4" name="Text 2"/>
          <p:cNvSpPr/>
          <p:nvPr/>
        </p:nvSpPr>
        <p:spPr>
          <a:xfrm>
            <a:off x="731520" y="457200"/>
            <a:ext cx="77724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Governance Implication</a:t>
            </a:r>
            <a:endParaRPr lang="en-US" sz="2800" dirty="0"/>
          </a:p>
        </p:txBody>
      </p:sp>
      <p:sp>
        <p:nvSpPr>
          <p:cNvPr id="5" name="Shape 3"/>
          <p:cNvSpPr/>
          <p:nvPr/>
        </p:nvSpPr>
        <p:spPr>
          <a:xfrm>
            <a:off x="731520" y="1371600"/>
            <a:ext cx="3657600" cy="1463040"/>
          </a:xfrm>
          <a:prstGeom prst="rect">
            <a:avLst/>
          </a:prstGeom>
          <a:solidFill>
            <a:srgbClr val="FFFFFF">
              <a:alpha val="90000"/>
            </a:srgbClr>
          </a:solidFill>
          <a:ln/>
        </p:spPr>
        <p:txBody>
          <a:bodyPr/>
          <a:lstStyle/>
          <a:p>
            <a:endParaRPr lang="en-US"/>
          </a:p>
        </p:txBody>
      </p:sp>
      <p:sp>
        <p:nvSpPr>
          <p:cNvPr id="6" name="Text 4"/>
          <p:cNvSpPr/>
          <p:nvPr/>
        </p:nvSpPr>
        <p:spPr>
          <a:xfrm>
            <a:off x="731520" y="1417320"/>
            <a:ext cx="3657600" cy="1371600"/>
          </a:xfrm>
          <a:prstGeom prst="rect">
            <a:avLst/>
          </a:prstGeom>
          <a:noFill/>
          <a:ln/>
        </p:spPr>
        <p:txBody>
          <a:bodyPr wrap="square" lIns="0" tIns="0" rIns="0" bIns="0" rtlCol="0" anchor="ctr"/>
          <a:lstStyle/>
          <a:p>
            <a:pPr marL="0" indent="0" algn="ctr">
              <a:buNone/>
            </a:pPr>
            <a:r>
              <a:rPr lang="en-US" sz="3600" b="1" dirty="0">
                <a:solidFill>
                  <a:srgbClr val="92D050"/>
                </a:solidFill>
                <a:latin typeface="Arial" pitchFamily="34" charset="0"/>
                <a:ea typeface="Arial" pitchFamily="34" charset="-122"/>
                <a:cs typeface="Arial" pitchFamily="34" charset="-120"/>
              </a:rPr>
              <a:t>2,350</a:t>
            </a:r>
            <a:endParaRPr lang="en-US" sz="3600" dirty="0">
              <a:solidFill>
                <a:srgbClr val="92D050"/>
              </a:solidFill>
            </a:endParaRPr>
          </a:p>
          <a:p>
            <a:pPr marL="0" indent="0" algn="ctr">
              <a:buNone/>
            </a:pPr>
            <a:r>
              <a:rPr lang="en-US" sz="1300" dirty="0">
                <a:solidFill>
                  <a:srgbClr val="A0A0A0"/>
                </a:solidFill>
                <a:latin typeface="Arial" pitchFamily="34" charset="0"/>
                <a:ea typeface="Arial" pitchFamily="34" charset="-122"/>
                <a:cs typeface="Arial" pitchFamily="34" charset="-120"/>
              </a:rPr>
              <a:t>units measure</a:t>
            </a:r>
            <a:endParaRPr lang="en-US" sz="3600" dirty="0"/>
          </a:p>
          <a:p>
            <a:pPr marL="0" indent="0" algn="ctr">
              <a:buNone/>
            </a:pPr>
            <a:r>
              <a:rPr lang="en-US" sz="1300" b="1" dirty="0">
                <a:solidFill>
                  <a:srgbClr val="FFFFFF"/>
                </a:solidFill>
                <a:latin typeface="Arial" pitchFamily="34" charset="0"/>
                <a:ea typeface="Arial" pitchFamily="34" charset="-122"/>
                <a:cs typeface="Arial" pitchFamily="34" charset="-120"/>
              </a:rPr>
              <a:t>300M Sparse + Rich people</a:t>
            </a:r>
            <a:endParaRPr lang="en-US" sz="3600" dirty="0"/>
          </a:p>
        </p:txBody>
      </p:sp>
      <p:sp>
        <p:nvSpPr>
          <p:cNvPr id="7" name="Shape 5"/>
          <p:cNvSpPr/>
          <p:nvPr/>
        </p:nvSpPr>
        <p:spPr>
          <a:xfrm>
            <a:off x="4754880" y="1371600"/>
            <a:ext cx="3657600" cy="1463040"/>
          </a:xfrm>
          <a:prstGeom prst="rect">
            <a:avLst/>
          </a:prstGeom>
          <a:solidFill>
            <a:srgbClr val="FFFFFF">
              <a:alpha val="90000"/>
            </a:srgbClr>
          </a:solidFill>
          <a:ln/>
        </p:spPr>
        <p:txBody>
          <a:bodyPr/>
          <a:lstStyle/>
          <a:p>
            <a:endParaRPr lang="en-US"/>
          </a:p>
        </p:txBody>
      </p:sp>
      <p:sp>
        <p:nvSpPr>
          <p:cNvPr id="8" name="Text 6"/>
          <p:cNvSpPr/>
          <p:nvPr/>
        </p:nvSpPr>
        <p:spPr>
          <a:xfrm>
            <a:off x="4754880" y="1417320"/>
            <a:ext cx="3657600" cy="1371600"/>
          </a:xfrm>
          <a:prstGeom prst="rect">
            <a:avLst/>
          </a:prstGeom>
          <a:noFill/>
          <a:ln/>
        </p:spPr>
        <p:txBody>
          <a:bodyPr wrap="square" lIns="0" tIns="0" rIns="0" bIns="0" rtlCol="0" anchor="ctr"/>
          <a:lstStyle/>
          <a:p>
            <a:pPr marL="0" indent="0" algn="ctr">
              <a:buNone/>
            </a:pPr>
            <a:r>
              <a:rPr lang="en-US" sz="3600" b="1" dirty="0">
                <a:solidFill>
                  <a:srgbClr val="E8A87C"/>
                </a:solidFill>
                <a:latin typeface="Arial" pitchFamily="34" charset="0"/>
                <a:ea typeface="Arial" pitchFamily="34" charset="-122"/>
                <a:cs typeface="Arial" pitchFamily="34" charset="-120"/>
              </a:rPr>
              <a:t>62</a:t>
            </a:r>
            <a:endParaRPr lang="en-US" sz="3600" dirty="0"/>
          </a:p>
          <a:p>
            <a:pPr marL="0" indent="0" algn="ctr">
              <a:buNone/>
            </a:pPr>
            <a:r>
              <a:rPr lang="en-US" sz="1300" dirty="0">
                <a:solidFill>
                  <a:srgbClr val="A0A0A0"/>
                </a:solidFill>
                <a:latin typeface="Arial" pitchFamily="34" charset="0"/>
                <a:ea typeface="Arial" pitchFamily="34" charset="-122"/>
                <a:cs typeface="Arial" pitchFamily="34" charset="-120"/>
              </a:rPr>
              <a:t>units measure</a:t>
            </a:r>
            <a:endParaRPr lang="en-US" sz="3600" dirty="0"/>
          </a:p>
          <a:p>
            <a:pPr marL="0" indent="0" algn="ctr">
              <a:buNone/>
            </a:pPr>
            <a:r>
              <a:rPr lang="en-US" sz="1300" b="1" dirty="0">
                <a:solidFill>
                  <a:srgbClr val="FFFFFF"/>
                </a:solidFill>
                <a:latin typeface="Arial" pitchFamily="34" charset="0"/>
                <a:ea typeface="Arial" pitchFamily="34" charset="-122"/>
                <a:cs typeface="Arial" pitchFamily="34" charset="-120"/>
              </a:rPr>
              <a:t>241M Dense + Poor people</a:t>
            </a:r>
            <a:endParaRPr lang="en-US" sz="3600" dirty="0"/>
          </a:p>
        </p:txBody>
      </p:sp>
      <p:sp>
        <p:nvSpPr>
          <p:cNvPr id="9" name="Text 7"/>
          <p:cNvSpPr/>
          <p:nvPr/>
        </p:nvSpPr>
        <p:spPr>
          <a:xfrm>
            <a:off x="731520" y="3017520"/>
            <a:ext cx="7772400" cy="457200"/>
          </a:xfrm>
          <a:prstGeom prst="rect">
            <a:avLst/>
          </a:prstGeom>
          <a:noFill/>
          <a:ln/>
        </p:spPr>
        <p:txBody>
          <a:bodyPr wrap="square" lIns="0" tIns="0" rIns="0" bIns="0" rtlCol="0" anchor="ctr"/>
          <a:lstStyle/>
          <a:p>
            <a:pPr marL="0" indent="0" algn="ctr">
              <a:buNone/>
            </a:pPr>
            <a:r>
              <a:rPr lang="en-US" sz="2000" i="1" dirty="0">
                <a:solidFill>
                  <a:srgbClr val="E8A87C"/>
                </a:solidFill>
                <a:latin typeface="Georgia" pitchFamily="34" charset="0"/>
                <a:ea typeface="Georgia" pitchFamily="34" charset="-122"/>
                <a:cs typeface="Georgia" pitchFamily="34" charset="-120"/>
              </a:rPr>
              <a:t>1/38th the measurement granularity</a:t>
            </a:r>
            <a:endParaRPr lang="en-US" sz="2000" dirty="0"/>
          </a:p>
        </p:txBody>
      </p:sp>
      <p:sp>
        <p:nvSpPr>
          <p:cNvPr id="10" name="Text 8"/>
          <p:cNvSpPr/>
          <p:nvPr/>
        </p:nvSpPr>
        <p:spPr>
          <a:xfrm>
            <a:off x="731520" y="3657600"/>
            <a:ext cx="7772400" cy="1097280"/>
          </a:xfrm>
          <a:prstGeom prst="rect">
            <a:avLst/>
          </a:prstGeom>
          <a:noFill/>
          <a:ln/>
        </p:spPr>
        <p:txBody>
          <a:bodyPr wrap="square" lIns="0" tIns="0" rIns="0" bIns="0" rtlCol="0" anchor="ctr"/>
          <a:lstStyle/>
          <a:p>
            <a:pPr marL="0" indent="0" algn="l">
              <a:buNone/>
            </a:pPr>
            <a:r>
              <a:rPr lang="en-US" sz="1300" dirty="0">
                <a:solidFill>
                  <a:srgbClr val="A0A0A0"/>
                </a:solidFill>
                <a:latin typeface="Arial" pitchFamily="34" charset="0"/>
                <a:ea typeface="Arial" pitchFamily="34" charset="-122"/>
                <a:cs typeface="Arial" pitchFamily="34" charset="-120"/>
              </a:rPr>
              <a:t>If "consent of the governed" requires hearing from places in proportion to their population, the current data infrastructure systematically under-represents exactly the people who most need representation. A smart (political) power grid would need to correct this asymmetry before quintile-based governance tools could function equitably.</a:t>
            </a:r>
            <a:endParaRPr lang="en-US" sz="1300" dirty="0"/>
          </a:p>
        </p:txBody>
      </p:sp>
      <p:sp>
        <p:nvSpPr>
          <p:cNvPr id="12" name="Text 9"/>
          <p:cNvSpPr/>
          <p:nvPr/>
        </p:nvSpPr>
        <p:spPr>
          <a:xfrm>
            <a:off x="731520" y="4754880"/>
            <a:ext cx="7772400" cy="274320"/>
          </a:xfrm>
          <a:prstGeom prst="rect">
            <a:avLst/>
          </a:prstGeom>
          <a:noFill/>
          <a:ln/>
        </p:spPr>
        <p:txBody>
          <a:bodyPr wrap="square" lIns="0" tIns="0" rIns="0" bIns="0" rtlCol="0" anchor="ctr"/>
          <a:lstStyle/>
          <a:p>
            <a:pPr marL="0" indent="0">
              <a:buNone/>
            </a:pPr>
            <a:r>
              <a:rPr lang="en-US" sz="900" dirty="0">
                <a:solidFill>
                  <a:srgbClr val="5D6D7E"/>
                </a:solidFill>
                <a:latin typeface="Arial" pitchFamily="34" charset="0"/>
                <a:ea typeface="Arial" pitchFamily="34" charset="-122"/>
                <a:cs typeface="Arial" pitchFamily="34" charset="-120"/>
              </a:rPr>
              <a:t>Global Leaves proof-of-concept  •  Source: Where_Master_v6.xlsx  •  Reference year 2020</a:t>
            </a:r>
            <a:endParaRPr lang="en-US" sz="9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pPr algn="ctr"/>
            <a:r>
              <a:rPr sz="2800" b="1">
                <a:solidFill>
                  <a:srgbClr val="1A1A1A"/>
                </a:solidFill>
              </a:rPr>
              <a:t>From Measurement to Meaning</a:t>
            </a:r>
          </a:p>
        </p:txBody>
      </p:sp>
      <p:sp>
        <p:nvSpPr>
          <p:cNvPr id="3" name="TextBox 2"/>
          <p:cNvSpPr txBox="1"/>
          <p:nvPr/>
        </p:nvSpPr>
        <p:spPr>
          <a:xfrm>
            <a:off x="365760" y="1097280"/>
            <a:ext cx="3840480" cy="1280160"/>
          </a:xfrm>
          <a:prstGeom prst="rect">
            <a:avLst/>
          </a:prstGeom>
          <a:noFill/>
        </p:spPr>
        <p:txBody>
          <a:bodyPr wrap="square">
            <a:spAutoFit/>
          </a:bodyPr>
          <a:lstStyle/>
          <a:p>
            <a:r>
              <a:rPr sz="1000" b="1">
                <a:solidFill>
                  <a:srgbClr val="2E75B6"/>
                </a:solidFill>
              </a:rPr>
              <a:t>FACT</a:t>
            </a:r>
          </a:p>
          <a:p>
            <a:pPr>
              <a:spcBef>
                <a:spcPts val="600"/>
              </a:spcBef>
            </a:pPr>
            <a:r>
              <a:rPr sz="1600">
                <a:solidFill>
                  <a:srgbClr val="1A1A1A"/>
                </a:solidFill>
              </a:rPr>
              <a:t>Unit count declines with density at every income level.</a:t>
            </a:r>
          </a:p>
        </p:txBody>
      </p:sp>
      <p:sp>
        <p:nvSpPr>
          <p:cNvPr id="4" name="TextBox 3"/>
          <p:cNvSpPr txBox="1"/>
          <p:nvPr/>
        </p:nvSpPr>
        <p:spPr>
          <a:xfrm>
            <a:off x="365760" y="2560320"/>
            <a:ext cx="3840480" cy="1280160"/>
          </a:xfrm>
          <a:prstGeom prst="rect">
            <a:avLst/>
          </a:prstGeom>
          <a:noFill/>
        </p:spPr>
        <p:txBody>
          <a:bodyPr wrap="square">
            <a:spAutoFit/>
          </a:bodyPr>
          <a:lstStyle/>
          <a:p>
            <a:r>
              <a:rPr sz="1000" b="1">
                <a:solidFill>
                  <a:srgbClr val="2E75B6"/>
                </a:solidFill>
              </a:rPr>
              <a:t>FACT</a:t>
            </a:r>
          </a:p>
          <a:p>
            <a:pPr>
              <a:spcBef>
                <a:spcPts val="600"/>
              </a:spcBef>
            </a:pPr>
            <a:r>
              <a:rPr sz="1600">
                <a:solidFill>
                  <a:srgbClr val="1A1A1A"/>
                </a:solidFill>
              </a:rPr>
              <a:t>The 38×1 ratio persists within national boundaries (US: 53×1).</a:t>
            </a:r>
          </a:p>
        </p:txBody>
      </p:sp>
      <p:sp>
        <p:nvSpPr>
          <p:cNvPr id="5" name="TextBox 4"/>
          <p:cNvSpPr txBox="1"/>
          <p:nvPr/>
        </p:nvSpPr>
        <p:spPr>
          <a:xfrm>
            <a:off x="4846320" y="1097280"/>
            <a:ext cx="3840480" cy="1280160"/>
          </a:xfrm>
          <a:prstGeom prst="rect">
            <a:avLst/>
          </a:prstGeom>
          <a:noFill/>
        </p:spPr>
        <p:txBody>
          <a:bodyPr wrap="square">
            <a:spAutoFit/>
          </a:bodyPr>
          <a:lstStyle/>
          <a:p>
            <a:r>
              <a:rPr sz="1000" b="1">
                <a:solidFill>
                  <a:srgbClr val="C0502D"/>
                </a:solidFill>
              </a:rPr>
              <a:t>QUESTION</a:t>
            </a:r>
          </a:p>
          <a:p>
            <a:pPr>
              <a:spcBef>
                <a:spcPts val="600"/>
              </a:spcBef>
            </a:pPr>
            <a:r>
              <a:rPr sz="1600" i="1">
                <a:solidFill>
                  <a:srgbClr val="333333"/>
                </a:solidFill>
              </a:rPr>
              <a:t>Is administrative structure itself a product of what governance chose to measure?</a:t>
            </a:r>
          </a:p>
        </p:txBody>
      </p:sp>
      <p:sp>
        <p:nvSpPr>
          <p:cNvPr id="6" name="TextBox 5"/>
          <p:cNvSpPr txBox="1"/>
          <p:nvPr/>
        </p:nvSpPr>
        <p:spPr>
          <a:xfrm>
            <a:off x="4846320" y="2560320"/>
            <a:ext cx="3840480" cy="1280160"/>
          </a:xfrm>
          <a:prstGeom prst="rect">
            <a:avLst/>
          </a:prstGeom>
          <a:noFill/>
        </p:spPr>
        <p:txBody>
          <a:bodyPr wrap="square">
            <a:spAutoFit/>
          </a:bodyPr>
          <a:lstStyle/>
          <a:p>
            <a:r>
              <a:rPr sz="1000" b="1">
                <a:solidFill>
                  <a:srgbClr val="C0502D"/>
                </a:solidFill>
              </a:rPr>
              <a:t>QUESTION</a:t>
            </a:r>
          </a:p>
          <a:p>
            <a:pPr>
              <a:spcBef>
                <a:spcPts val="600"/>
              </a:spcBef>
            </a:pPr>
            <a:r>
              <a:rPr sz="1600" i="1">
                <a:solidFill>
                  <a:srgbClr val="333333"/>
                </a:solidFill>
              </a:rPr>
              <a:t>What happens when the balance sheet names what the census cannot?</a:t>
            </a:r>
          </a:p>
        </p:txBody>
      </p:sp>
      <p:cxnSp>
        <p:nvCxnSpPr>
          <p:cNvPr id="7" name="Connector 6"/>
          <p:cNvCxnSpPr/>
          <p:nvPr/>
        </p:nvCxnSpPr>
        <p:spPr>
          <a:xfrm>
            <a:off x="4480560" y="1188720"/>
            <a:ext cx="0" cy="265176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4114800"/>
            <a:ext cx="8229600" cy="548640"/>
          </a:xfrm>
          <a:prstGeom prst="rect">
            <a:avLst/>
          </a:prstGeom>
          <a:noFill/>
        </p:spPr>
        <p:txBody>
          <a:bodyPr wrap="square">
            <a:spAutoFit/>
          </a:bodyPr>
          <a:lstStyle/>
          <a:p>
            <a:pPr algn="ctr"/>
            <a:r>
              <a:rPr sz="1400" i="1">
                <a:solidFill>
                  <a:srgbClr val="666666"/>
                </a:solidFill>
              </a:rPr>
              <a:t>The national lens and the balance-sheet overlay follow.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3320</Words>
  <Application>Microsoft Office PowerPoint</Application>
  <PresentationFormat>On-screen Show (16:9)</PresentationFormat>
  <Paragraphs>550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Leaves: Density × Wealth Cross-Tabulation</dc:title>
  <dc:subject>PptxGenJS Presentation</dc:subject>
  <dc:creator>John O'Connor &amp; Claude</dc:creator>
  <cp:lastModifiedBy>John O'Connor</cp:lastModifiedBy>
  <cp:revision>1</cp:revision>
  <dcterms:created xsi:type="dcterms:W3CDTF">2026-03-04T18:56:17Z</dcterms:created>
  <dcterms:modified xsi:type="dcterms:W3CDTF">2026-05-21T23:28:04Z</dcterms:modified>
</cp:coreProperties>
</file>