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Deferred Maintenance Cross-Tab -- Balance-Sheet Overlay on the National Lens (2020, GTP-based)</a:t>
            </a:r>
          </a:p>
          <a:p/>
          <a:p>
            <a:r>
              <a:t>WHAT THIS SHOWS: DM = max(0, 0.20*CW - SI) is the trust-infrastructure deficit. When SI (Social Infrastructure = CW - PA - NC - HR) falls below 20% of CW, the floor binds and DM becomes positive. DM is the stock measure of the gap between what a county's productive capacity implies should exist in institutional capital and what actually does.</a:t>
            </a:r>
          </a:p>
          <a:p/>
          <a:p>
            <a:r>
              <a:t>WHY GTP MATTERS: Under the old PI-based CW, transfer income (Social Security, Medicare, disability) inflated CW for retirement and transfer-dependent counties, masking institutional weakness. GTP strips transfers and corrects HQ bias, exposing that these counties' factor income (K+L) cannot sustain the institutional overhead implied by 20% of CW.</a:t>
            </a:r>
          </a:p>
          <a:p/>
          <a:p>
            <a:r>
              <a:t>KEY FINDINGS:</a:t>
            </a:r>
          </a:p>
          <a:p>
            <a:r>
              <a:t>1. Economy dominates density. The entire Q1-Poor column is hot (33-100% floor-binding). Poverty predicts DM regardless of density.</a:t>
            </a:r>
          </a:p>
          <a:p>
            <a:r>
              <a:t>2. Sparseness carries an independent penalty. Q1xQ5 (sparse+rich, 138 counties, 1.9M people) runs 45% floor-binding at $69K DM pc -- resource-extraction counties with high GTP but thin institutions.</a:t>
            </a:r>
          </a:p>
          <a:p>
            <a:r>
              <a:t>3. Dense+Rich is zero. 24 counties covering 32M people have DM=$0. Density + income together predict strong institutions.</a:t>
            </a:r>
          </a:p>
          <a:p>
            <a:r>
              <a:t>4. The Q4xQ1 cell (2 counties) shows 100% floor-binding at $113K DM pc but has too few observations for inference.</a:t>
            </a:r>
          </a:p>
          <a:p/>
          <a:p>
            <a:r>
              <a:t>ADVOCACY CONNECTION: The Global Lens showed 38x more measurement granularity in sparse+rich than dense+poor. This overlay shows that within the US, measurement granularity is highest where institutional capital is thinnest -- 1,257 counties precisely describe 33M sparse+poor Americans with average DM of $84K. America can see these places with extraordinary statistical precision. The question is whether governance acts on what the data reveals.</a:t>
            </a:r>
          </a:p>
          <a:p/>
          <a:p>
            <a:r>
              <a:t>Source: county_balance_sheet_panel.csv (GTP-based, S42) x Global_Leaves.xlsx quintile inputs. Session 43, 2026-05-21.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0E0E0"/>
                </a:solidFill>
                <a:latin typeface="Calibri"/>
              </a:rPr>
              <a:t>Deferred Maintenance: The Balance-Sheet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Calibri"/>
              </a:rPr>
              <a:t>DM = max(0, 0.20×CW − SI)  —  the trust-infrastructure deficit that GTP exposes when transfer income is stripped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3,016 counties matched to balance sheet (2020, GTP-based).  Floor binds when SI &lt; 20% of CW.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CCCCC"/>
                </a:solidFill>
                <a:latin typeface="Calibri"/>
              </a:rPr>
              <a:t>DM Floor-Binding (% of counties)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9999"/>
                </a:solidFill>
                <a:latin typeface="Calibri"/>
              </a:rPr>
              <a:t>Per Capita Economy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Q1</a:t>
            </a:r>
            <a:br/>
            <a:r>
              <a:t>Poor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Q5</a:t>
            </a:r>
            <a:br/>
            <a:r>
              <a:t>Rich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Q1</a:t>
            </a:r>
            <a:br/>
            <a:r>
              <a:t>Sparse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8328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8620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891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Q5</a:t>
            </a:r>
            <a:br/>
            <a:r>
              <a:t>Dense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377440"/>
            <a:ext cx="768096" cy="493776"/>
          </a:xfrm>
          <a:prstGeom prst="rect">
            <a:avLst/>
          </a:prstGeom>
          <a:solidFill>
            <a:srgbClr val="6A0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2377440"/>
            <a:ext cx="768096" cy="49377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377440"/>
            <a:ext cx="768096" cy="49377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377440"/>
            <a:ext cx="768096" cy="49377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47%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377440"/>
            <a:ext cx="768096" cy="49377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2880360"/>
            <a:ext cx="768096" cy="493776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880360"/>
            <a:ext cx="768096" cy="493776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2880360"/>
            <a:ext cx="768096" cy="493776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88036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288036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3383280"/>
            <a:ext cx="768096" cy="493776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3383280"/>
            <a:ext cx="768096" cy="493776"/>
          </a:xfrm>
          <a:prstGeom prst="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7480" y="338328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38328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38328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3886200"/>
            <a:ext cx="768096" cy="493776"/>
          </a:xfrm>
          <a:prstGeom prst="rect">
            <a:avLst/>
          </a:prstGeom>
          <a:solidFill>
            <a:srgbClr val="6A0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3886200"/>
            <a:ext cx="768096" cy="493776"/>
          </a:xfrm>
          <a:prstGeom prst="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388620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388620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0" y="388620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4389120"/>
            <a:ext cx="768096" cy="493776"/>
          </a:xfrm>
          <a:prstGeom prst="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2024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9748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8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5196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6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CCCCC"/>
                </a:solidFill>
                <a:latin typeface="Calibri"/>
              </a:rPr>
              <a:t>Pop-Weighted Mean DM per capita ($)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1691640"/>
            <a:ext cx="388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99999"/>
                </a:solidFill>
                <a:latin typeface="Calibri"/>
              </a:rPr>
              <a:t>Per Capita Economy 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Q1</a:t>
            </a:r>
            <a:br/>
            <a:r>
              <a:t>Poor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4964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20" y="1874519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Q5</a:t>
            </a:r>
            <a:br/>
            <a:r>
              <a:t>Rich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23774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Q1</a:t>
            </a:r>
            <a:br/>
            <a:r>
              <a:t>Sparse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288036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38328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388620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43891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BBBBBB"/>
                </a:solidFill>
                <a:latin typeface="Calibri"/>
              </a:rPr>
              <a:t>Q5</a:t>
            </a:r>
            <a:br/>
            <a:r>
              <a:t>Dense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95160" y="2377440"/>
            <a:ext cx="768096" cy="493776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9516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$84K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2377440"/>
            <a:ext cx="768096" cy="493776"/>
          </a:xfrm>
          <a:prstGeom prst="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7240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$29K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49640" y="2377440"/>
            <a:ext cx="768096" cy="493776"/>
          </a:xfrm>
          <a:prstGeom prst="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4964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$24K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26880" y="2377440"/>
            <a:ext cx="768096" cy="49377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688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$32K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104120" y="2377440"/>
            <a:ext cx="768096" cy="493776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04120" y="237744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$69K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95160" y="2880360"/>
            <a:ext cx="768096" cy="493776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9516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$53K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0" y="2880360"/>
            <a:ext cx="768096" cy="493776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7240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$11K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49640" y="2880360"/>
            <a:ext cx="768096" cy="493776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4964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$5K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288036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2688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$362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04120" y="288036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04120" y="288036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$3K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95160" y="3383280"/>
            <a:ext cx="768096" cy="493776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516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$73K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72400" y="3383280"/>
            <a:ext cx="768096" cy="493776"/>
          </a:xfrm>
          <a:prstGeom prst="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$17K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49640" y="3383280"/>
            <a:ext cx="768096" cy="493776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4964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$9K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326880" y="338328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32688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$479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04120" y="3383280"/>
            <a:ext cx="768096" cy="4937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04120" y="338328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$1K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95160" y="3886200"/>
            <a:ext cx="768096" cy="493776"/>
          </a:xfrm>
          <a:prstGeom prst="rect">
            <a:avLst/>
          </a:prstGeom>
          <a:solidFill>
            <a:srgbClr val="6A0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9516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$113K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72400" y="3886200"/>
            <a:ext cx="768096" cy="493776"/>
          </a:xfrm>
          <a:prstGeom prst="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7240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$17K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49640" y="388620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4964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26880" y="388620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32688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04120" y="388620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04120" y="388620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95160" y="4389120"/>
            <a:ext cx="768096" cy="493776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9516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$5K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77240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77240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4964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4964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32688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32688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104120" y="4389120"/>
            <a:ext cx="768096" cy="4937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104120" y="4389120"/>
            <a:ext cx="7680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5760" y="5120640"/>
            <a:ext cx="1143000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E0E0E0"/>
                </a:solidFill>
                <a:latin typeface="Calibri"/>
              </a:rPr>
              <a:t>The pattern: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CCCCC"/>
                </a:solidFill>
                <a:latin typeface="Calibri"/>
              </a:rPr>
              <a:t>Economy is the primary driver. Column 1 (Q1 Poor) runs 33–100% floor-binding across all density rows. Poverty predicts institutional thinness regardless of settlement type.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CCCCC"/>
                </a:solidFill>
                <a:latin typeface="Calibri"/>
              </a:rPr>
              <a:t>Sparseness carries an independent penalty. Even in Q5 Rich, sparse counties (Q1×Q5) run 45% floor-binding with DM of $69K pc — resource-extraction counties where factor income is high but institutional capital hasn't developed.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CCCCCC"/>
                </a:solidFill>
                <a:latin typeface="Calibri"/>
              </a:rPr>
              <a:t>The opposite corner (Dense×Rich) is zero. 24 counties, 32M people. DM = $0. The institutional floor never binds where both density and income are high.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