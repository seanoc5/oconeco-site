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4"/>
  </p:notesMasterIdLst>
  <p:sldIdLst>
    <p:sldId id="256" r:id="rId3"/>
    <p:sldId id="265" r:id="rId4"/>
    <p:sldId id="258" r:id="rId5"/>
    <p:sldId id="259" r:id="rId6"/>
    <p:sldId id="257" r:id="rId7"/>
    <p:sldId id="260" r:id="rId8"/>
    <p:sldId id="261" r:id="rId9"/>
    <p:sldId id="262" r:id="rId10"/>
    <p:sldId id="263" r:id="rId11"/>
    <p:sldId id="264" r:id="rId12"/>
    <p:sldId id="266" r:id="rId1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39BC07-410F-42E2-B827-52DF287AAEF7}" v="4424" dt="2026-05-06T12:40:45.6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6" autoAdjust="0"/>
    <p:restoredTop sz="56317" autoAdjust="0"/>
  </p:normalViewPr>
  <p:slideViewPr>
    <p:cSldViewPr snapToGrid="0" snapToObjects="1">
      <p:cViewPr>
        <p:scale>
          <a:sx n="70" d="100"/>
          <a:sy n="70" d="100"/>
        </p:scale>
        <p:origin x="759" y="24"/>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O'Connor" userId="f7385dc4-3ae7-4722-a367-bcb8024ecc52" providerId="ADAL" clId="{D1113808-6EF2-45F3-A052-BF7C3C4820FF}"/>
    <pc:docChg chg="addSld delSld modSld sldOrd">
      <pc:chgData name="John O'Connor" userId="f7385dc4-3ae7-4722-a367-bcb8024ecc52" providerId="ADAL" clId="{D1113808-6EF2-45F3-A052-BF7C3C4820FF}" dt="2026-05-06T12:31:50.062" v="805" actId="6549"/>
      <pc:docMkLst>
        <pc:docMk/>
      </pc:docMkLst>
      <pc:sldChg chg="modSp ord">
        <pc:chgData name="John O'Connor" userId="f7385dc4-3ae7-4722-a367-bcb8024ecc52" providerId="ADAL" clId="{D1113808-6EF2-45F3-A052-BF7C3C4820FF}" dt="2026-05-06T11:42:37.851" v="229" actId="6549"/>
        <pc:sldMkLst>
          <pc:docMk/>
          <pc:sldMk cId="0" sldId="257"/>
        </pc:sldMkLst>
        <pc:spChg chg="mod">
          <ac:chgData name="John O'Connor" userId="f7385dc4-3ae7-4722-a367-bcb8024ecc52" providerId="ADAL" clId="{D1113808-6EF2-45F3-A052-BF7C3C4820FF}" dt="2026-05-06T11:42:37.851" v="229" actId="6549"/>
          <ac:spMkLst>
            <pc:docMk/>
            <pc:sldMk cId="0" sldId="257"/>
            <ac:spMk id="6" creationId="{00000000-0000-0000-0000-000000000000}"/>
          </ac:spMkLst>
        </pc:spChg>
        <pc:spChg chg="mod">
          <ac:chgData name="John O'Connor" userId="f7385dc4-3ae7-4722-a367-bcb8024ecc52" providerId="ADAL" clId="{D1113808-6EF2-45F3-A052-BF7C3C4820FF}" dt="2026-05-06T11:42:21.532" v="215" actId="6549"/>
          <ac:spMkLst>
            <pc:docMk/>
            <pc:sldMk cId="0" sldId="257"/>
            <ac:spMk id="12" creationId="{00000000-0000-0000-0000-000000000000}"/>
          </ac:spMkLst>
        </pc:spChg>
      </pc:sldChg>
      <pc:sldChg chg="modSp ord">
        <pc:chgData name="John O'Connor" userId="f7385dc4-3ae7-4722-a367-bcb8024ecc52" providerId="ADAL" clId="{D1113808-6EF2-45F3-A052-BF7C3C4820FF}" dt="2026-05-06T11:41:12.626" v="198"/>
        <pc:sldMkLst>
          <pc:docMk/>
          <pc:sldMk cId="0" sldId="258"/>
        </pc:sldMkLst>
        <pc:spChg chg="mod">
          <ac:chgData name="John O'Connor" userId="f7385dc4-3ae7-4722-a367-bcb8024ecc52" providerId="ADAL" clId="{D1113808-6EF2-45F3-A052-BF7C3C4820FF}" dt="2026-05-06T11:22:28.084" v="152" actId="20577"/>
          <ac:spMkLst>
            <pc:docMk/>
            <pc:sldMk cId="0" sldId="258"/>
            <ac:spMk id="2" creationId="{00000000-0000-0000-0000-000000000000}"/>
          </ac:spMkLst>
        </pc:spChg>
        <pc:spChg chg="mod">
          <ac:chgData name="John O'Connor" userId="f7385dc4-3ae7-4722-a367-bcb8024ecc52" providerId="ADAL" clId="{D1113808-6EF2-45F3-A052-BF7C3C4820FF}" dt="2026-05-06T11:23:36.922" v="163" actId="6549"/>
          <ac:spMkLst>
            <pc:docMk/>
            <pc:sldMk cId="0" sldId="258"/>
            <ac:spMk id="4" creationId="{00000000-0000-0000-0000-000000000000}"/>
          </ac:spMkLst>
        </pc:spChg>
        <pc:spChg chg="mod">
          <ac:chgData name="John O'Connor" userId="f7385dc4-3ae7-4722-a367-bcb8024ecc52" providerId="ADAL" clId="{D1113808-6EF2-45F3-A052-BF7C3C4820FF}" dt="2026-05-06T11:18:43.744" v="20" actId="20577"/>
          <ac:spMkLst>
            <pc:docMk/>
            <pc:sldMk cId="0" sldId="258"/>
            <ac:spMk id="5" creationId="{00000000-0000-0000-0000-000000000000}"/>
          </ac:spMkLst>
        </pc:spChg>
        <pc:spChg chg="mod">
          <ac:chgData name="John O'Connor" userId="f7385dc4-3ae7-4722-a367-bcb8024ecc52" providerId="ADAL" clId="{D1113808-6EF2-45F3-A052-BF7C3C4820FF}" dt="2026-05-06T11:23:51.947" v="166" actId="6549"/>
          <ac:spMkLst>
            <pc:docMk/>
            <pc:sldMk cId="0" sldId="258"/>
            <ac:spMk id="7" creationId="{00000000-0000-0000-0000-000000000000}"/>
          </ac:spMkLst>
        </pc:spChg>
        <pc:spChg chg="mod">
          <ac:chgData name="John O'Connor" userId="f7385dc4-3ae7-4722-a367-bcb8024ecc52" providerId="ADAL" clId="{D1113808-6EF2-45F3-A052-BF7C3C4820FF}" dt="2026-05-06T11:24:04.224" v="169" actId="6549"/>
          <ac:spMkLst>
            <pc:docMk/>
            <pc:sldMk cId="0" sldId="258"/>
            <ac:spMk id="10" creationId="{00000000-0000-0000-0000-000000000000}"/>
          </ac:spMkLst>
        </pc:spChg>
        <pc:spChg chg="mod">
          <ac:chgData name="John O'Connor" userId="f7385dc4-3ae7-4722-a367-bcb8024ecc52" providerId="ADAL" clId="{D1113808-6EF2-45F3-A052-BF7C3C4820FF}" dt="2026-05-06T11:28:54.560" v="197" actId="20577"/>
          <ac:spMkLst>
            <pc:docMk/>
            <pc:sldMk cId="0" sldId="258"/>
            <ac:spMk id="11" creationId="{00000000-0000-0000-0000-000000000000}"/>
          </ac:spMkLst>
        </pc:spChg>
        <pc:spChg chg="mod">
          <ac:chgData name="John O'Connor" userId="f7385dc4-3ae7-4722-a367-bcb8024ecc52" providerId="ADAL" clId="{D1113808-6EF2-45F3-A052-BF7C3C4820FF}" dt="2026-05-06T11:23:22.272" v="159" actId="6549"/>
          <ac:spMkLst>
            <pc:docMk/>
            <pc:sldMk cId="0" sldId="258"/>
            <ac:spMk id="13" creationId="{00000000-0000-0000-0000-000000000000}"/>
          </ac:spMkLst>
        </pc:spChg>
        <pc:spChg chg="mod">
          <ac:chgData name="John O'Connor" userId="f7385dc4-3ae7-4722-a367-bcb8024ecc52" providerId="ADAL" clId="{D1113808-6EF2-45F3-A052-BF7C3C4820FF}" dt="2026-05-06T11:20:33.706" v="124" actId="6549"/>
          <ac:spMkLst>
            <pc:docMk/>
            <pc:sldMk cId="0" sldId="258"/>
            <ac:spMk id="14" creationId="{00000000-0000-0000-0000-000000000000}"/>
          </ac:spMkLst>
        </pc:spChg>
      </pc:sldChg>
      <pc:sldChg chg="ord">
        <pc:chgData name="John O'Connor" userId="f7385dc4-3ae7-4722-a367-bcb8024ecc52" providerId="ADAL" clId="{D1113808-6EF2-45F3-A052-BF7C3C4820FF}" dt="2026-05-06T11:45:02.621" v="232"/>
        <pc:sldMkLst>
          <pc:docMk/>
          <pc:sldMk cId="0" sldId="262"/>
        </pc:sldMkLst>
      </pc:sldChg>
      <pc:sldChg chg="modSp ord">
        <pc:chgData name="John O'Connor" userId="f7385dc4-3ae7-4722-a367-bcb8024ecc52" providerId="ADAL" clId="{D1113808-6EF2-45F3-A052-BF7C3C4820FF}" dt="2026-05-06T12:05:08.010" v="782" actId="6549"/>
        <pc:sldMkLst>
          <pc:docMk/>
          <pc:sldMk cId="0" sldId="265"/>
        </pc:sldMkLst>
        <pc:spChg chg="mod">
          <ac:chgData name="John O'Connor" userId="f7385dc4-3ae7-4722-a367-bcb8024ecc52" providerId="ADAL" clId="{D1113808-6EF2-45F3-A052-BF7C3C4820FF}" dt="2026-05-06T12:05:08.010" v="782" actId="6549"/>
          <ac:spMkLst>
            <pc:docMk/>
            <pc:sldMk cId="0" sldId="265"/>
            <ac:spMk id="4" creationId="{00000000-0000-0000-0000-000000000000}"/>
          </ac:spMkLst>
        </pc:spChg>
      </pc:sldChg>
      <pc:sldChg chg="modSp add del setBg">
        <pc:chgData name="John O'Connor" userId="f7385dc4-3ae7-4722-a367-bcb8024ecc52" providerId="ADAL" clId="{D1113808-6EF2-45F3-A052-BF7C3C4820FF}" dt="2026-05-06T12:31:50.062" v="805" actId="6549"/>
        <pc:sldMkLst>
          <pc:docMk/>
          <pc:sldMk cId="0" sldId="266"/>
        </pc:sldMkLst>
        <pc:spChg chg="mod">
          <ac:chgData name="John O'Connor" userId="f7385dc4-3ae7-4722-a367-bcb8024ecc52" providerId="ADAL" clId="{D1113808-6EF2-45F3-A052-BF7C3C4820FF}" dt="2026-05-06T12:31:50.062" v="805" actId="6549"/>
          <ac:spMkLst>
            <pc:docMk/>
            <pc:sldMk cId="0" sldId="266"/>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0577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FAND </a:t>
            </a:r>
            <a:r>
              <a:rPr lang="en-US" dirty="0"/>
              <a:t>is the</a:t>
            </a:r>
            <a:r>
              <a:rPr dirty="0"/>
              <a:t> First Agentic Navigator for Development.</a:t>
            </a:r>
            <a:r>
              <a:rPr lang="en-US" dirty="0"/>
              <a:t> Technologically, it</a:t>
            </a:r>
            <a:r>
              <a:rPr lang="en-US" baseline="0" dirty="0"/>
              <a:t> is the third generation of</a:t>
            </a:r>
            <a:r>
              <a:rPr dirty="0"/>
              <a:t> a lineage</a:t>
            </a:r>
            <a:r>
              <a:rPr lang="en-US" dirty="0"/>
              <a:t> that began with a 1990 </a:t>
            </a:r>
            <a:r>
              <a:rPr dirty="0"/>
              <a:t>World Bank </a:t>
            </a:r>
            <a:r>
              <a:rPr lang="en-US" dirty="0"/>
              <a:t>app called</a:t>
            </a:r>
            <a:r>
              <a:rPr lang="en-US" baseline="0" dirty="0"/>
              <a:t> FIND. That meshed the indicators and concept hierarchy of</a:t>
            </a:r>
            <a:r>
              <a:rPr dirty="0"/>
              <a:t> WDI </a:t>
            </a:r>
            <a:r>
              <a:rPr lang="en-US" dirty="0"/>
              <a:t>to a precursor of LLMs, which mapped them to wordy </a:t>
            </a:r>
            <a:r>
              <a:rPr dirty="0"/>
              <a:t>Country Briefs</a:t>
            </a:r>
            <a:r>
              <a:rPr lang="en-US" dirty="0"/>
              <a:t>. OconEco’s </a:t>
            </a:r>
            <a:r>
              <a:rPr dirty="0"/>
              <a:t>SDRPrep/CSR QuickStart via Gaia Metrics (2013)</a:t>
            </a:r>
            <a:r>
              <a:rPr lang="en-US" dirty="0"/>
              <a:t> was the second</a:t>
            </a:r>
            <a:r>
              <a:rPr lang="en-US" baseline="0" dirty="0"/>
              <a:t> generation, designed mainly for better navigation of corporate sustainability reports and their metrics. This third generation, </a:t>
            </a:r>
            <a:r>
              <a:rPr dirty="0"/>
              <a:t>FAND</a:t>
            </a:r>
            <a:r>
              <a:rPr lang="en-US" dirty="0"/>
              <a:t>,</a:t>
            </a:r>
            <a:r>
              <a:rPr dirty="0"/>
              <a:t> </a:t>
            </a:r>
            <a:r>
              <a:rPr lang="en-US" dirty="0"/>
              <a:t>uses ai to </a:t>
            </a:r>
            <a:r>
              <a:rPr dirty="0"/>
              <a:t>revers</a:t>
            </a:r>
            <a:r>
              <a:rPr lang="en-US" dirty="0"/>
              <a:t>e</a:t>
            </a:r>
            <a:r>
              <a:rPr lang="en-US" baseline="0" dirty="0"/>
              <a:t> last century’s </a:t>
            </a:r>
            <a:r>
              <a:rPr dirty="0"/>
              <a:t>Hollerith Pivot</a:t>
            </a:r>
            <a:r>
              <a:rPr lang="en-US" dirty="0"/>
              <a:t>. This presentation</a:t>
            </a:r>
            <a:r>
              <a:rPr lang="en-US" baseline="0" dirty="0"/>
              <a:t> explains how that applies to the thin descriptions commonly employed in international comparisons, or TL1,</a:t>
            </a:r>
            <a:r>
              <a:rPr lang="en-US" dirty="0"/>
              <a:t> for </a:t>
            </a:r>
            <a:r>
              <a:rPr dirty="0"/>
              <a:t>207+ countries. </a:t>
            </a:r>
            <a:r>
              <a:rPr lang="en-US" dirty="0"/>
              <a:t>It</a:t>
            </a:r>
            <a:r>
              <a:rPr dirty="0"/>
              <a:t> walks through the balance-sheet identity, what FAND compiles, coverage statistics, and policy signal</a:t>
            </a:r>
            <a:r>
              <a:rPr lang="en-US" dirty="0"/>
              <a:t>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Commonwealth as </a:t>
            </a:r>
            <a:r>
              <a:rPr dirty="0" err="1"/>
              <a:t>wele</a:t>
            </a:r>
            <a:r>
              <a:rPr dirty="0"/>
              <a:t> (Middle English) = 'a source of prosperity, well-being, joy' </a:t>
            </a:r>
            <a:r>
              <a:rPr lang="en-US" dirty="0"/>
              <a:t>–</a:t>
            </a:r>
            <a:r>
              <a:rPr dirty="0"/>
              <a:t> </a:t>
            </a:r>
            <a:r>
              <a:rPr lang="en-US" dirty="0"/>
              <a:t>was the goal of America’s founders and the Bank’s </a:t>
            </a:r>
            <a:r>
              <a:rPr dirty="0"/>
              <a:t>1995 M</a:t>
            </a:r>
            <a:r>
              <a:rPr lang="en-US" dirty="0"/>
              <a:t>onitoring</a:t>
            </a:r>
            <a:r>
              <a:rPr lang="en-US" baseline="0" dirty="0"/>
              <a:t> Environmental Progress (M</a:t>
            </a:r>
            <a:r>
              <a:rPr dirty="0"/>
              <a:t>EP</a:t>
            </a:r>
            <a:r>
              <a:rPr lang="en-US" dirty="0"/>
              <a:t>)</a:t>
            </a:r>
            <a:r>
              <a:rPr dirty="0"/>
              <a:t>. </a:t>
            </a:r>
            <a:r>
              <a:rPr lang="en-US" dirty="0"/>
              <a:t>That is why the US Census reported</a:t>
            </a:r>
            <a:r>
              <a:rPr lang="en-US" baseline="0" dirty="0"/>
              <a:t> on wealth for decades before income. </a:t>
            </a:r>
            <a:r>
              <a:rPr dirty="0"/>
              <a:t>The Hollerith Pivot (named for Herman Hollerith's tabulating machine) was the historical shift that made quantitative measurement cheap and qualitative assessment </a:t>
            </a:r>
            <a:r>
              <a:rPr lang="en-US" dirty="0"/>
              <a:t>(like gauging the “True Value” of Wealth) </a:t>
            </a:r>
            <a:r>
              <a:rPr dirty="0"/>
              <a:t>expensive. FAND reverses this by making the qualitative </a:t>
            </a:r>
            <a:r>
              <a:rPr lang="en-US" dirty="0"/>
              <a:t>–</a:t>
            </a:r>
            <a:r>
              <a:rPr dirty="0"/>
              <a:t> </a:t>
            </a:r>
            <a:r>
              <a:rPr lang="en-US" dirty="0"/>
              <a:t>harmonizing ‘local’ knowledge and considering fuzzy constructs</a:t>
            </a:r>
            <a:r>
              <a:rPr lang="en-US" baseline="0" dirty="0"/>
              <a:t> like </a:t>
            </a:r>
            <a:r>
              <a:rPr dirty="0"/>
              <a:t>institutional quality, social infrastructure, trust -- computationally tractable and balance-sheet visible. The 38-fold measurement asymmetry between rich/sparse and poor/dense regions</a:t>
            </a:r>
            <a:r>
              <a:rPr lang="en-US" dirty="0"/>
              <a:t>, discussed in a separate presentation,</a:t>
            </a:r>
            <a:r>
              <a:rPr dirty="0"/>
              <a:t> is the </a:t>
            </a:r>
            <a:r>
              <a:rPr lang="en-US" dirty="0"/>
              <a:t>deeper</a:t>
            </a:r>
            <a:r>
              <a:rPr dirty="0"/>
              <a:t> problem FAND addresses: rich countries have sparse populations but rich data; poor countries have dense populations but sparse data. FAND provides the solution.</a:t>
            </a:r>
            <a:r>
              <a:rPr lang="en-US" dirty="0"/>
              <a:t> However,</a:t>
            </a:r>
            <a:r>
              <a:rPr lang="en-US" baseline="0" dirty="0"/>
              <a:t> it must set the stage by showing how such a massive increase in granularity will be distilled for national decision makers.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With two intermediate residuals, c</a:t>
            </a:r>
            <a:r>
              <a:rPr dirty="0"/>
              <a:t>omponen</a:t>
            </a:r>
            <a:r>
              <a:rPr lang="en-US" dirty="0"/>
              <a:t>ts</a:t>
            </a:r>
            <a:r>
              <a:rPr lang="en-US" baseline="0" dirty="0"/>
              <a:t> are</a:t>
            </a:r>
            <a:r>
              <a:rPr dirty="0"/>
              <a:t> computed from primary sources: </a:t>
            </a:r>
            <a:r>
              <a:rPr lang="en-US" dirty="0"/>
              <a:t>say </a:t>
            </a:r>
            <a:r>
              <a:rPr dirty="0"/>
              <a:t>PA from OECD 9B + PIM backdate (243 countries), NC from EIA/USGS/FAO/Energy Institute/FRA (5 branches: fossil fuels, minerals, </a:t>
            </a:r>
            <a:r>
              <a:rPr dirty="0" err="1"/>
              <a:t>agland</a:t>
            </a:r>
            <a:r>
              <a:rPr dirty="0"/>
              <a:t>, forest timber, fisheries), HR from international cross-country regression of ln(RW) on </a:t>
            </a:r>
            <a:r>
              <a:rPr lang="en-US" dirty="0"/>
              <a:t>Mean Years of Schooling (</a:t>
            </a:r>
            <a:r>
              <a:rPr dirty="0"/>
              <a:t>MYS</a:t>
            </a:r>
            <a:r>
              <a:rPr lang="en-US" dirty="0"/>
              <a:t>)</a:t>
            </a:r>
            <a:r>
              <a:rPr dirty="0"/>
              <a:t> and L</a:t>
            </a:r>
            <a:r>
              <a:rPr lang="en-US" dirty="0"/>
              <a:t>ife </a:t>
            </a:r>
            <a:r>
              <a:rPr dirty="0"/>
              <a:t>E</a:t>
            </a:r>
            <a:r>
              <a:rPr lang="en-US" dirty="0"/>
              <a:t>xpectancy</a:t>
            </a:r>
            <a:r>
              <a:rPr lang="en-US" baseline="0" dirty="0"/>
              <a:t> (LE).</a:t>
            </a:r>
            <a:r>
              <a:rPr dirty="0"/>
              <a:t> SI as residual</a:t>
            </a:r>
            <a:r>
              <a:rPr lang="en-US" dirty="0"/>
              <a:t> split so</a:t>
            </a:r>
            <a:r>
              <a:rPr dirty="0"/>
              <a:t> SR = max(SI, 0.20*CW) </a:t>
            </a:r>
            <a:r>
              <a:rPr lang="en-US" dirty="0"/>
              <a:t>a</a:t>
            </a:r>
            <a:r>
              <a:rPr dirty="0"/>
              <a:t>s the TFP analogue; DM = max(0, 0.20*CW - SI) is the trust-infrastructure deficit. NW extends CW with two per-side cross-border stocks (Gross Foreign Assets 1.1.1.4 and Gross Foreign Liabilities 1.2.3) observed independently via IMF IIP / LM-EWN / WID. </a:t>
            </a:r>
            <a:r>
              <a:rPr lang="en-US" dirty="0"/>
              <a:t>There is a </a:t>
            </a:r>
            <a:r>
              <a:rPr dirty="0"/>
              <a:t>Hohfeldian classification</a:t>
            </a:r>
            <a:r>
              <a:rPr lang="en-US" dirty="0"/>
              <a:t> simplified as SNA and</a:t>
            </a:r>
            <a:r>
              <a:rPr lang="en-US" baseline="0" dirty="0"/>
              <a:t> such measure </a:t>
            </a:r>
            <a:r>
              <a:rPr lang="en-US" dirty="0"/>
              <a:t>Claim-Rights and Duties, comprising</a:t>
            </a:r>
            <a:r>
              <a:rPr dirty="0"/>
              <a:t> PA</a:t>
            </a:r>
            <a:r>
              <a:rPr lang="en-US" dirty="0"/>
              <a:t>,</a:t>
            </a:r>
            <a:r>
              <a:rPr dirty="0"/>
              <a:t> NC</a:t>
            </a:r>
            <a:r>
              <a:rPr lang="en-US" dirty="0"/>
              <a:t>,</a:t>
            </a:r>
            <a:r>
              <a:rPr lang="en-US" baseline="0" dirty="0"/>
              <a:t> and Cross-Border accounts. FAND recognizes and values his other jural correlatives as Substantive Rights. </a:t>
            </a:r>
            <a:r>
              <a:rPr dirty="0"/>
              <a:t>HR i</a:t>
            </a:r>
            <a:r>
              <a:rPr lang="en-US" dirty="0"/>
              <a:t>nvolves</a:t>
            </a:r>
            <a:r>
              <a:rPr dirty="0"/>
              <a:t> first-order Privilege (liberty of labor)</a:t>
            </a:r>
            <a:r>
              <a:rPr lang="en-US" baseline="0" dirty="0"/>
              <a:t> while</a:t>
            </a:r>
            <a:r>
              <a:rPr dirty="0"/>
              <a:t> SR is mixed second-order Power/Immunity.</a:t>
            </a:r>
            <a:r>
              <a:rPr lang="en-US" dirty="0"/>
              <a:t> Since what gets monitored gets managed, the greatest risk of deferred maintenance is to SI..</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World Tables are the primary FAND data product -- one xlsx per indicator, all countries as rows, years as columns, classic WDI/DataBank format. Balance Sheet WTs carry the identity chain: CW, PA, NC Total, RW, HR, SR (Substantive Rights </a:t>
            </a:r>
            <a:r>
              <a:rPr lang="en-US" dirty="0"/>
              <a:t>~</a:t>
            </a:r>
            <a:r>
              <a:rPr dirty="0"/>
              <a:t> TFP analogue), DM (Deferred Maintenance </a:t>
            </a:r>
            <a:r>
              <a:rPr lang="en-US" dirty="0"/>
              <a:t>of SR</a:t>
            </a:r>
            <a:r>
              <a:rPr dirty="0"/>
              <a:t>), Net Worth, and two demographic WTs. NC has 52 WTs: 3 fossil fuels (oil, gas, coal), 31 individual minerals from USGS MCS, fisheries from FAO, </a:t>
            </a:r>
            <a:r>
              <a:rPr dirty="0" err="1"/>
              <a:t>agland</a:t>
            </a:r>
            <a:r>
              <a:rPr dirty="0"/>
              <a:t> split into farmland + </a:t>
            </a:r>
            <a:r>
              <a:rPr dirty="0" err="1"/>
              <a:t>grazingland</a:t>
            </a:r>
            <a:r>
              <a:rPr dirty="0"/>
              <a:t>, forest timber split into industrial roundwood + fuelwood, forest cover (severance tithe), plus ES items (mangroves, hydropower) under Other Substantive Rights, plus rollup WTs at each aggregation level. Cross-Border has 15 WTs: parent with 5 Hohfeldian-institutional children on each side, plus BEA bilateral sub-detail and Non-US FDI residual.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t>
            </a:r>
            <a:r>
              <a:rPr lang="en-US" dirty="0" err="1"/>
              <a:t>Ban’ks</a:t>
            </a:r>
            <a:r>
              <a:rPr lang="en-US" dirty="0"/>
              <a:t> </a:t>
            </a:r>
            <a:r>
              <a:rPr dirty="0"/>
              <a:t>1995 MEP first asked</a:t>
            </a:r>
            <a:r>
              <a:rPr lang="en-US" dirty="0"/>
              <a:t>,</a:t>
            </a:r>
            <a:r>
              <a:rPr dirty="0"/>
              <a:t> 'What is a country worth?' and pioneered Wealth me</a:t>
            </a:r>
            <a:r>
              <a:rPr lang="en-US" dirty="0"/>
              <a:t>trics, which</a:t>
            </a:r>
            <a:r>
              <a:rPr lang="en-US" baseline="0" dirty="0"/>
              <a:t> devolved into its 2024 </a:t>
            </a:r>
            <a:r>
              <a:rPr dirty="0"/>
              <a:t>Cha</a:t>
            </a:r>
            <a:r>
              <a:rPr lang="en-US" dirty="0"/>
              <a:t>n</a:t>
            </a:r>
            <a:r>
              <a:rPr dirty="0"/>
              <a:t>ging Wealth of Nations</a:t>
            </a:r>
            <a:r>
              <a:rPr lang="en-US" dirty="0"/>
              <a:t>, or CWoN</a:t>
            </a:r>
            <a:r>
              <a:rPr dirty="0"/>
              <a:t>. FAND computes everything independently </a:t>
            </a:r>
            <a:r>
              <a:rPr lang="en-US" dirty="0"/>
              <a:t>but </a:t>
            </a:r>
            <a:r>
              <a:rPr lang="en-US" baseline="0" dirty="0"/>
              <a:t>uses</a:t>
            </a:r>
            <a:r>
              <a:rPr dirty="0"/>
              <a:t> CWoN </a:t>
            </a:r>
            <a:r>
              <a:rPr lang="en-US" dirty="0"/>
              <a:t>for</a:t>
            </a:r>
            <a:r>
              <a:rPr dirty="0"/>
              <a:t> cross-validation</a:t>
            </a:r>
            <a:r>
              <a:rPr lang="en-US" dirty="0"/>
              <a:t>,</a:t>
            </a:r>
            <a:r>
              <a:rPr dirty="0"/>
              <a:t> </a:t>
            </a:r>
            <a:r>
              <a:rPr lang="en-US" dirty="0"/>
              <a:t>not as </a:t>
            </a:r>
            <a:r>
              <a:rPr dirty="0"/>
              <a:t>a production input. Three key numbers: 207 countries w</a:t>
            </a:r>
            <a:r>
              <a:rPr lang="en-US" dirty="0"/>
              <a:t>here</a:t>
            </a:r>
            <a:r>
              <a:rPr lang="en-US" baseline="0" dirty="0"/>
              <a:t> FAND estimates CommonWealth or </a:t>
            </a:r>
            <a:r>
              <a:rPr dirty="0"/>
              <a:t>CW</a:t>
            </a:r>
            <a:r>
              <a:rPr lang="en-US" dirty="0"/>
              <a:t>, with</a:t>
            </a:r>
            <a:r>
              <a:rPr dirty="0"/>
              <a:t> 188 nodes in </a:t>
            </a:r>
            <a:r>
              <a:rPr lang="en-US" dirty="0"/>
              <a:t>its</a:t>
            </a:r>
            <a:r>
              <a:rPr lang="en-US" baseline="0" dirty="0"/>
              <a:t> </a:t>
            </a:r>
            <a:r>
              <a:rPr dirty="0"/>
              <a:t>What hierarchy (including 38 commodity leaf children), 70 constructs currently </a:t>
            </a:r>
            <a:r>
              <a:rPr lang="en-US" dirty="0"/>
              <a:t>fully included </a:t>
            </a:r>
            <a:r>
              <a:rPr dirty="0"/>
              <a:t>populated</a:t>
            </a:r>
            <a:r>
              <a:rPr lang="en-US" dirty="0"/>
              <a:t>, meaning not only recognized (by Quantities</a:t>
            </a:r>
            <a:r>
              <a:rPr lang="en-US" baseline="0" dirty="0"/>
              <a:t> or Qs) but valued in V</a:t>
            </a:r>
            <a:r>
              <a:rPr dirty="0"/>
              <a:t> tabs</a:t>
            </a:r>
            <a:r>
              <a:rPr lang="en-US" baseline="0" dirty="0"/>
              <a:t> that travel well across time and place.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c</a:t>
            </a:r>
            <a:r>
              <a:rPr dirty="0"/>
              <a:t>overage slide </a:t>
            </a:r>
            <a:r>
              <a:rPr lang="en-US" dirty="0"/>
              <a:t>is </a:t>
            </a:r>
            <a:r>
              <a:rPr dirty="0"/>
              <a:t>derived from programmatic scan of all 78 World Table xlsx files</a:t>
            </a:r>
            <a:r>
              <a:rPr lang="en-US" dirty="0"/>
              <a:t>. It only counts </a:t>
            </a:r>
            <a:r>
              <a:rPr dirty="0"/>
              <a:t>countries with non-zero data in V (valuation) tabs -- the tab that carries the balance-sheet entry and aggregates up the concept hierarchy. Population leads at 237 countries (WPP universe), NC Total at 236 (</a:t>
            </a:r>
            <a:r>
              <a:rPr dirty="0" err="1"/>
              <a:t>IndefiniteLongLived</a:t>
            </a:r>
            <a:r>
              <a:rPr dirty="0"/>
              <a:t> rollup), Fisheries at 230. Cross-border parent constructs cover 195 countries (IMF IIP + LM-EWN + WID era-aware splice). Fossil fuels at 124 reflects the subset with production data (oil 103, gas 103, coal 88). Mangroves at 109 is the narrowest -- only coastal countries with mangrove ecosystems. One gap: Magnesium Compounds has no V tab in its WT file. The 188 hierarchy nodes include 38 commodity leaf children now numbered as formal What codes: 3 fossil fuels (1.1.1.3.1.1.1.1-3: oil/gas/coal), 31 minerals (1.1.1.3.1.1.2.1-31), 2 </a:t>
            </a:r>
            <a:r>
              <a:rPr dirty="0" err="1"/>
              <a:t>agland</a:t>
            </a:r>
            <a:r>
              <a:rPr dirty="0"/>
              <a:t> (1.1.1.3.2.1.2.1-2: farmland/</a:t>
            </a:r>
            <a:r>
              <a:rPr dirty="0" err="1"/>
              <a:t>grazingland</a:t>
            </a:r>
            <a:r>
              <a:rPr dirty="0"/>
              <a:t>), 2 timber (1.1.1.3.2.2.2.1-2: IR/fuelwood). Gold has the widest mineral coverage at 120 countries with V-tab data; Garnet the narrowest at 7.</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Three-halo valuation is the core NC methodology. Halo 1 (V=</a:t>
            </a:r>
            <a:r>
              <a:rPr dirty="0" err="1"/>
              <a:t>PxQ</a:t>
            </a:r>
            <a:r>
              <a:rPr dirty="0"/>
              <a:t>) captures the annual flow -- what was extracted and sold at market prices. Halo 2 (V=</a:t>
            </a:r>
            <a:r>
              <a:rPr dirty="0" err="1"/>
              <a:t>PxR</a:t>
            </a:r>
            <a:r>
              <a:rPr dirty="0"/>
              <a:t>) captures the stock -- what remains underground at current prices, using USGS reserves data and backcast estimates. Halo 3 (Severance = 10% of V(R)) is the balance-sheet entry -- a universal placeholder for the sovereign's rent claim on natural resource extraction. The 10% rate is empirically calibrated: V(</a:t>
            </a:r>
            <a:r>
              <a:rPr dirty="0" err="1"/>
              <a:t>sev</a:t>
            </a:r>
            <a:r>
              <a:rPr dirty="0"/>
              <a:t>)/CWoN approximately equals 1.0 for oil across 1995-2020, meaning the severance estimate closely matches CWoN's rent-capitalization approach. CWoN itself uses a fourth halo (capitalized rents with T=20 or T=100) which FAND treats as cross-validation only. NC has exactly 5 branches under first-order claim-rights: fossil fuels, minerals, agricultural land, forest timber, fisheries. Mangroves and hydropower are NOT NC -- they are Privileges (liberty to use), not claim-rights (right to sever), and sit under Other Substantive Rights (1.1.2.2) with </a:t>
            </a:r>
            <a:r>
              <a:rPr dirty="0" err="1"/>
              <a:t>nc_aggregation</a:t>
            </a:r>
            <a:r>
              <a:rPr dirty="0"/>
              <a:t>=false.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SR and DM decompose the SI residual within CW. SR = max(SI, 0.20*CW) </a:t>
            </a:r>
            <a:r>
              <a:rPr lang="en-US" dirty="0"/>
              <a:t>implies </a:t>
            </a:r>
            <a:r>
              <a:rPr dirty="0"/>
              <a:t>every </a:t>
            </a:r>
            <a:r>
              <a:rPr lang="en-US" dirty="0"/>
              <a:t>economy requires some investment in how individuals</a:t>
            </a:r>
            <a:r>
              <a:rPr lang="en-US" baseline="0" dirty="0"/>
              <a:t> collaborate and compete </a:t>
            </a:r>
            <a:r>
              <a:rPr dirty="0"/>
              <a:t>society gets credit for positive institutional capital even when measured SI is negative (institutional drag). This is the balance-sheet analogue of TFP -- the unexplained productive capacity beyond physical and human capital. SR's children include 'Free' services of nature (ecosystem services like mangroves and hydropower, classified as Privileges under Hohfeldian framework, excluded from NC via </a:t>
            </a:r>
            <a:r>
              <a:rPr dirty="0" err="1"/>
              <a:t>nc_aggregation</a:t>
            </a:r>
            <a:r>
              <a:rPr dirty="0"/>
              <a:t>=false) and 'Free' trust infrastructure (institutional quality, rule of law, social cohesion). DM = max(0, 0.20*CW - SI) is the liability side -- the trust-infrastructure deficit. 96 of 194 countries have floor-binding DM in 2020, meaning their SI falls below 20% of CW. DM translates to a risk premium in advocacy terms: these are nations where private markets cannot find adequate collateral, and the Bank's intermediation -- pooling risk for places without it -- maps directly onto DM. The policy directive: invest in how people collaborate and compete before buying more produced assets.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Cross-border extends CW to Net Worth via two independent per-side stocks. The previous NIIP-centered framing (OG-007 section 9) was excised S220 -- no single NIIP node exists. Each side is directly observed: Tier-A (IMF IIP 2005-), Tier-B (Lane-Milesi-Ferretti EWN 1970-2004), Tier-E (WID ratio-splice 1950-1969). Five Hohfeldian-institutional children on each side capture which institutional sector carries which jural position: Via Domestic Financial System (depository only: CBS+ODCS, S121+S122; OFI excised BT-042), Sovereign Direct Credit / Sovereign Debt, Nonbank-Banks (BIS LBS), FDI Global (IIP DI parent), All-Other (residual). BEA bilateral sub-detail and Non-US FDI residual are further children under FDI. Country-Page render layer may display a derived memo row 'External position (net) = 1.1.1.4 - 1.2.3' but that is display-only, not a hierarchy node. Coverage: 195 countries at parent level, Nonbank-Banks widest at 218 (BIS LBS reporting network).</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concordance layer is a mapping exercise -- how do existing indicator databases (WDI's 1,595 indicators, WGI's 36, ESG's 67, ID4D's 54) relate to FAND's What hierarchy? This is distinct from what FAND produces. The concordance helps identify: (a) where FAND's own estimates can be cross-validated against external sources, (b) where the What hierarchy has coverage gaps, and (c) how existing 'roll-up' counts should be interpreted. The key point: concordance counts are NOT FAND production counts. FAND produces 78 World Tables from primary sources; the concordance maps thousands of external indicators to the same hierarchy for reference. The previous version of this deck conflated concordance mappings with database contents -- the 'Trust Infrastructure: 252' number was a concordance roll-up, not a FAND product count.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closing, FAND aims to go</a:t>
            </a:r>
            <a:r>
              <a:rPr lang="en-US" baseline="0" dirty="0"/>
              <a:t> finer grain in terms of units of observation. Nations are incommensurate units of observation and analysis, except perhaps regarding UN votes. </a:t>
            </a:r>
            <a:r>
              <a:rPr lang="en-US" dirty="0"/>
              <a:t>A separate presentation gets into detail.</a:t>
            </a:r>
            <a:r>
              <a:rPr lang="en-US" baseline="0" dirty="0"/>
              <a:t> When fully developed, FAND will permit matched model testing with units of observation comprising roughly similar number of residents, having decomposed nations to where units are no larger than today’s median nation. </a:t>
            </a:r>
          </a:p>
          <a:p>
            <a:endParaRPr lang="en-US" baseline="0" dirty="0"/>
          </a:p>
          <a:p>
            <a:r>
              <a:rPr lang="en-US" baseline="0" dirty="0"/>
              <a:t>Work has begun on a US proof of concept. A scoping exercise suggests adding EU nations will be a </a:t>
            </a:r>
            <a:r>
              <a:rPr lang="en-US" baseline="0"/>
              <a:t>manageable extension.</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5549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5314096"/>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ww.census.gov/programs-surveys/decennial-census/about/census-constitution.html"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C3D"/>
        </a:solidFill>
        <a:effectLst/>
      </p:bgPr>
    </p:bg>
    <p:spTree>
      <p:nvGrpSpPr>
        <p:cNvPr id="1" name=""/>
        <p:cNvGrpSpPr/>
        <p:nvPr/>
      </p:nvGrpSpPr>
      <p:grpSpPr>
        <a:xfrm>
          <a:off x="0" y="0"/>
          <a:ext cx="0" cy="0"/>
          <a:chOff x="0" y="0"/>
          <a:chExt cx="0" cy="0"/>
        </a:xfrm>
      </p:grpSpPr>
      <p:sp>
        <p:nvSpPr>
          <p:cNvPr id="2" name="TextBox 1"/>
          <p:cNvSpPr txBox="1"/>
          <p:nvPr/>
        </p:nvSpPr>
        <p:spPr>
          <a:xfrm>
            <a:off x="731520" y="914400"/>
            <a:ext cx="7680960" cy="1097280"/>
          </a:xfrm>
          <a:prstGeom prst="rect">
            <a:avLst/>
          </a:prstGeom>
          <a:noFill/>
        </p:spPr>
        <p:txBody>
          <a:bodyPr wrap="square">
            <a:spAutoFit/>
          </a:bodyPr>
          <a:lstStyle/>
          <a:p>
            <a:pPr algn="l">
              <a:spcAft>
                <a:spcPts val="0"/>
              </a:spcAft>
              <a:defRPr sz="5400" b="1" i="0">
                <a:solidFill>
                  <a:srgbClr val="FFFFFF"/>
                </a:solidFill>
                <a:latin typeface="Georgia"/>
              </a:defRPr>
            </a:pPr>
            <a:r>
              <a:t>FAND</a:t>
            </a:r>
          </a:p>
        </p:txBody>
      </p:sp>
      <p:sp>
        <p:nvSpPr>
          <p:cNvPr id="3" name="TextBox 2"/>
          <p:cNvSpPr txBox="1"/>
          <p:nvPr/>
        </p:nvSpPr>
        <p:spPr>
          <a:xfrm>
            <a:off x="731520" y="1920240"/>
            <a:ext cx="7680960" cy="548640"/>
          </a:xfrm>
          <a:prstGeom prst="rect">
            <a:avLst/>
          </a:prstGeom>
          <a:noFill/>
        </p:spPr>
        <p:txBody>
          <a:bodyPr wrap="square">
            <a:spAutoFit/>
          </a:bodyPr>
          <a:lstStyle/>
          <a:p>
            <a:pPr algn="l">
              <a:spcAft>
                <a:spcPts val="0"/>
              </a:spcAft>
              <a:defRPr sz="2000" b="0" i="1">
                <a:solidFill>
                  <a:srgbClr val="CADCFC"/>
                </a:solidFill>
                <a:latin typeface="Calibri"/>
              </a:defRPr>
            </a:pPr>
            <a:r>
              <a:t>First Agentic Navigator for Development</a:t>
            </a:r>
          </a:p>
        </p:txBody>
      </p:sp>
      <p:sp>
        <p:nvSpPr>
          <p:cNvPr id="4" name="TextBox 3"/>
          <p:cNvSpPr txBox="1"/>
          <p:nvPr/>
        </p:nvSpPr>
        <p:spPr>
          <a:xfrm>
            <a:off x="731520" y="2743200"/>
            <a:ext cx="7680960" cy="457200"/>
          </a:xfrm>
          <a:prstGeom prst="rect">
            <a:avLst/>
          </a:prstGeom>
          <a:noFill/>
        </p:spPr>
        <p:txBody>
          <a:bodyPr wrap="square">
            <a:spAutoFit/>
          </a:bodyPr>
          <a:lstStyle/>
          <a:p>
            <a:pPr algn="l">
              <a:spcAft>
                <a:spcPts val="0"/>
              </a:spcAft>
              <a:defRPr sz="1600" b="0" i="0">
                <a:solidFill>
                  <a:srgbClr val="F5A623"/>
                </a:solidFill>
                <a:latin typeface="Calibri"/>
              </a:defRPr>
            </a:pPr>
            <a:r>
              <a:t>TL1 National Overview</a:t>
            </a:r>
          </a:p>
        </p:txBody>
      </p:sp>
      <p:sp>
        <p:nvSpPr>
          <p:cNvPr id="5" name="TextBox 4"/>
          <p:cNvSpPr txBox="1"/>
          <p:nvPr/>
        </p:nvSpPr>
        <p:spPr>
          <a:xfrm>
            <a:off x="731520" y="4206240"/>
            <a:ext cx="7680960" cy="365760"/>
          </a:xfrm>
          <a:prstGeom prst="rect">
            <a:avLst/>
          </a:prstGeom>
          <a:noFill/>
        </p:spPr>
        <p:txBody>
          <a:bodyPr wrap="square">
            <a:spAutoFit/>
          </a:bodyPr>
          <a:lstStyle/>
          <a:p>
            <a:pPr algn="l">
              <a:spcAft>
                <a:spcPts val="0"/>
              </a:spcAft>
              <a:defRPr sz="1200" b="0" i="0">
                <a:solidFill>
                  <a:srgbClr val="8E99A4"/>
                </a:solidFill>
                <a:latin typeface="Calibri"/>
              </a:defRPr>
            </a:pPr>
            <a:r>
              <a:t>OconEco  •  May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C3D"/>
        </a:solidFill>
        <a:effectLst/>
      </p:bgPr>
    </p:bg>
    <p:spTree>
      <p:nvGrpSpPr>
        <p:cNvPr id="1" name=""/>
        <p:cNvGrpSpPr/>
        <p:nvPr/>
      </p:nvGrpSpPr>
      <p:grpSpPr>
        <a:xfrm>
          <a:off x="0" y="0"/>
          <a:ext cx="0" cy="0"/>
          <a:chOff x="0" y="0"/>
          <a:chExt cx="0" cy="0"/>
        </a:xfrm>
      </p:grpSpPr>
      <p:sp>
        <p:nvSpPr>
          <p:cNvPr id="2" name="TextBox 1"/>
          <p:cNvSpPr txBox="1"/>
          <p:nvPr/>
        </p:nvSpPr>
        <p:spPr>
          <a:xfrm>
            <a:off x="731520" y="914400"/>
            <a:ext cx="7680960" cy="1463040"/>
          </a:xfrm>
          <a:prstGeom prst="rect">
            <a:avLst/>
          </a:prstGeom>
          <a:noFill/>
        </p:spPr>
        <p:txBody>
          <a:bodyPr wrap="square">
            <a:spAutoFit/>
          </a:bodyPr>
          <a:lstStyle/>
          <a:p>
            <a:pPr algn="l">
              <a:spcAft>
                <a:spcPts val="0"/>
              </a:spcAft>
              <a:defRPr sz="3600" b="1" i="0">
                <a:solidFill>
                  <a:srgbClr val="FFFFFF"/>
                </a:solidFill>
                <a:latin typeface="Georgia"/>
              </a:defRPr>
            </a:pPr>
            <a:r>
              <a:t>A Source of Prosperity,</a:t>
            </a:r>
            <a:br/>
            <a:r>
              <a:t>Well-being, Joy</a:t>
            </a:r>
          </a:p>
        </p:txBody>
      </p:sp>
      <p:sp>
        <p:nvSpPr>
          <p:cNvPr id="3" name="TextBox 2"/>
          <p:cNvSpPr txBox="1"/>
          <p:nvPr/>
        </p:nvSpPr>
        <p:spPr>
          <a:xfrm>
            <a:off x="731520" y="2377440"/>
            <a:ext cx="7680960" cy="457200"/>
          </a:xfrm>
          <a:prstGeom prst="rect">
            <a:avLst/>
          </a:prstGeom>
          <a:noFill/>
        </p:spPr>
        <p:txBody>
          <a:bodyPr wrap="square">
            <a:spAutoFit/>
          </a:bodyPr>
          <a:lstStyle/>
          <a:p>
            <a:pPr algn="l">
              <a:spcAft>
                <a:spcPts val="0"/>
              </a:spcAft>
              <a:defRPr sz="1400" b="0" i="1">
                <a:solidFill>
                  <a:srgbClr val="F5A623"/>
                </a:solidFill>
                <a:latin typeface="Calibri"/>
              </a:defRPr>
            </a:pPr>
            <a:r>
              <a:t>Commonwealth as wēle — Middle English</a:t>
            </a:r>
          </a:p>
        </p:txBody>
      </p:sp>
      <p:sp>
        <p:nvSpPr>
          <p:cNvPr id="4" name="TextBox 3"/>
          <p:cNvSpPr txBox="1"/>
          <p:nvPr/>
        </p:nvSpPr>
        <p:spPr>
          <a:xfrm>
            <a:off x="731520" y="3108960"/>
            <a:ext cx="7680960" cy="892552"/>
          </a:xfrm>
          <a:prstGeom prst="rect">
            <a:avLst/>
          </a:prstGeom>
          <a:noFill/>
        </p:spPr>
        <p:txBody>
          <a:bodyPr wrap="square">
            <a:spAutoFit/>
          </a:bodyPr>
          <a:lstStyle/>
          <a:p>
            <a:pPr algn="l">
              <a:spcAft>
                <a:spcPts val="0"/>
              </a:spcAft>
              <a:defRPr sz="1300" b="0" i="0">
                <a:solidFill>
                  <a:srgbClr val="CADCFC"/>
                </a:solidFill>
                <a:latin typeface="Calibri"/>
              </a:defRPr>
            </a:pPr>
            <a:r>
              <a:rPr dirty="0"/>
              <a:t>FAND reverses the Hollerith Pivot: making qua</a:t>
            </a:r>
            <a:r>
              <a:rPr lang="en-US" dirty="0"/>
              <a:t>ntita</a:t>
            </a:r>
            <a:r>
              <a:rPr dirty="0"/>
              <a:t>tive</a:t>
            </a:r>
            <a:r>
              <a:rPr lang="en-US" dirty="0"/>
              <a:t> tabulation so </a:t>
            </a:r>
            <a:r>
              <a:rPr dirty="0"/>
              <a:t>cheap </a:t>
            </a:r>
            <a:r>
              <a:rPr lang="en-US" dirty="0"/>
              <a:t>(starting with the US 1890 Census) that </a:t>
            </a:r>
            <a:r>
              <a:rPr dirty="0"/>
              <a:t>qua</a:t>
            </a:r>
            <a:r>
              <a:rPr lang="en-US" dirty="0"/>
              <a:t>litative</a:t>
            </a:r>
            <a:r>
              <a:rPr dirty="0"/>
              <a:t> </a:t>
            </a:r>
            <a:r>
              <a:rPr lang="en-US" dirty="0"/>
              <a:t>assessment became a luxury good</a:t>
            </a:r>
            <a:r>
              <a:rPr dirty="0"/>
              <a:t>.</a:t>
            </a:r>
            <a:r>
              <a:rPr lang="en-US" dirty="0"/>
              <a:t> Today’s Information Technology (IT) let’s even a solo researcher get back to the vision in the US Constitution, of “enumeration” as a tool  of empowerment of the governed over their government </a:t>
            </a:r>
            <a:r>
              <a:rPr lang="en-US" dirty="0">
                <a:solidFill>
                  <a:schemeClr val="bg1"/>
                </a:solidFill>
              </a:rPr>
              <a:t>(see </a:t>
            </a:r>
            <a:r>
              <a:rPr lang="en-US" dirty="0">
                <a:solidFill>
                  <a:schemeClr val="bg1"/>
                </a:solidFill>
                <a:hlinkClick r:id="rId3">
                  <a:extLst>
                    <a:ext uri="{A12FA001-AC4F-418D-AE19-62706E023703}">
                      <ahyp:hlinkClr xmlns:ahyp="http://schemas.microsoft.com/office/drawing/2018/hyperlinkcolor" val="tx"/>
                    </a:ext>
                  </a:extLst>
                </a:hlinkClick>
              </a:rPr>
              <a:t>Census in the Constitution</a:t>
            </a:r>
            <a:r>
              <a:rPr lang="en-US" dirty="0">
                <a:solidFill>
                  <a:schemeClr val="bg1"/>
                </a:solidFill>
              </a:rPr>
              <a:t>)</a:t>
            </a:r>
            <a:endParaRPr dirty="0">
              <a:solidFill>
                <a:schemeClr val="bg1"/>
              </a:solidFill>
            </a:endParaRPr>
          </a:p>
        </p:txBody>
      </p:sp>
      <p:sp>
        <p:nvSpPr>
          <p:cNvPr id="5" name="TextBox 4"/>
          <p:cNvSpPr txBox="1"/>
          <p:nvPr/>
        </p:nvSpPr>
        <p:spPr>
          <a:xfrm>
            <a:off x="731520" y="4389120"/>
            <a:ext cx="7680960" cy="365760"/>
          </a:xfrm>
          <a:prstGeom prst="rect">
            <a:avLst/>
          </a:prstGeom>
          <a:noFill/>
        </p:spPr>
        <p:txBody>
          <a:bodyPr wrap="square">
            <a:spAutoFit/>
          </a:bodyPr>
          <a:lstStyle/>
          <a:p>
            <a:pPr algn="l">
              <a:spcAft>
                <a:spcPts val="0"/>
              </a:spcAft>
              <a:defRPr sz="1200" b="0" i="0">
                <a:solidFill>
                  <a:srgbClr val="8E99A4"/>
                </a:solidFill>
                <a:latin typeface="Calibri"/>
              </a:defRPr>
            </a:pPr>
            <a:r>
              <a:t>OconEco  •  oconeco.com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584775"/>
          </a:xfrm>
          <a:prstGeom prst="rect">
            <a:avLst/>
          </a:prstGeom>
          <a:noFill/>
        </p:spPr>
        <p:txBody>
          <a:bodyPr wrap="square">
            <a:spAutoFit/>
          </a:bodyPr>
          <a:lstStyle/>
          <a:p>
            <a:pPr algn="l">
              <a:spcAft>
                <a:spcPts val="0"/>
              </a:spcAft>
              <a:defRPr sz="3200" b="1" i="0">
                <a:solidFill>
                  <a:srgbClr val="FFFFFF"/>
                </a:solidFill>
                <a:latin typeface="Georgia"/>
              </a:defRPr>
            </a:pPr>
            <a:r>
              <a:rPr dirty="0"/>
              <a:t>Balance-Sheet </a:t>
            </a:r>
            <a:r>
              <a:rPr lang="en-US" dirty="0"/>
              <a:t>Compilation</a:t>
            </a:r>
            <a:endParaRPr dirty="0"/>
          </a:p>
        </p:txBody>
      </p:sp>
      <p:sp>
        <p:nvSpPr>
          <p:cNvPr id="3" name="Rectangle 2"/>
          <p:cNvSpPr/>
          <p:nvPr/>
        </p:nvSpPr>
        <p:spPr>
          <a:xfrm>
            <a:off x="731520" y="1097280"/>
            <a:ext cx="7680960" cy="82296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097280"/>
            <a:ext cx="3657600" cy="430887"/>
          </a:xfrm>
          <a:prstGeom prst="rect">
            <a:avLst/>
          </a:prstGeom>
          <a:noFill/>
        </p:spPr>
        <p:txBody>
          <a:bodyPr wrap="square">
            <a:spAutoFit/>
          </a:bodyPr>
          <a:lstStyle/>
          <a:p>
            <a:pPr algn="l">
              <a:spcAft>
                <a:spcPts val="0"/>
              </a:spcAft>
              <a:defRPr sz="2200" b="1" i="0">
                <a:solidFill>
                  <a:srgbClr val="F5A623"/>
                </a:solidFill>
                <a:latin typeface="Consolas"/>
              </a:defRPr>
            </a:pPr>
            <a:r>
              <a:rPr dirty="0"/>
              <a:t>CW =  PA + NC  + RW</a:t>
            </a:r>
          </a:p>
        </p:txBody>
      </p:sp>
      <p:sp>
        <p:nvSpPr>
          <p:cNvPr id="5" name="TextBox 4"/>
          <p:cNvSpPr txBox="1"/>
          <p:nvPr/>
        </p:nvSpPr>
        <p:spPr>
          <a:xfrm>
            <a:off x="4754880" y="1097280"/>
            <a:ext cx="3474720" cy="430887"/>
          </a:xfrm>
          <a:prstGeom prst="rect">
            <a:avLst/>
          </a:prstGeom>
          <a:noFill/>
        </p:spPr>
        <p:txBody>
          <a:bodyPr wrap="square">
            <a:spAutoFit/>
          </a:bodyPr>
          <a:lstStyle/>
          <a:p>
            <a:pPr algn="l">
              <a:spcAft>
                <a:spcPts val="0"/>
              </a:spcAft>
              <a:defRPr sz="1100" b="0" i="0">
                <a:solidFill>
                  <a:srgbClr val="CADCFC"/>
                </a:solidFill>
                <a:latin typeface="Calibri"/>
              </a:defRPr>
            </a:pPr>
            <a:r>
              <a:rPr dirty="0"/>
              <a:t>Com</a:t>
            </a:r>
            <a:r>
              <a:rPr lang="en-US" dirty="0"/>
              <a:t>mon</a:t>
            </a:r>
            <a:r>
              <a:rPr dirty="0"/>
              <a:t>Wealth = Produced Assets + Natural Capital + Residual</a:t>
            </a:r>
            <a:r>
              <a:rPr lang="en-US" dirty="0"/>
              <a:t> Wealth</a:t>
            </a:r>
            <a:endParaRPr dirty="0"/>
          </a:p>
        </p:txBody>
      </p:sp>
      <p:sp>
        <p:nvSpPr>
          <p:cNvPr id="6" name="Rectangle 5"/>
          <p:cNvSpPr/>
          <p:nvPr/>
        </p:nvSpPr>
        <p:spPr>
          <a:xfrm>
            <a:off x="731520" y="2057400"/>
            <a:ext cx="7680960" cy="82296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057400"/>
            <a:ext cx="3657600" cy="430887"/>
          </a:xfrm>
          <a:prstGeom prst="rect">
            <a:avLst/>
          </a:prstGeom>
          <a:noFill/>
        </p:spPr>
        <p:txBody>
          <a:bodyPr wrap="square">
            <a:spAutoFit/>
          </a:bodyPr>
          <a:lstStyle/>
          <a:p>
            <a:pPr algn="l">
              <a:spcAft>
                <a:spcPts val="0"/>
              </a:spcAft>
              <a:defRPr sz="2200" b="1" i="0">
                <a:solidFill>
                  <a:srgbClr val="F5A623"/>
                </a:solidFill>
                <a:latin typeface="Consolas"/>
              </a:defRPr>
            </a:pPr>
            <a:r>
              <a:rPr dirty="0"/>
              <a:t>RW =  HR + SI</a:t>
            </a:r>
          </a:p>
        </p:txBody>
      </p:sp>
      <p:sp>
        <p:nvSpPr>
          <p:cNvPr id="8" name="TextBox 7"/>
          <p:cNvSpPr txBox="1"/>
          <p:nvPr/>
        </p:nvSpPr>
        <p:spPr>
          <a:xfrm>
            <a:off x="4754880" y="2057400"/>
            <a:ext cx="3474720" cy="822960"/>
          </a:xfrm>
          <a:prstGeom prst="rect">
            <a:avLst/>
          </a:prstGeom>
          <a:noFill/>
        </p:spPr>
        <p:txBody>
          <a:bodyPr wrap="square">
            <a:spAutoFit/>
          </a:bodyPr>
          <a:lstStyle/>
          <a:p>
            <a:pPr algn="l">
              <a:spcAft>
                <a:spcPts val="0"/>
              </a:spcAft>
              <a:defRPr sz="1100" b="0" i="0">
                <a:solidFill>
                  <a:srgbClr val="CADCFC"/>
                </a:solidFill>
                <a:latin typeface="Calibri"/>
              </a:defRPr>
            </a:pPr>
            <a:r>
              <a:t>Residual = Human Resources + Social Infrastructure</a:t>
            </a:r>
          </a:p>
        </p:txBody>
      </p:sp>
      <p:sp>
        <p:nvSpPr>
          <p:cNvPr id="9" name="Rectangle 8"/>
          <p:cNvSpPr/>
          <p:nvPr/>
        </p:nvSpPr>
        <p:spPr>
          <a:xfrm>
            <a:off x="731520" y="3017520"/>
            <a:ext cx="7680960" cy="82296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017520"/>
            <a:ext cx="3657600" cy="430887"/>
          </a:xfrm>
          <a:prstGeom prst="rect">
            <a:avLst/>
          </a:prstGeom>
          <a:noFill/>
        </p:spPr>
        <p:txBody>
          <a:bodyPr wrap="square">
            <a:spAutoFit/>
          </a:bodyPr>
          <a:lstStyle/>
          <a:p>
            <a:pPr algn="l">
              <a:spcAft>
                <a:spcPts val="0"/>
              </a:spcAft>
              <a:defRPr sz="2200" b="1" i="0">
                <a:solidFill>
                  <a:srgbClr val="F5A623"/>
                </a:solidFill>
                <a:latin typeface="Consolas"/>
              </a:defRPr>
            </a:pPr>
            <a:r>
              <a:rPr dirty="0"/>
              <a:t>SI = SR  − DM</a:t>
            </a:r>
          </a:p>
        </p:txBody>
      </p:sp>
      <p:sp>
        <p:nvSpPr>
          <p:cNvPr id="11" name="TextBox 10"/>
          <p:cNvSpPr txBox="1"/>
          <p:nvPr/>
        </p:nvSpPr>
        <p:spPr>
          <a:xfrm>
            <a:off x="4754880" y="3017520"/>
            <a:ext cx="3474720" cy="430887"/>
          </a:xfrm>
          <a:prstGeom prst="rect">
            <a:avLst/>
          </a:prstGeom>
          <a:noFill/>
        </p:spPr>
        <p:txBody>
          <a:bodyPr wrap="square">
            <a:spAutoFit/>
          </a:bodyPr>
          <a:lstStyle/>
          <a:p>
            <a:pPr algn="l">
              <a:spcAft>
                <a:spcPts val="0"/>
              </a:spcAft>
              <a:defRPr sz="1100" b="0" i="0">
                <a:solidFill>
                  <a:srgbClr val="CADCFC"/>
                </a:solidFill>
                <a:latin typeface="Calibri"/>
              </a:defRPr>
            </a:pPr>
            <a:r>
              <a:rPr dirty="0"/>
              <a:t>S</a:t>
            </a:r>
            <a:r>
              <a:rPr lang="en-US" dirty="0"/>
              <a:t>ocial Infrastructure</a:t>
            </a:r>
            <a:r>
              <a:rPr dirty="0"/>
              <a:t> decomposes</a:t>
            </a:r>
            <a:r>
              <a:rPr lang="en-US" dirty="0"/>
              <a:t> into</a:t>
            </a:r>
            <a:r>
              <a:rPr dirty="0"/>
              <a:t> Substantive Rights </a:t>
            </a:r>
            <a:r>
              <a:rPr lang="en-US" dirty="0"/>
              <a:t>as an asset, its </a:t>
            </a:r>
            <a:r>
              <a:rPr dirty="0"/>
              <a:t>Deferred Maintenance</a:t>
            </a:r>
            <a:r>
              <a:rPr lang="en-US" dirty="0"/>
              <a:t> as a liability.</a:t>
            </a:r>
            <a:endParaRPr dirty="0"/>
          </a:p>
        </p:txBody>
      </p:sp>
      <p:sp>
        <p:nvSpPr>
          <p:cNvPr id="12" name="Rectangle 11"/>
          <p:cNvSpPr/>
          <p:nvPr/>
        </p:nvSpPr>
        <p:spPr>
          <a:xfrm>
            <a:off x="731520" y="3977640"/>
            <a:ext cx="7680960" cy="82296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977640"/>
            <a:ext cx="3657600" cy="430887"/>
          </a:xfrm>
          <a:prstGeom prst="rect">
            <a:avLst/>
          </a:prstGeom>
          <a:noFill/>
        </p:spPr>
        <p:txBody>
          <a:bodyPr wrap="square">
            <a:spAutoFit/>
          </a:bodyPr>
          <a:lstStyle/>
          <a:p>
            <a:pPr algn="l">
              <a:spcAft>
                <a:spcPts val="0"/>
              </a:spcAft>
              <a:defRPr sz="2200" b="1" i="0">
                <a:solidFill>
                  <a:srgbClr val="F5A623"/>
                </a:solidFill>
                <a:latin typeface="Consolas"/>
              </a:defRPr>
            </a:pPr>
            <a:r>
              <a:rPr dirty="0"/>
              <a:t>NW = CW  + CBA  − CBL</a:t>
            </a:r>
          </a:p>
        </p:txBody>
      </p:sp>
      <p:sp>
        <p:nvSpPr>
          <p:cNvPr id="14" name="TextBox 13"/>
          <p:cNvSpPr txBox="1"/>
          <p:nvPr/>
        </p:nvSpPr>
        <p:spPr>
          <a:xfrm>
            <a:off x="4754880" y="3977640"/>
            <a:ext cx="3474720" cy="430887"/>
          </a:xfrm>
          <a:prstGeom prst="rect">
            <a:avLst/>
          </a:prstGeom>
          <a:noFill/>
        </p:spPr>
        <p:txBody>
          <a:bodyPr wrap="square">
            <a:spAutoFit/>
          </a:bodyPr>
          <a:lstStyle/>
          <a:p>
            <a:pPr algn="l">
              <a:spcAft>
                <a:spcPts val="0"/>
              </a:spcAft>
              <a:defRPr sz="1100" b="0" i="0">
                <a:solidFill>
                  <a:srgbClr val="CADCFC"/>
                </a:solidFill>
                <a:latin typeface="Calibri"/>
              </a:defRPr>
            </a:pPr>
            <a:r>
              <a:rPr dirty="0"/>
              <a:t>Net Worth ad</a:t>
            </a:r>
            <a:r>
              <a:rPr lang="en-US" dirty="0"/>
              <a:t>justs for nonresident ownership or control, via </a:t>
            </a:r>
            <a:r>
              <a:rPr dirty="0"/>
              <a:t>Cross-Border Assets minus Liabilities</a:t>
            </a:r>
          </a:p>
        </p:txBody>
      </p:sp>
      <p:sp>
        <p:nvSpPr>
          <p:cNvPr id="15" name="TextBox 14"/>
          <p:cNvSpPr txBox="1"/>
          <p:nvPr/>
        </p:nvSpPr>
        <p:spPr>
          <a:xfrm>
            <a:off x="457200" y="4663440"/>
            <a:ext cx="8229600" cy="365760"/>
          </a:xfrm>
          <a:prstGeom prst="rect">
            <a:avLst/>
          </a:prstGeom>
          <a:noFill/>
        </p:spPr>
        <p:txBody>
          <a:bodyPr wrap="square">
            <a:spAutoFit/>
          </a:bodyPr>
          <a:lstStyle/>
          <a:p>
            <a:pPr algn="l">
              <a:spcAft>
                <a:spcPts val="0"/>
              </a:spcAft>
              <a:defRPr sz="900" b="0" i="1">
                <a:solidFill>
                  <a:srgbClr val="8E99A4"/>
                </a:solidFill>
                <a:latin typeface="Calibri"/>
              </a:defRPr>
            </a:pPr>
            <a:r>
              <a:t>Each component computed independently by OconEco. CWoN is cross-validation only.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640080"/>
          </a:xfrm>
          <a:prstGeom prst="rect">
            <a:avLst/>
          </a:prstGeom>
          <a:noFill/>
        </p:spPr>
        <p:txBody>
          <a:bodyPr wrap="square">
            <a:spAutoFit/>
          </a:bodyPr>
          <a:lstStyle/>
          <a:p>
            <a:pPr algn="l">
              <a:spcAft>
                <a:spcPts val="0"/>
              </a:spcAft>
              <a:defRPr sz="2800" b="1" i="0">
                <a:solidFill>
                  <a:srgbClr val="1E2761"/>
                </a:solidFill>
                <a:latin typeface="Georgia"/>
              </a:defRPr>
            </a:pPr>
            <a:r>
              <a:t>What FAND Compiles: World Tables</a:t>
            </a:r>
          </a:p>
        </p:txBody>
      </p:sp>
      <p:sp>
        <p:nvSpPr>
          <p:cNvPr id="3" name="TextBox 2"/>
          <p:cNvSpPr txBox="1"/>
          <p:nvPr/>
        </p:nvSpPr>
        <p:spPr>
          <a:xfrm>
            <a:off x="731520" y="914400"/>
            <a:ext cx="7680960" cy="365760"/>
          </a:xfrm>
          <a:prstGeom prst="rect">
            <a:avLst/>
          </a:prstGeom>
          <a:noFill/>
        </p:spPr>
        <p:txBody>
          <a:bodyPr wrap="square">
            <a:spAutoFit/>
          </a:bodyPr>
          <a:lstStyle/>
          <a:p>
            <a:pPr algn="l">
              <a:spcAft>
                <a:spcPts val="0"/>
              </a:spcAft>
              <a:defRPr sz="1300" b="0" i="0">
                <a:solidFill>
                  <a:srgbClr val="2C3E50"/>
                </a:solidFill>
                <a:latin typeface="Calibri"/>
              </a:defRPr>
            </a:pPr>
            <a:r>
              <a:t>Each World Table covers all countries × all available years in classic WDI format.</a:t>
            </a:r>
          </a:p>
        </p:txBody>
      </p:sp>
      <p:sp>
        <p:nvSpPr>
          <p:cNvPr id="4" name="Rectangle 3"/>
          <p:cNvSpPr/>
          <p:nvPr/>
        </p:nvSpPr>
        <p:spPr>
          <a:xfrm>
            <a:off x="457200" y="1463040"/>
            <a:ext cx="2743200" cy="31089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1463040"/>
            <a:ext cx="2743200" cy="54864"/>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4592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Balance Sheet (11)</a:t>
            </a:r>
          </a:p>
        </p:txBody>
      </p:sp>
      <p:sp>
        <p:nvSpPr>
          <p:cNvPr id="7" name="TextBox 6"/>
          <p:cNvSpPr txBox="1"/>
          <p:nvPr/>
        </p:nvSpPr>
        <p:spPr>
          <a:xfrm>
            <a:off x="594360" y="2194560"/>
            <a:ext cx="2468880" cy="2194560"/>
          </a:xfrm>
          <a:prstGeom prst="rect">
            <a:avLst/>
          </a:prstGeom>
          <a:noFill/>
        </p:spPr>
        <p:txBody>
          <a:bodyPr wrap="square">
            <a:spAutoFit/>
          </a:bodyPr>
          <a:lstStyle/>
          <a:p>
            <a:pPr algn="l">
              <a:spcAft>
                <a:spcPts val="0"/>
              </a:spcAft>
              <a:defRPr sz="1100" b="0" i="0">
                <a:solidFill>
                  <a:srgbClr val="2C3E50"/>
                </a:solidFill>
                <a:latin typeface="Calibri"/>
              </a:defRPr>
            </a:pPr>
            <a:r>
              <a:t>CW, PA, NC Total, RW,</a:t>
            </a:r>
            <a:br/>
            <a:r>
              <a:t>HR, SI, SR, DM,</a:t>
            </a:r>
            <a:br/>
            <a:r>
              <a:t>Net Worth, Population,</a:t>
            </a:r>
            <a:br/>
            <a:r>
              <a:t>Population Q</a:t>
            </a:r>
          </a:p>
        </p:txBody>
      </p:sp>
      <p:sp>
        <p:nvSpPr>
          <p:cNvPr id="8" name="Rectangle 7"/>
          <p:cNvSpPr/>
          <p:nvPr/>
        </p:nvSpPr>
        <p:spPr>
          <a:xfrm>
            <a:off x="3337560" y="1463040"/>
            <a:ext cx="2743200" cy="31089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337560" y="1463040"/>
            <a:ext cx="274320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337560" y="164592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Natural Capital (52)</a:t>
            </a:r>
          </a:p>
        </p:txBody>
      </p:sp>
      <p:sp>
        <p:nvSpPr>
          <p:cNvPr id="11" name="TextBox 10"/>
          <p:cNvSpPr txBox="1"/>
          <p:nvPr/>
        </p:nvSpPr>
        <p:spPr>
          <a:xfrm>
            <a:off x="3474720" y="2194560"/>
            <a:ext cx="2468880" cy="2194560"/>
          </a:xfrm>
          <a:prstGeom prst="rect">
            <a:avLst/>
          </a:prstGeom>
          <a:noFill/>
        </p:spPr>
        <p:txBody>
          <a:bodyPr wrap="square">
            <a:spAutoFit/>
          </a:bodyPr>
          <a:lstStyle/>
          <a:p>
            <a:pPr algn="l">
              <a:spcAft>
                <a:spcPts val="0"/>
              </a:spcAft>
              <a:defRPr sz="1100" b="0" i="0">
                <a:solidFill>
                  <a:srgbClr val="2C3E50"/>
                </a:solidFill>
                <a:latin typeface="Calibri"/>
              </a:defRPr>
            </a:pPr>
            <a:r>
              <a:t>3 Fossil Fuels, 31 Minerals,</a:t>
            </a:r>
            <a:br/>
            <a:r>
              <a:t>Fisheries, AgLand (Farm+Graze),</a:t>
            </a:r>
            <a:br/>
            <a:r>
              <a:t>Forest Timber (IR+FW),</a:t>
            </a:r>
            <a:br/>
            <a:r>
              <a:t>Forest Cover, Mangroves,</a:t>
            </a:r>
            <a:br/>
            <a:r>
              <a:t>Hydropower, + rollup WTs</a:t>
            </a:r>
          </a:p>
        </p:txBody>
      </p:sp>
      <p:sp>
        <p:nvSpPr>
          <p:cNvPr id="12" name="Rectangle 11"/>
          <p:cNvSpPr/>
          <p:nvPr/>
        </p:nvSpPr>
        <p:spPr>
          <a:xfrm>
            <a:off x="6217920" y="1463040"/>
            <a:ext cx="2743200" cy="310896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463040"/>
            <a:ext cx="274320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0" y="164592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Cross-Border (15)</a:t>
            </a:r>
          </a:p>
        </p:txBody>
      </p:sp>
      <p:sp>
        <p:nvSpPr>
          <p:cNvPr id="15" name="TextBox 14"/>
          <p:cNvSpPr txBox="1"/>
          <p:nvPr/>
        </p:nvSpPr>
        <p:spPr>
          <a:xfrm>
            <a:off x="6355080" y="2194560"/>
            <a:ext cx="2468880" cy="2194560"/>
          </a:xfrm>
          <a:prstGeom prst="rect">
            <a:avLst/>
          </a:prstGeom>
          <a:noFill/>
        </p:spPr>
        <p:txBody>
          <a:bodyPr wrap="square">
            <a:spAutoFit/>
          </a:bodyPr>
          <a:lstStyle/>
          <a:p>
            <a:pPr algn="l">
              <a:spcAft>
                <a:spcPts val="0"/>
              </a:spcAft>
              <a:defRPr sz="1100" b="0" i="0">
                <a:solidFill>
                  <a:srgbClr val="2C3E50"/>
                </a:solidFill>
                <a:latin typeface="Calibri"/>
              </a:defRPr>
            </a:pPr>
            <a:r>
              <a:t>Claim-Rights parent + 5 children</a:t>
            </a:r>
            <a:br/>
            <a:r>
              <a:t>(Via-DFS, Sovereign, Nonbank,</a:t>
            </a:r>
            <a:br/>
            <a:r>
              <a:t>FDI Global, All-Other)</a:t>
            </a:r>
            <a:br/>
            <a:r>
              <a:t>Duties parent + 5 children</a:t>
            </a:r>
            <a:br/>
            <a:r>
              <a:t>+ BEA bilateral + Non-US</a:t>
            </a:r>
          </a:p>
        </p:txBody>
      </p:sp>
      <p:sp>
        <p:nvSpPr>
          <p:cNvPr id="16" name="TextBox 15"/>
          <p:cNvSpPr txBox="1"/>
          <p:nvPr/>
        </p:nvSpPr>
        <p:spPr>
          <a:xfrm>
            <a:off x="457200" y="4663440"/>
            <a:ext cx="8229600" cy="365760"/>
          </a:xfrm>
          <a:prstGeom prst="rect">
            <a:avLst/>
          </a:prstGeom>
          <a:noFill/>
        </p:spPr>
        <p:txBody>
          <a:bodyPr wrap="square">
            <a:spAutoFit/>
          </a:bodyPr>
          <a:lstStyle/>
          <a:p>
            <a:pPr algn="l">
              <a:spcAft>
                <a:spcPts val="0"/>
              </a:spcAft>
              <a:defRPr sz="900" b="0" i="1">
                <a:solidFill>
                  <a:srgbClr val="8E99A4"/>
                </a:solidFill>
                <a:latin typeface="Calibri"/>
              </a:defRPr>
            </a:pPr>
            <a:r>
              <a:t>78 current production World Tables across 3 directories. Rollup WTs aggregate children automatically.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731520"/>
          </a:xfrm>
          <a:prstGeom prst="rect">
            <a:avLst/>
          </a:prstGeom>
          <a:noFill/>
        </p:spPr>
        <p:txBody>
          <a:bodyPr wrap="square">
            <a:spAutoFit/>
          </a:bodyPr>
          <a:lstStyle/>
          <a:p>
            <a:pPr algn="l">
              <a:spcAft>
                <a:spcPts val="0"/>
              </a:spcAft>
              <a:defRPr sz="3600" b="1" i="0">
                <a:solidFill>
                  <a:srgbClr val="1E2761"/>
                </a:solidFill>
                <a:latin typeface="Georgia"/>
              </a:defRPr>
            </a:pPr>
            <a:r>
              <a:t>What Is a Country Worth?</a:t>
            </a:r>
          </a:p>
        </p:txBody>
      </p:sp>
      <p:sp>
        <p:nvSpPr>
          <p:cNvPr id="3" name="TextBox 2"/>
          <p:cNvSpPr txBox="1"/>
          <p:nvPr/>
        </p:nvSpPr>
        <p:spPr>
          <a:xfrm>
            <a:off x="731520" y="1188720"/>
            <a:ext cx="7680960" cy="914400"/>
          </a:xfrm>
          <a:prstGeom prst="rect">
            <a:avLst/>
          </a:prstGeom>
          <a:noFill/>
        </p:spPr>
        <p:txBody>
          <a:bodyPr wrap="square">
            <a:spAutoFit/>
          </a:bodyPr>
          <a:lstStyle/>
          <a:p>
            <a:pPr algn="l">
              <a:spcAft>
                <a:spcPts val="0"/>
              </a:spcAft>
              <a:defRPr sz="1400" b="0" i="0">
                <a:solidFill>
                  <a:srgbClr val="2C3E50"/>
                </a:solidFill>
                <a:latin typeface="Calibri"/>
              </a:defRPr>
            </a:pPr>
            <a:r>
              <a:t>The 1995 MEP asked this question. Thirty years later, FAND provides a computable answer for every country on Earth — a balance sheet built from primary sources, independently of the World Bank’s Changing Wealth of Nations.</a:t>
            </a:r>
          </a:p>
        </p:txBody>
      </p:sp>
      <p:sp>
        <p:nvSpPr>
          <p:cNvPr id="4" name="Rectangle 3"/>
          <p:cNvSpPr/>
          <p:nvPr/>
        </p:nvSpPr>
        <p:spPr>
          <a:xfrm>
            <a:off x="731520" y="2377440"/>
            <a:ext cx="2468880" cy="2011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560320"/>
            <a:ext cx="2468880" cy="914400"/>
          </a:xfrm>
          <a:prstGeom prst="rect">
            <a:avLst/>
          </a:prstGeom>
          <a:noFill/>
        </p:spPr>
        <p:txBody>
          <a:bodyPr wrap="square">
            <a:spAutoFit/>
          </a:bodyPr>
          <a:lstStyle/>
          <a:p>
            <a:pPr algn="ctr">
              <a:spcAft>
                <a:spcPts val="0"/>
              </a:spcAft>
              <a:defRPr sz="4800" b="1" i="0">
                <a:solidFill>
                  <a:srgbClr val="2F80ED"/>
                </a:solidFill>
                <a:latin typeface="Georgia"/>
              </a:defRPr>
            </a:pPr>
            <a:r>
              <a:t>207</a:t>
            </a:r>
          </a:p>
        </p:txBody>
      </p:sp>
      <p:sp>
        <p:nvSpPr>
          <p:cNvPr id="6" name="TextBox 5"/>
          <p:cNvSpPr txBox="1"/>
          <p:nvPr/>
        </p:nvSpPr>
        <p:spPr>
          <a:xfrm>
            <a:off x="731520" y="3474720"/>
            <a:ext cx="2468880" cy="461665"/>
          </a:xfrm>
          <a:prstGeom prst="rect">
            <a:avLst/>
          </a:prstGeom>
          <a:noFill/>
        </p:spPr>
        <p:txBody>
          <a:bodyPr wrap="square">
            <a:spAutoFit/>
          </a:bodyPr>
          <a:lstStyle/>
          <a:p>
            <a:pPr algn="ctr">
              <a:spcAft>
                <a:spcPts val="0"/>
              </a:spcAft>
              <a:defRPr sz="1200" b="0" i="0">
                <a:solidFill>
                  <a:srgbClr val="2C3E50"/>
                </a:solidFill>
                <a:latin typeface="Calibri"/>
              </a:defRPr>
            </a:pPr>
            <a:r>
              <a:rPr dirty="0"/>
              <a:t>Countries with</a:t>
            </a:r>
            <a:br>
              <a:rPr dirty="0"/>
            </a:br>
            <a:r>
              <a:rPr dirty="0"/>
              <a:t>Com</a:t>
            </a:r>
            <a:r>
              <a:rPr lang="en-US" dirty="0"/>
              <a:t>mon</a:t>
            </a:r>
            <a:r>
              <a:rPr dirty="0"/>
              <a:t>Wealth</a:t>
            </a:r>
          </a:p>
        </p:txBody>
      </p:sp>
      <p:sp>
        <p:nvSpPr>
          <p:cNvPr id="7" name="Rectangle 6"/>
          <p:cNvSpPr/>
          <p:nvPr/>
        </p:nvSpPr>
        <p:spPr>
          <a:xfrm>
            <a:off x="3474720" y="2377440"/>
            <a:ext cx="2468880" cy="2011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474720" y="2560320"/>
            <a:ext cx="2468880" cy="914400"/>
          </a:xfrm>
          <a:prstGeom prst="rect">
            <a:avLst/>
          </a:prstGeom>
          <a:noFill/>
        </p:spPr>
        <p:txBody>
          <a:bodyPr wrap="square">
            <a:spAutoFit/>
          </a:bodyPr>
          <a:lstStyle/>
          <a:p>
            <a:pPr algn="ctr">
              <a:spcAft>
                <a:spcPts val="0"/>
              </a:spcAft>
              <a:defRPr sz="4800" b="1" i="0">
                <a:solidFill>
                  <a:srgbClr val="27AE60"/>
                </a:solidFill>
                <a:latin typeface="Georgia"/>
              </a:defRPr>
            </a:pPr>
            <a:r>
              <a:t>188</a:t>
            </a:r>
          </a:p>
        </p:txBody>
      </p:sp>
      <p:sp>
        <p:nvSpPr>
          <p:cNvPr id="9" name="TextBox 8"/>
          <p:cNvSpPr txBox="1"/>
          <p:nvPr/>
        </p:nvSpPr>
        <p:spPr>
          <a:xfrm>
            <a:off x="3474720" y="3474720"/>
            <a:ext cx="2468880" cy="731520"/>
          </a:xfrm>
          <a:prstGeom prst="rect">
            <a:avLst/>
          </a:prstGeom>
          <a:noFill/>
        </p:spPr>
        <p:txBody>
          <a:bodyPr wrap="square">
            <a:spAutoFit/>
          </a:bodyPr>
          <a:lstStyle/>
          <a:p>
            <a:pPr algn="ctr">
              <a:spcAft>
                <a:spcPts val="0"/>
              </a:spcAft>
              <a:defRPr sz="1200" b="0" i="0">
                <a:solidFill>
                  <a:srgbClr val="2C3E50"/>
                </a:solidFill>
                <a:latin typeface="Calibri"/>
              </a:defRPr>
            </a:pPr>
            <a:r>
              <a:t>What Hierarchy</a:t>
            </a:r>
            <a:br/>
            <a:r>
              <a:t>nodes (TL1)</a:t>
            </a:r>
          </a:p>
        </p:txBody>
      </p:sp>
      <p:sp>
        <p:nvSpPr>
          <p:cNvPr id="10" name="Rectangle 9"/>
          <p:cNvSpPr/>
          <p:nvPr/>
        </p:nvSpPr>
        <p:spPr>
          <a:xfrm>
            <a:off x="6217920" y="2377440"/>
            <a:ext cx="2468880" cy="201168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17920" y="2560320"/>
            <a:ext cx="2468880" cy="914400"/>
          </a:xfrm>
          <a:prstGeom prst="rect">
            <a:avLst/>
          </a:prstGeom>
          <a:noFill/>
        </p:spPr>
        <p:txBody>
          <a:bodyPr wrap="square">
            <a:spAutoFit/>
          </a:bodyPr>
          <a:lstStyle/>
          <a:p>
            <a:pPr algn="ctr">
              <a:spcAft>
                <a:spcPts val="0"/>
              </a:spcAft>
              <a:defRPr sz="4800" b="1" i="0">
                <a:solidFill>
                  <a:srgbClr val="F5A623"/>
                </a:solidFill>
                <a:latin typeface="Georgia"/>
              </a:defRPr>
            </a:pPr>
            <a:r>
              <a:t>70</a:t>
            </a:r>
          </a:p>
        </p:txBody>
      </p:sp>
      <p:sp>
        <p:nvSpPr>
          <p:cNvPr id="12" name="TextBox 11"/>
          <p:cNvSpPr txBox="1"/>
          <p:nvPr/>
        </p:nvSpPr>
        <p:spPr>
          <a:xfrm>
            <a:off x="6217920" y="3474720"/>
            <a:ext cx="2468880" cy="461665"/>
          </a:xfrm>
          <a:prstGeom prst="rect">
            <a:avLst/>
          </a:prstGeom>
          <a:noFill/>
        </p:spPr>
        <p:txBody>
          <a:bodyPr wrap="square">
            <a:spAutoFit/>
          </a:bodyPr>
          <a:lstStyle/>
          <a:p>
            <a:pPr algn="ctr">
              <a:spcAft>
                <a:spcPts val="0"/>
              </a:spcAft>
              <a:defRPr sz="1200" b="0" i="0">
                <a:solidFill>
                  <a:srgbClr val="2C3E50"/>
                </a:solidFill>
                <a:latin typeface="Calibri"/>
              </a:defRPr>
            </a:pPr>
            <a:r>
              <a:rPr dirty="0"/>
              <a:t>Constructs with</a:t>
            </a:r>
            <a:br>
              <a:rPr dirty="0"/>
            </a:br>
            <a:r>
              <a:rPr lang="en-US" dirty="0"/>
              <a:t>actual</a:t>
            </a:r>
            <a:r>
              <a:rPr dirty="0"/>
              <a:t>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640080"/>
          </a:xfrm>
          <a:prstGeom prst="rect">
            <a:avLst/>
          </a:prstGeom>
          <a:noFill/>
        </p:spPr>
        <p:txBody>
          <a:bodyPr wrap="square">
            <a:spAutoFit/>
          </a:bodyPr>
          <a:lstStyle/>
          <a:p>
            <a:pPr algn="l">
              <a:spcAft>
                <a:spcPts val="0"/>
              </a:spcAft>
              <a:defRPr sz="2800" b="1" i="0">
                <a:solidFill>
                  <a:srgbClr val="1E2761"/>
                </a:solidFill>
                <a:latin typeface="Georgia"/>
              </a:defRPr>
            </a:pPr>
            <a:r>
              <a:t>Database Coverage: V-Tab Observations</a:t>
            </a:r>
          </a:p>
        </p:txBody>
      </p:sp>
      <p:sp>
        <p:nvSpPr>
          <p:cNvPr id="3" name="TextBox 2"/>
          <p:cNvSpPr txBox="1"/>
          <p:nvPr/>
        </p:nvSpPr>
        <p:spPr>
          <a:xfrm>
            <a:off x="731520" y="868680"/>
            <a:ext cx="7680960" cy="320040"/>
          </a:xfrm>
          <a:prstGeom prst="rect">
            <a:avLst/>
          </a:prstGeom>
          <a:noFill/>
        </p:spPr>
        <p:txBody>
          <a:bodyPr wrap="square">
            <a:spAutoFit/>
          </a:bodyPr>
          <a:lstStyle/>
          <a:p>
            <a:pPr algn="l">
              <a:spcAft>
                <a:spcPts val="0"/>
              </a:spcAft>
              <a:defRPr sz="1200" b="0" i="1">
                <a:solidFill>
                  <a:srgbClr val="8E99A4"/>
                </a:solidFill>
                <a:latin typeface="Calibri"/>
              </a:defRPr>
            </a:pPr>
            <a:r>
              <a:t>Coverage measured from V (valuation) tabs — the balance-sheet entry that aggregates up the hierarchy.</a:t>
            </a:r>
          </a:p>
        </p:txBody>
      </p:sp>
      <p:sp>
        <p:nvSpPr>
          <p:cNvPr id="4" name="TextBox 3"/>
          <p:cNvSpPr txBox="1"/>
          <p:nvPr/>
        </p:nvSpPr>
        <p:spPr>
          <a:xfrm>
            <a:off x="274320" y="1325880"/>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Population</a:t>
            </a:r>
          </a:p>
        </p:txBody>
      </p:sp>
      <p:sp>
        <p:nvSpPr>
          <p:cNvPr id="5" name="Rectangle 4"/>
          <p:cNvSpPr/>
          <p:nvPr/>
        </p:nvSpPr>
        <p:spPr>
          <a:xfrm>
            <a:off x="2011680" y="1344168"/>
            <a:ext cx="3294034" cy="182879"/>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351434" y="1325880"/>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237</a:t>
            </a:r>
          </a:p>
        </p:txBody>
      </p:sp>
      <p:sp>
        <p:nvSpPr>
          <p:cNvPr id="7" name="TextBox 6"/>
          <p:cNvSpPr txBox="1"/>
          <p:nvPr/>
        </p:nvSpPr>
        <p:spPr>
          <a:xfrm>
            <a:off x="274320" y="1595628"/>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NC Total</a:t>
            </a:r>
          </a:p>
        </p:txBody>
      </p:sp>
      <p:sp>
        <p:nvSpPr>
          <p:cNvPr id="8" name="Rectangle 7"/>
          <p:cNvSpPr/>
          <p:nvPr/>
        </p:nvSpPr>
        <p:spPr>
          <a:xfrm>
            <a:off x="2011680" y="1613916"/>
            <a:ext cx="3280135" cy="182879"/>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37535" y="1595628"/>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236</a:t>
            </a:r>
          </a:p>
        </p:txBody>
      </p:sp>
      <p:sp>
        <p:nvSpPr>
          <p:cNvPr id="10" name="TextBox 9"/>
          <p:cNvSpPr txBox="1"/>
          <p:nvPr/>
        </p:nvSpPr>
        <p:spPr>
          <a:xfrm>
            <a:off x="274320" y="1865376"/>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Fisheries</a:t>
            </a:r>
          </a:p>
        </p:txBody>
      </p:sp>
      <p:sp>
        <p:nvSpPr>
          <p:cNvPr id="11" name="Rectangle 10"/>
          <p:cNvSpPr/>
          <p:nvPr/>
        </p:nvSpPr>
        <p:spPr>
          <a:xfrm>
            <a:off x="2011680" y="1883664"/>
            <a:ext cx="3196742" cy="182879"/>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54142" y="1865376"/>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230</a:t>
            </a:r>
          </a:p>
        </p:txBody>
      </p:sp>
      <p:sp>
        <p:nvSpPr>
          <p:cNvPr id="13" name="TextBox 12"/>
          <p:cNvSpPr txBox="1"/>
          <p:nvPr/>
        </p:nvSpPr>
        <p:spPr>
          <a:xfrm>
            <a:off x="274320" y="2135124"/>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HR</a:t>
            </a:r>
          </a:p>
        </p:txBody>
      </p:sp>
      <p:sp>
        <p:nvSpPr>
          <p:cNvPr id="14" name="Rectangle 13"/>
          <p:cNvSpPr/>
          <p:nvPr/>
        </p:nvSpPr>
        <p:spPr>
          <a:xfrm>
            <a:off x="2011680" y="2153412"/>
            <a:ext cx="3113349" cy="182879"/>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170749" y="2135124"/>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224</a:t>
            </a:r>
          </a:p>
        </p:txBody>
      </p:sp>
      <p:sp>
        <p:nvSpPr>
          <p:cNvPr id="16" name="TextBox 15"/>
          <p:cNvSpPr txBox="1"/>
          <p:nvPr/>
        </p:nvSpPr>
        <p:spPr>
          <a:xfrm>
            <a:off x="274320" y="2404872"/>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Land &amp; Growth</a:t>
            </a:r>
          </a:p>
        </p:txBody>
      </p:sp>
      <p:sp>
        <p:nvSpPr>
          <p:cNvPr id="17" name="Rectangle 16"/>
          <p:cNvSpPr/>
          <p:nvPr/>
        </p:nvSpPr>
        <p:spPr>
          <a:xfrm>
            <a:off x="2011680" y="2423160"/>
            <a:ext cx="3085551" cy="182879"/>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42951" y="2404872"/>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222</a:t>
            </a:r>
          </a:p>
        </p:txBody>
      </p:sp>
      <p:sp>
        <p:nvSpPr>
          <p:cNvPr id="19" name="TextBox 18"/>
          <p:cNvSpPr txBox="1"/>
          <p:nvPr/>
        </p:nvSpPr>
        <p:spPr>
          <a:xfrm>
            <a:off x="274320" y="2674620"/>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Nonbank-Banks</a:t>
            </a:r>
          </a:p>
        </p:txBody>
      </p:sp>
      <p:sp>
        <p:nvSpPr>
          <p:cNvPr id="20" name="Rectangle 19"/>
          <p:cNvSpPr/>
          <p:nvPr/>
        </p:nvSpPr>
        <p:spPr>
          <a:xfrm>
            <a:off x="2011680" y="2692908"/>
            <a:ext cx="3029955" cy="182879"/>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87355" y="2674620"/>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218</a:t>
            </a:r>
          </a:p>
        </p:txBody>
      </p:sp>
      <p:sp>
        <p:nvSpPr>
          <p:cNvPr id="22" name="TextBox 21"/>
          <p:cNvSpPr txBox="1"/>
          <p:nvPr/>
        </p:nvSpPr>
        <p:spPr>
          <a:xfrm>
            <a:off x="274320" y="2944368"/>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CW / NW</a:t>
            </a:r>
          </a:p>
        </p:txBody>
      </p:sp>
      <p:sp>
        <p:nvSpPr>
          <p:cNvPr id="23" name="Rectangle 22"/>
          <p:cNvSpPr/>
          <p:nvPr/>
        </p:nvSpPr>
        <p:spPr>
          <a:xfrm>
            <a:off x="2011680" y="2962656"/>
            <a:ext cx="2877068" cy="182879"/>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34468" y="2944368"/>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207</a:t>
            </a:r>
          </a:p>
        </p:txBody>
      </p:sp>
      <p:sp>
        <p:nvSpPr>
          <p:cNvPr id="25" name="TextBox 24"/>
          <p:cNvSpPr txBox="1"/>
          <p:nvPr/>
        </p:nvSpPr>
        <p:spPr>
          <a:xfrm>
            <a:off x="274320" y="3214115"/>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SR / DM</a:t>
            </a:r>
          </a:p>
        </p:txBody>
      </p:sp>
      <p:sp>
        <p:nvSpPr>
          <p:cNvPr id="26" name="Rectangle 25"/>
          <p:cNvSpPr/>
          <p:nvPr/>
        </p:nvSpPr>
        <p:spPr>
          <a:xfrm>
            <a:off x="2011680" y="3232403"/>
            <a:ext cx="2821472" cy="182879"/>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78872" y="3214115"/>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203</a:t>
            </a:r>
          </a:p>
        </p:txBody>
      </p:sp>
      <p:sp>
        <p:nvSpPr>
          <p:cNvPr id="28" name="TextBox 27"/>
          <p:cNvSpPr txBox="1"/>
          <p:nvPr/>
        </p:nvSpPr>
        <p:spPr>
          <a:xfrm>
            <a:off x="274320" y="3483863"/>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Cross-Border</a:t>
            </a:r>
          </a:p>
        </p:txBody>
      </p:sp>
      <p:sp>
        <p:nvSpPr>
          <p:cNvPr id="29" name="Rectangle 28"/>
          <p:cNvSpPr/>
          <p:nvPr/>
        </p:nvSpPr>
        <p:spPr>
          <a:xfrm>
            <a:off x="2011680" y="3502151"/>
            <a:ext cx="2710281" cy="182879"/>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67681" y="3483863"/>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195</a:t>
            </a:r>
          </a:p>
        </p:txBody>
      </p:sp>
      <p:sp>
        <p:nvSpPr>
          <p:cNvPr id="31" name="TextBox 30"/>
          <p:cNvSpPr txBox="1"/>
          <p:nvPr/>
        </p:nvSpPr>
        <p:spPr>
          <a:xfrm>
            <a:off x="274320" y="3753611"/>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Forest Timber</a:t>
            </a:r>
          </a:p>
        </p:txBody>
      </p:sp>
      <p:sp>
        <p:nvSpPr>
          <p:cNvPr id="32" name="Rectangle 31"/>
          <p:cNvSpPr/>
          <p:nvPr/>
        </p:nvSpPr>
        <p:spPr>
          <a:xfrm>
            <a:off x="2011680" y="3771899"/>
            <a:ext cx="2418405" cy="182879"/>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75805" y="3753611"/>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174</a:t>
            </a:r>
          </a:p>
        </p:txBody>
      </p:sp>
      <p:sp>
        <p:nvSpPr>
          <p:cNvPr id="34" name="TextBox 33"/>
          <p:cNvSpPr txBox="1"/>
          <p:nvPr/>
        </p:nvSpPr>
        <p:spPr>
          <a:xfrm>
            <a:off x="274320" y="4023359"/>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Minerals</a:t>
            </a:r>
          </a:p>
        </p:txBody>
      </p:sp>
      <p:sp>
        <p:nvSpPr>
          <p:cNvPr id="35" name="Rectangle 34"/>
          <p:cNvSpPr/>
          <p:nvPr/>
        </p:nvSpPr>
        <p:spPr>
          <a:xfrm>
            <a:off x="2011680" y="4041647"/>
            <a:ext cx="2015337" cy="182879"/>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072737" y="4023359"/>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145</a:t>
            </a:r>
          </a:p>
        </p:txBody>
      </p:sp>
      <p:sp>
        <p:nvSpPr>
          <p:cNvPr id="37" name="TextBox 36"/>
          <p:cNvSpPr txBox="1"/>
          <p:nvPr/>
        </p:nvSpPr>
        <p:spPr>
          <a:xfrm>
            <a:off x="274320" y="4293107"/>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Fossil Fuels</a:t>
            </a:r>
          </a:p>
        </p:txBody>
      </p:sp>
      <p:sp>
        <p:nvSpPr>
          <p:cNvPr id="38" name="Rectangle 37"/>
          <p:cNvSpPr/>
          <p:nvPr/>
        </p:nvSpPr>
        <p:spPr>
          <a:xfrm>
            <a:off x="2011680" y="4311395"/>
            <a:ext cx="1723461" cy="182879"/>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780861" y="4293107"/>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124</a:t>
            </a:r>
          </a:p>
        </p:txBody>
      </p:sp>
      <p:sp>
        <p:nvSpPr>
          <p:cNvPr id="40" name="TextBox 39"/>
          <p:cNvSpPr txBox="1"/>
          <p:nvPr/>
        </p:nvSpPr>
        <p:spPr>
          <a:xfrm>
            <a:off x="274320" y="4562856"/>
            <a:ext cx="1691640" cy="219456"/>
          </a:xfrm>
          <a:prstGeom prst="rect">
            <a:avLst/>
          </a:prstGeom>
          <a:noFill/>
        </p:spPr>
        <p:txBody>
          <a:bodyPr wrap="square">
            <a:spAutoFit/>
          </a:bodyPr>
          <a:lstStyle/>
          <a:p>
            <a:pPr algn="r">
              <a:spcAft>
                <a:spcPts val="0"/>
              </a:spcAft>
              <a:defRPr sz="900" b="0" i="0">
                <a:solidFill>
                  <a:srgbClr val="2C3E50"/>
                </a:solidFill>
                <a:latin typeface="Calibri"/>
              </a:defRPr>
            </a:pPr>
            <a:r>
              <a:t>Mangroves</a:t>
            </a:r>
          </a:p>
        </p:txBody>
      </p:sp>
      <p:sp>
        <p:nvSpPr>
          <p:cNvPr id="41" name="Rectangle 40"/>
          <p:cNvSpPr/>
          <p:nvPr/>
        </p:nvSpPr>
        <p:spPr>
          <a:xfrm>
            <a:off x="2011680" y="4581144"/>
            <a:ext cx="1514977" cy="182879"/>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572377" y="4562856"/>
            <a:ext cx="457200" cy="219456"/>
          </a:xfrm>
          <a:prstGeom prst="rect">
            <a:avLst/>
          </a:prstGeom>
          <a:noFill/>
        </p:spPr>
        <p:txBody>
          <a:bodyPr wrap="square">
            <a:spAutoFit/>
          </a:bodyPr>
          <a:lstStyle/>
          <a:p>
            <a:pPr algn="l">
              <a:spcAft>
                <a:spcPts val="0"/>
              </a:spcAft>
              <a:defRPr sz="800" b="1" i="0">
                <a:solidFill>
                  <a:srgbClr val="2C3E50"/>
                </a:solidFill>
                <a:latin typeface="Calibri"/>
              </a:defRPr>
            </a:pPr>
            <a:r>
              <a:t>109</a:t>
            </a:r>
          </a:p>
        </p:txBody>
      </p:sp>
      <p:sp>
        <p:nvSpPr>
          <p:cNvPr id="43" name="Rectangle 42"/>
          <p:cNvSpPr/>
          <p:nvPr/>
        </p:nvSpPr>
        <p:spPr>
          <a:xfrm>
            <a:off x="5852160" y="1280160"/>
            <a:ext cx="292608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852160" y="1371600"/>
            <a:ext cx="2926080" cy="365760"/>
          </a:xfrm>
          <a:prstGeom prst="rect">
            <a:avLst/>
          </a:prstGeom>
          <a:noFill/>
        </p:spPr>
        <p:txBody>
          <a:bodyPr wrap="square">
            <a:spAutoFit/>
          </a:bodyPr>
          <a:lstStyle/>
          <a:p>
            <a:pPr algn="ctr">
              <a:spcAft>
                <a:spcPts val="0"/>
              </a:spcAft>
              <a:defRPr sz="1400" b="1" i="0">
                <a:solidFill>
                  <a:srgbClr val="1E2761"/>
                </a:solidFill>
                <a:latin typeface="Georgia"/>
              </a:defRPr>
            </a:pPr>
            <a:r>
              <a:t>Quick Stats</a:t>
            </a:r>
          </a:p>
        </p:txBody>
      </p:sp>
      <p:sp>
        <p:nvSpPr>
          <p:cNvPr id="45" name="TextBox 44"/>
          <p:cNvSpPr txBox="1"/>
          <p:nvPr/>
        </p:nvSpPr>
        <p:spPr>
          <a:xfrm>
            <a:off x="5989320" y="1828800"/>
            <a:ext cx="1828800" cy="320040"/>
          </a:xfrm>
          <a:prstGeom prst="rect">
            <a:avLst/>
          </a:prstGeom>
          <a:noFill/>
        </p:spPr>
        <p:txBody>
          <a:bodyPr wrap="square">
            <a:spAutoFit/>
          </a:bodyPr>
          <a:lstStyle/>
          <a:p>
            <a:pPr algn="l">
              <a:spcAft>
                <a:spcPts val="0"/>
              </a:spcAft>
              <a:defRPr sz="1000" b="0" i="0">
                <a:solidFill>
                  <a:srgbClr val="2C3E50"/>
                </a:solidFill>
                <a:latin typeface="Calibri"/>
              </a:defRPr>
            </a:pPr>
            <a:r>
              <a:t>Hierarchy nodes</a:t>
            </a:r>
          </a:p>
        </p:txBody>
      </p:sp>
      <p:sp>
        <p:nvSpPr>
          <p:cNvPr id="46" name="TextBox 45"/>
          <p:cNvSpPr txBox="1"/>
          <p:nvPr/>
        </p:nvSpPr>
        <p:spPr>
          <a:xfrm>
            <a:off x="7863840" y="1828800"/>
            <a:ext cx="731520" cy="320040"/>
          </a:xfrm>
          <a:prstGeom prst="rect">
            <a:avLst/>
          </a:prstGeom>
          <a:noFill/>
        </p:spPr>
        <p:txBody>
          <a:bodyPr wrap="square">
            <a:spAutoFit/>
          </a:bodyPr>
          <a:lstStyle/>
          <a:p>
            <a:pPr algn="r">
              <a:spcAft>
                <a:spcPts val="0"/>
              </a:spcAft>
              <a:defRPr sz="1000" b="1" i="0">
                <a:solidFill>
                  <a:srgbClr val="2F80ED"/>
                </a:solidFill>
                <a:latin typeface="Calibri"/>
              </a:defRPr>
            </a:pPr>
            <a:r>
              <a:t>188</a:t>
            </a:r>
          </a:p>
        </p:txBody>
      </p:sp>
      <p:sp>
        <p:nvSpPr>
          <p:cNvPr id="47" name="TextBox 46"/>
          <p:cNvSpPr txBox="1"/>
          <p:nvPr/>
        </p:nvSpPr>
        <p:spPr>
          <a:xfrm>
            <a:off x="5989320" y="2176272"/>
            <a:ext cx="1828800" cy="320040"/>
          </a:xfrm>
          <a:prstGeom prst="rect">
            <a:avLst/>
          </a:prstGeom>
          <a:noFill/>
        </p:spPr>
        <p:txBody>
          <a:bodyPr wrap="square">
            <a:spAutoFit/>
          </a:bodyPr>
          <a:lstStyle/>
          <a:p>
            <a:pPr algn="l">
              <a:spcAft>
                <a:spcPts val="0"/>
              </a:spcAft>
              <a:defRPr sz="1000" b="0" i="0">
                <a:solidFill>
                  <a:srgbClr val="2C3E50"/>
                </a:solidFill>
                <a:latin typeface="Calibri"/>
              </a:defRPr>
            </a:pPr>
            <a:r>
              <a:t>Populated constructs</a:t>
            </a:r>
          </a:p>
        </p:txBody>
      </p:sp>
      <p:sp>
        <p:nvSpPr>
          <p:cNvPr id="48" name="TextBox 47"/>
          <p:cNvSpPr txBox="1"/>
          <p:nvPr/>
        </p:nvSpPr>
        <p:spPr>
          <a:xfrm>
            <a:off x="7863840" y="2176272"/>
            <a:ext cx="731520" cy="320040"/>
          </a:xfrm>
          <a:prstGeom prst="rect">
            <a:avLst/>
          </a:prstGeom>
          <a:noFill/>
        </p:spPr>
        <p:txBody>
          <a:bodyPr wrap="square">
            <a:spAutoFit/>
          </a:bodyPr>
          <a:lstStyle/>
          <a:p>
            <a:pPr algn="r">
              <a:spcAft>
                <a:spcPts val="0"/>
              </a:spcAft>
              <a:defRPr sz="1000" b="1" i="0">
                <a:solidFill>
                  <a:srgbClr val="2F80ED"/>
                </a:solidFill>
                <a:latin typeface="Calibri"/>
              </a:defRPr>
            </a:pPr>
            <a:r>
              <a:t>70</a:t>
            </a:r>
          </a:p>
        </p:txBody>
      </p:sp>
      <p:sp>
        <p:nvSpPr>
          <p:cNvPr id="49" name="TextBox 48"/>
          <p:cNvSpPr txBox="1"/>
          <p:nvPr/>
        </p:nvSpPr>
        <p:spPr>
          <a:xfrm>
            <a:off x="5989320" y="2523744"/>
            <a:ext cx="1828800" cy="320040"/>
          </a:xfrm>
          <a:prstGeom prst="rect">
            <a:avLst/>
          </a:prstGeom>
          <a:noFill/>
        </p:spPr>
        <p:txBody>
          <a:bodyPr wrap="square">
            <a:spAutoFit/>
          </a:bodyPr>
          <a:lstStyle/>
          <a:p>
            <a:pPr algn="l">
              <a:spcAft>
                <a:spcPts val="0"/>
              </a:spcAft>
              <a:defRPr sz="1000" b="0" i="0">
                <a:solidFill>
                  <a:srgbClr val="2C3E50"/>
                </a:solidFill>
                <a:latin typeface="Calibri"/>
              </a:defRPr>
            </a:pPr>
            <a:r>
              <a:t>Individual minerals</a:t>
            </a:r>
          </a:p>
        </p:txBody>
      </p:sp>
      <p:sp>
        <p:nvSpPr>
          <p:cNvPr id="50" name="TextBox 49"/>
          <p:cNvSpPr txBox="1"/>
          <p:nvPr/>
        </p:nvSpPr>
        <p:spPr>
          <a:xfrm>
            <a:off x="7863840" y="2523744"/>
            <a:ext cx="731520" cy="320040"/>
          </a:xfrm>
          <a:prstGeom prst="rect">
            <a:avLst/>
          </a:prstGeom>
          <a:noFill/>
        </p:spPr>
        <p:txBody>
          <a:bodyPr wrap="square">
            <a:spAutoFit/>
          </a:bodyPr>
          <a:lstStyle/>
          <a:p>
            <a:pPr algn="r">
              <a:spcAft>
                <a:spcPts val="0"/>
              </a:spcAft>
              <a:defRPr sz="1000" b="1" i="0">
                <a:solidFill>
                  <a:srgbClr val="2F80ED"/>
                </a:solidFill>
                <a:latin typeface="Calibri"/>
              </a:defRPr>
            </a:pPr>
            <a:r>
              <a:t>31</a:t>
            </a:r>
          </a:p>
        </p:txBody>
      </p:sp>
      <p:sp>
        <p:nvSpPr>
          <p:cNvPr id="51" name="TextBox 50"/>
          <p:cNvSpPr txBox="1"/>
          <p:nvPr/>
        </p:nvSpPr>
        <p:spPr>
          <a:xfrm>
            <a:off x="5989320" y="2871216"/>
            <a:ext cx="1828800" cy="320040"/>
          </a:xfrm>
          <a:prstGeom prst="rect">
            <a:avLst/>
          </a:prstGeom>
          <a:noFill/>
        </p:spPr>
        <p:txBody>
          <a:bodyPr wrap="square">
            <a:spAutoFit/>
          </a:bodyPr>
          <a:lstStyle/>
          <a:p>
            <a:pPr algn="l">
              <a:spcAft>
                <a:spcPts val="0"/>
              </a:spcAft>
              <a:defRPr sz="1000" b="0" i="0">
                <a:solidFill>
                  <a:srgbClr val="2C3E50"/>
                </a:solidFill>
                <a:latin typeface="Calibri"/>
              </a:defRPr>
            </a:pPr>
            <a:r>
              <a:t>Fossil fuel types</a:t>
            </a:r>
          </a:p>
        </p:txBody>
      </p:sp>
      <p:sp>
        <p:nvSpPr>
          <p:cNvPr id="52" name="TextBox 51"/>
          <p:cNvSpPr txBox="1"/>
          <p:nvPr/>
        </p:nvSpPr>
        <p:spPr>
          <a:xfrm>
            <a:off x="7863840" y="2871216"/>
            <a:ext cx="731520" cy="320040"/>
          </a:xfrm>
          <a:prstGeom prst="rect">
            <a:avLst/>
          </a:prstGeom>
          <a:noFill/>
        </p:spPr>
        <p:txBody>
          <a:bodyPr wrap="square">
            <a:spAutoFit/>
          </a:bodyPr>
          <a:lstStyle/>
          <a:p>
            <a:pPr algn="r">
              <a:spcAft>
                <a:spcPts val="0"/>
              </a:spcAft>
              <a:defRPr sz="1000" b="1" i="0">
                <a:solidFill>
                  <a:srgbClr val="2F80ED"/>
                </a:solidFill>
                <a:latin typeface="Calibri"/>
              </a:defRPr>
            </a:pPr>
            <a:r>
              <a:t>3</a:t>
            </a:r>
          </a:p>
        </p:txBody>
      </p:sp>
      <p:sp>
        <p:nvSpPr>
          <p:cNvPr id="53" name="TextBox 52"/>
          <p:cNvSpPr txBox="1"/>
          <p:nvPr/>
        </p:nvSpPr>
        <p:spPr>
          <a:xfrm>
            <a:off x="5989320" y="3218688"/>
            <a:ext cx="1828800" cy="320040"/>
          </a:xfrm>
          <a:prstGeom prst="rect">
            <a:avLst/>
          </a:prstGeom>
          <a:noFill/>
        </p:spPr>
        <p:txBody>
          <a:bodyPr wrap="square">
            <a:spAutoFit/>
          </a:bodyPr>
          <a:lstStyle/>
          <a:p>
            <a:pPr algn="l">
              <a:spcAft>
                <a:spcPts val="0"/>
              </a:spcAft>
              <a:defRPr sz="1000" b="0" i="0">
                <a:solidFill>
                  <a:srgbClr val="2C3E50"/>
                </a:solidFill>
                <a:latin typeface="Calibri"/>
              </a:defRPr>
            </a:pPr>
            <a:r>
              <a:t>NC branches (claim-rights)</a:t>
            </a:r>
          </a:p>
        </p:txBody>
      </p:sp>
      <p:sp>
        <p:nvSpPr>
          <p:cNvPr id="54" name="TextBox 53"/>
          <p:cNvSpPr txBox="1"/>
          <p:nvPr/>
        </p:nvSpPr>
        <p:spPr>
          <a:xfrm>
            <a:off x="7863840" y="3218688"/>
            <a:ext cx="731520" cy="320040"/>
          </a:xfrm>
          <a:prstGeom prst="rect">
            <a:avLst/>
          </a:prstGeom>
          <a:noFill/>
        </p:spPr>
        <p:txBody>
          <a:bodyPr wrap="square">
            <a:spAutoFit/>
          </a:bodyPr>
          <a:lstStyle/>
          <a:p>
            <a:pPr algn="r">
              <a:spcAft>
                <a:spcPts val="0"/>
              </a:spcAft>
              <a:defRPr sz="1000" b="1" i="0">
                <a:solidFill>
                  <a:srgbClr val="2F80ED"/>
                </a:solidFill>
                <a:latin typeface="Calibri"/>
              </a:defRPr>
            </a:pPr>
            <a:r>
              <a:t>5</a:t>
            </a:r>
          </a:p>
        </p:txBody>
      </p:sp>
      <p:sp>
        <p:nvSpPr>
          <p:cNvPr id="55" name="TextBox 54"/>
          <p:cNvSpPr txBox="1"/>
          <p:nvPr/>
        </p:nvSpPr>
        <p:spPr>
          <a:xfrm>
            <a:off x="5989320" y="3566160"/>
            <a:ext cx="1828800" cy="320040"/>
          </a:xfrm>
          <a:prstGeom prst="rect">
            <a:avLst/>
          </a:prstGeom>
          <a:noFill/>
        </p:spPr>
        <p:txBody>
          <a:bodyPr wrap="square">
            <a:spAutoFit/>
          </a:bodyPr>
          <a:lstStyle/>
          <a:p>
            <a:pPr algn="l">
              <a:spcAft>
                <a:spcPts val="0"/>
              </a:spcAft>
              <a:defRPr sz="1000" b="0" i="0">
                <a:solidFill>
                  <a:srgbClr val="2C3E50"/>
                </a:solidFill>
                <a:latin typeface="Calibri"/>
              </a:defRPr>
            </a:pPr>
            <a:r>
              <a:t>ES items (Subst. Rights)</a:t>
            </a:r>
          </a:p>
        </p:txBody>
      </p:sp>
      <p:sp>
        <p:nvSpPr>
          <p:cNvPr id="56" name="TextBox 55"/>
          <p:cNvSpPr txBox="1"/>
          <p:nvPr/>
        </p:nvSpPr>
        <p:spPr>
          <a:xfrm>
            <a:off x="7863840" y="3566160"/>
            <a:ext cx="731520" cy="320040"/>
          </a:xfrm>
          <a:prstGeom prst="rect">
            <a:avLst/>
          </a:prstGeom>
          <a:noFill/>
        </p:spPr>
        <p:txBody>
          <a:bodyPr wrap="square">
            <a:spAutoFit/>
          </a:bodyPr>
          <a:lstStyle/>
          <a:p>
            <a:pPr algn="r">
              <a:spcAft>
                <a:spcPts val="0"/>
              </a:spcAft>
              <a:defRPr sz="1000" b="1" i="0">
                <a:solidFill>
                  <a:srgbClr val="2F80ED"/>
                </a:solidFill>
                <a:latin typeface="Calibri"/>
              </a:defRPr>
            </a:pPr>
            <a:r>
              <a:t>2</a:t>
            </a:r>
          </a:p>
        </p:txBody>
      </p:sp>
      <p:sp>
        <p:nvSpPr>
          <p:cNvPr id="57" name="TextBox 56"/>
          <p:cNvSpPr txBox="1"/>
          <p:nvPr/>
        </p:nvSpPr>
        <p:spPr>
          <a:xfrm>
            <a:off x="5989320" y="3913632"/>
            <a:ext cx="1828800" cy="320040"/>
          </a:xfrm>
          <a:prstGeom prst="rect">
            <a:avLst/>
          </a:prstGeom>
          <a:noFill/>
        </p:spPr>
        <p:txBody>
          <a:bodyPr wrap="square">
            <a:spAutoFit/>
          </a:bodyPr>
          <a:lstStyle/>
          <a:p>
            <a:pPr algn="l">
              <a:spcAft>
                <a:spcPts val="0"/>
              </a:spcAft>
              <a:defRPr sz="1000" b="0" i="0">
                <a:solidFill>
                  <a:srgbClr val="2C3E50"/>
                </a:solidFill>
                <a:latin typeface="Calibri"/>
              </a:defRPr>
            </a:pPr>
            <a:r>
              <a:t>Cross-border children</a:t>
            </a:r>
          </a:p>
        </p:txBody>
      </p:sp>
      <p:sp>
        <p:nvSpPr>
          <p:cNvPr id="58" name="TextBox 57"/>
          <p:cNvSpPr txBox="1"/>
          <p:nvPr/>
        </p:nvSpPr>
        <p:spPr>
          <a:xfrm>
            <a:off x="7863840" y="3913632"/>
            <a:ext cx="731520" cy="320040"/>
          </a:xfrm>
          <a:prstGeom prst="rect">
            <a:avLst/>
          </a:prstGeom>
          <a:noFill/>
        </p:spPr>
        <p:txBody>
          <a:bodyPr wrap="square">
            <a:spAutoFit/>
          </a:bodyPr>
          <a:lstStyle/>
          <a:p>
            <a:pPr algn="r">
              <a:spcAft>
                <a:spcPts val="0"/>
              </a:spcAft>
              <a:defRPr sz="1000" b="1" i="0">
                <a:solidFill>
                  <a:srgbClr val="2F80ED"/>
                </a:solidFill>
                <a:latin typeface="Calibri"/>
              </a:defRPr>
            </a:pPr>
            <a:r>
              <a:t>10</a:t>
            </a:r>
          </a:p>
        </p:txBody>
      </p:sp>
      <p:sp>
        <p:nvSpPr>
          <p:cNvPr id="59" name="TextBox 58"/>
          <p:cNvSpPr txBox="1"/>
          <p:nvPr/>
        </p:nvSpPr>
        <p:spPr>
          <a:xfrm>
            <a:off x="5989320" y="4261104"/>
            <a:ext cx="1828800" cy="320040"/>
          </a:xfrm>
          <a:prstGeom prst="rect">
            <a:avLst/>
          </a:prstGeom>
          <a:noFill/>
        </p:spPr>
        <p:txBody>
          <a:bodyPr wrap="square">
            <a:spAutoFit/>
          </a:bodyPr>
          <a:lstStyle/>
          <a:p>
            <a:pPr algn="l">
              <a:spcAft>
                <a:spcPts val="0"/>
              </a:spcAft>
              <a:defRPr sz="1000" b="0" i="0">
                <a:solidFill>
                  <a:srgbClr val="2C3E50"/>
                </a:solidFill>
                <a:latin typeface="Calibri"/>
              </a:defRPr>
            </a:pPr>
            <a:r>
              <a:t>Gaps (no V tab)</a:t>
            </a:r>
          </a:p>
        </p:txBody>
      </p:sp>
      <p:sp>
        <p:nvSpPr>
          <p:cNvPr id="60" name="TextBox 59"/>
          <p:cNvSpPr txBox="1"/>
          <p:nvPr/>
        </p:nvSpPr>
        <p:spPr>
          <a:xfrm>
            <a:off x="7863840" y="4261104"/>
            <a:ext cx="731520" cy="320040"/>
          </a:xfrm>
          <a:prstGeom prst="rect">
            <a:avLst/>
          </a:prstGeom>
          <a:noFill/>
        </p:spPr>
        <p:txBody>
          <a:bodyPr wrap="square">
            <a:spAutoFit/>
          </a:bodyPr>
          <a:lstStyle/>
          <a:p>
            <a:pPr algn="r">
              <a:spcAft>
                <a:spcPts val="0"/>
              </a:spcAft>
              <a:defRPr sz="1000" b="1" i="0">
                <a:solidFill>
                  <a:srgbClr val="2F80ED"/>
                </a:solidFill>
                <a:latin typeface="Calibri"/>
              </a:defRPr>
            </a:pPr>
            <a:r>
              <a:t>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640080"/>
          </a:xfrm>
          <a:prstGeom prst="rect">
            <a:avLst/>
          </a:prstGeom>
          <a:noFill/>
        </p:spPr>
        <p:txBody>
          <a:bodyPr wrap="square">
            <a:spAutoFit/>
          </a:bodyPr>
          <a:lstStyle/>
          <a:p>
            <a:pPr algn="l">
              <a:spcAft>
                <a:spcPts val="0"/>
              </a:spcAft>
              <a:defRPr sz="2800" b="1" i="0">
                <a:solidFill>
                  <a:srgbClr val="1E2761"/>
                </a:solidFill>
                <a:latin typeface="Georgia"/>
              </a:defRPr>
            </a:pPr>
            <a:r>
              <a:t>Natural Capital: Three-Halo Valuation</a:t>
            </a:r>
          </a:p>
        </p:txBody>
      </p:sp>
      <p:sp>
        <p:nvSpPr>
          <p:cNvPr id="3" name="Rectangle 2"/>
          <p:cNvSpPr/>
          <p:nvPr/>
        </p:nvSpPr>
        <p:spPr>
          <a:xfrm>
            <a:off x="457200" y="1097280"/>
            <a:ext cx="2743200" cy="25603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097280"/>
            <a:ext cx="2743200" cy="54864"/>
          </a:xfrm>
          <a:prstGeom prst="rect">
            <a:avLst/>
          </a:prstGeom>
          <a:solidFill>
            <a:srgbClr val="2F8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8016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Halo 1: V = P × Q</a:t>
            </a:r>
          </a:p>
        </p:txBody>
      </p:sp>
      <p:sp>
        <p:nvSpPr>
          <p:cNvPr id="6" name="TextBox 5"/>
          <p:cNvSpPr txBox="1"/>
          <p:nvPr/>
        </p:nvSpPr>
        <p:spPr>
          <a:xfrm>
            <a:off x="640080" y="1828800"/>
            <a:ext cx="2377440" cy="1645920"/>
          </a:xfrm>
          <a:prstGeom prst="rect">
            <a:avLst/>
          </a:prstGeom>
          <a:noFill/>
        </p:spPr>
        <p:txBody>
          <a:bodyPr wrap="square">
            <a:spAutoFit/>
          </a:bodyPr>
          <a:lstStyle/>
          <a:p>
            <a:pPr algn="l">
              <a:spcAft>
                <a:spcPts val="0"/>
              </a:spcAft>
              <a:defRPr sz="1200" b="0" i="0">
                <a:solidFill>
                  <a:srgbClr val="2C3E50"/>
                </a:solidFill>
                <a:latin typeface="Calibri"/>
              </a:defRPr>
            </a:pPr>
            <a:r>
              <a:t>Flow valuation.</a:t>
            </a:r>
            <a:br/>
            <a:r>
              <a:t>Price × Quantity.</a:t>
            </a:r>
            <a:br/>
            <a:r>
              <a:t>What was extracted</a:t>
            </a:r>
            <a:br/>
            <a:r>
              <a:t>this year.</a:t>
            </a:r>
          </a:p>
        </p:txBody>
      </p:sp>
      <p:sp>
        <p:nvSpPr>
          <p:cNvPr id="7" name="Rectangle 6"/>
          <p:cNvSpPr/>
          <p:nvPr/>
        </p:nvSpPr>
        <p:spPr>
          <a:xfrm>
            <a:off x="3337560" y="1097280"/>
            <a:ext cx="2743200" cy="25603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337560" y="1097280"/>
            <a:ext cx="274320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37560" y="128016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Halo 2: V = P × R</a:t>
            </a:r>
          </a:p>
        </p:txBody>
      </p:sp>
      <p:sp>
        <p:nvSpPr>
          <p:cNvPr id="10" name="TextBox 9"/>
          <p:cNvSpPr txBox="1"/>
          <p:nvPr/>
        </p:nvSpPr>
        <p:spPr>
          <a:xfrm>
            <a:off x="3520440" y="1828800"/>
            <a:ext cx="2377440" cy="1645920"/>
          </a:xfrm>
          <a:prstGeom prst="rect">
            <a:avLst/>
          </a:prstGeom>
          <a:noFill/>
        </p:spPr>
        <p:txBody>
          <a:bodyPr wrap="square">
            <a:spAutoFit/>
          </a:bodyPr>
          <a:lstStyle/>
          <a:p>
            <a:pPr algn="l">
              <a:spcAft>
                <a:spcPts val="0"/>
              </a:spcAft>
              <a:defRPr sz="1200" b="0" i="0">
                <a:solidFill>
                  <a:srgbClr val="2C3E50"/>
                </a:solidFill>
                <a:latin typeface="Calibri"/>
              </a:defRPr>
            </a:pPr>
            <a:r>
              <a:t>Stock valuation.</a:t>
            </a:r>
            <a:br/>
            <a:r>
              <a:t>Price × Reserves.</a:t>
            </a:r>
            <a:br/>
            <a:r>
              <a:t>What remains in</a:t>
            </a:r>
            <a:br/>
            <a:r>
              <a:t>the ground.</a:t>
            </a:r>
          </a:p>
        </p:txBody>
      </p:sp>
      <p:sp>
        <p:nvSpPr>
          <p:cNvPr id="11" name="Rectangle 10"/>
          <p:cNvSpPr/>
          <p:nvPr/>
        </p:nvSpPr>
        <p:spPr>
          <a:xfrm>
            <a:off x="6217920" y="1097280"/>
            <a:ext cx="2743200" cy="256032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097280"/>
            <a:ext cx="2743200" cy="54864"/>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1280160"/>
            <a:ext cx="2743200" cy="457200"/>
          </a:xfrm>
          <a:prstGeom prst="rect">
            <a:avLst/>
          </a:prstGeom>
          <a:noFill/>
        </p:spPr>
        <p:txBody>
          <a:bodyPr wrap="square">
            <a:spAutoFit/>
          </a:bodyPr>
          <a:lstStyle/>
          <a:p>
            <a:pPr algn="ctr">
              <a:spcAft>
                <a:spcPts val="0"/>
              </a:spcAft>
              <a:defRPr sz="1500" b="1" i="0">
                <a:solidFill>
                  <a:srgbClr val="1E2761"/>
                </a:solidFill>
                <a:latin typeface="Georgia"/>
              </a:defRPr>
            </a:pPr>
            <a:r>
              <a:t>Halo 3: Severance</a:t>
            </a:r>
          </a:p>
        </p:txBody>
      </p:sp>
      <p:sp>
        <p:nvSpPr>
          <p:cNvPr id="14" name="TextBox 13"/>
          <p:cNvSpPr txBox="1"/>
          <p:nvPr/>
        </p:nvSpPr>
        <p:spPr>
          <a:xfrm>
            <a:off x="6400800" y="1828800"/>
            <a:ext cx="2377440" cy="1645920"/>
          </a:xfrm>
          <a:prstGeom prst="rect">
            <a:avLst/>
          </a:prstGeom>
          <a:noFill/>
        </p:spPr>
        <p:txBody>
          <a:bodyPr wrap="square">
            <a:spAutoFit/>
          </a:bodyPr>
          <a:lstStyle/>
          <a:p>
            <a:pPr algn="l">
              <a:spcAft>
                <a:spcPts val="0"/>
              </a:spcAft>
              <a:defRPr sz="1200" b="0" i="0">
                <a:solidFill>
                  <a:srgbClr val="2C3E50"/>
                </a:solidFill>
                <a:latin typeface="Calibri"/>
              </a:defRPr>
            </a:pPr>
            <a:r>
              <a:t>10% of V(R).</a:t>
            </a:r>
            <a:br/>
            <a:r>
              <a:t>Sovereign rent</a:t>
            </a:r>
            <a:br/>
            <a:r>
              <a:t>placeholder.</a:t>
            </a:r>
            <a:br/>
            <a:r>
              <a:t>Calibrated: V(sev)/</a:t>
            </a:r>
            <a:br/>
            <a:r>
              <a:t>CWoN ≈ 1.0 for oil.</a:t>
            </a:r>
          </a:p>
        </p:txBody>
      </p:sp>
      <p:sp>
        <p:nvSpPr>
          <p:cNvPr id="15" name="TextBox 14"/>
          <p:cNvSpPr txBox="1"/>
          <p:nvPr/>
        </p:nvSpPr>
        <p:spPr>
          <a:xfrm>
            <a:off x="731520" y="3931920"/>
            <a:ext cx="7680960" cy="457200"/>
          </a:xfrm>
          <a:prstGeom prst="rect">
            <a:avLst/>
          </a:prstGeom>
          <a:noFill/>
        </p:spPr>
        <p:txBody>
          <a:bodyPr wrap="square">
            <a:spAutoFit/>
          </a:bodyPr>
          <a:lstStyle/>
          <a:p>
            <a:pPr algn="l">
              <a:spcAft>
                <a:spcPts val="0"/>
              </a:spcAft>
              <a:defRPr sz="1200" b="0" i="1">
                <a:solidFill>
                  <a:srgbClr val="8E99A4"/>
                </a:solidFill>
                <a:latin typeface="Calibri"/>
              </a:defRPr>
            </a:pPr>
            <a:r>
              <a:t>CWoN rent-capitalization is a 4th halo — cross-validation only, never production input.</a:t>
            </a:r>
          </a:p>
        </p:txBody>
      </p:sp>
      <p:sp>
        <p:nvSpPr>
          <p:cNvPr id="16" name="TextBox 15"/>
          <p:cNvSpPr txBox="1"/>
          <p:nvPr/>
        </p:nvSpPr>
        <p:spPr>
          <a:xfrm>
            <a:off x="731520" y="4297680"/>
            <a:ext cx="7680960" cy="365760"/>
          </a:xfrm>
          <a:prstGeom prst="rect">
            <a:avLst/>
          </a:prstGeom>
          <a:noFill/>
        </p:spPr>
        <p:txBody>
          <a:bodyPr wrap="square">
            <a:spAutoFit/>
          </a:bodyPr>
          <a:lstStyle/>
          <a:p>
            <a:pPr algn="l">
              <a:spcAft>
                <a:spcPts val="0"/>
              </a:spcAft>
              <a:defRPr sz="1100" b="0" i="0">
                <a:solidFill>
                  <a:srgbClr val="2C3E50"/>
                </a:solidFill>
                <a:latin typeface="Calibri"/>
              </a:defRPr>
            </a:pPr>
            <a:r>
              <a:t>NC comprises 5 branches: Fossil Fuels, Minerals, Agricultural Land, Forest Timber, Fisheries.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640080"/>
          </a:xfrm>
          <a:prstGeom prst="rect">
            <a:avLst/>
          </a:prstGeom>
          <a:noFill/>
        </p:spPr>
        <p:txBody>
          <a:bodyPr wrap="square">
            <a:spAutoFit/>
          </a:bodyPr>
          <a:lstStyle/>
          <a:p>
            <a:pPr algn="l">
              <a:spcAft>
                <a:spcPts val="0"/>
              </a:spcAft>
              <a:defRPr sz="2800" b="1" i="0">
                <a:solidFill>
                  <a:srgbClr val="FFFFFF"/>
                </a:solidFill>
                <a:latin typeface="Georgia"/>
              </a:defRPr>
            </a:pPr>
            <a:r>
              <a:t>SR and DM: The Policy Signal</a:t>
            </a:r>
          </a:p>
        </p:txBody>
      </p:sp>
      <p:sp>
        <p:nvSpPr>
          <p:cNvPr id="3" name="Rectangle 2"/>
          <p:cNvSpPr/>
          <p:nvPr/>
        </p:nvSpPr>
        <p:spPr>
          <a:xfrm>
            <a:off x="457200" y="1097280"/>
            <a:ext cx="3931920" cy="329184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3566160" cy="457200"/>
          </a:xfrm>
          <a:prstGeom prst="rect">
            <a:avLst/>
          </a:prstGeom>
          <a:noFill/>
        </p:spPr>
        <p:txBody>
          <a:bodyPr wrap="square">
            <a:spAutoFit/>
          </a:bodyPr>
          <a:lstStyle/>
          <a:p>
            <a:pPr algn="l">
              <a:spcAft>
                <a:spcPts val="0"/>
              </a:spcAft>
              <a:defRPr sz="1600" b="1" i="0">
                <a:solidFill>
                  <a:srgbClr val="F5A623"/>
                </a:solidFill>
                <a:latin typeface="Georgia"/>
              </a:defRPr>
            </a:pPr>
            <a:r>
              <a:t>SR: Other Substantive Rights</a:t>
            </a:r>
          </a:p>
        </p:txBody>
      </p:sp>
      <p:sp>
        <p:nvSpPr>
          <p:cNvPr id="5" name="TextBox 4"/>
          <p:cNvSpPr txBox="1"/>
          <p:nvPr/>
        </p:nvSpPr>
        <p:spPr>
          <a:xfrm>
            <a:off x="640080" y="1691640"/>
            <a:ext cx="3566160" cy="365760"/>
          </a:xfrm>
          <a:prstGeom prst="rect">
            <a:avLst/>
          </a:prstGeom>
          <a:noFill/>
        </p:spPr>
        <p:txBody>
          <a:bodyPr wrap="square">
            <a:spAutoFit/>
          </a:bodyPr>
          <a:lstStyle/>
          <a:p>
            <a:pPr algn="l">
              <a:spcAft>
                <a:spcPts val="0"/>
              </a:spcAft>
              <a:defRPr sz="1400" b="0" i="0">
                <a:solidFill>
                  <a:srgbClr val="CADCFC"/>
                </a:solidFill>
                <a:latin typeface="Consolas"/>
              </a:defRPr>
            </a:pPr>
            <a:r>
              <a:t>SR = max(SI, 0.20 × CW)</a:t>
            </a:r>
          </a:p>
        </p:txBody>
      </p:sp>
      <p:sp>
        <p:nvSpPr>
          <p:cNvPr id="6" name="TextBox 5"/>
          <p:cNvSpPr txBox="1"/>
          <p:nvPr/>
        </p:nvSpPr>
        <p:spPr>
          <a:xfrm>
            <a:off x="640080" y="2148840"/>
            <a:ext cx="3566160" cy="2103120"/>
          </a:xfrm>
          <a:prstGeom prst="rect">
            <a:avLst/>
          </a:prstGeom>
          <a:noFill/>
        </p:spPr>
        <p:txBody>
          <a:bodyPr wrap="square">
            <a:spAutoFit/>
          </a:bodyPr>
          <a:lstStyle/>
          <a:p>
            <a:pPr algn="l">
              <a:spcAft>
                <a:spcPts val="800"/>
              </a:spcAft>
              <a:defRPr sz="1100" b="1" i="0">
                <a:solidFill>
                  <a:srgbClr val="CADCFC"/>
                </a:solidFill>
                <a:latin typeface="Calibri"/>
              </a:defRPr>
            </a:pPr>
            <a:r>
              <a:t>The balance-sheet TFP analogue.</a:t>
            </a:r>
          </a:p>
          <a:p>
            <a:pPr algn="l">
              <a:spcAft>
                <a:spcPts val="800"/>
              </a:spcAft>
              <a:defRPr sz="1100" b="0" i="0">
                <a:solidFill>
                  <a:srgbClr val="CADCFC"/>
                </a:solidFill>
                <a:latin typeface="Calibri"/>
              </a:defRPr>
            </a:pPr>
            <a:r>
              <a:t>Every society has positive institutional capital, even when SI is negative. The 20% floor is a structural prior.</a:t>
            </a:r>
          </a:p>
          <a:p>
            <a:pPr algn="l">
              <a:spcAft>
                <a:spcPts val="800"/>
              </a:spcAft>
              <a:defRPr sz="1100" b="0" i="0">
                <a:solidFill>
                  <a:srgbClr val="CADCFC"/>
                </a:solidFill>
                <a:latin typeface="Calibri"/>
              </a:defRPr>
            </a:pPr>
            <a:r>
              <a:t>Children: 'Free' services of nature (ES: mangroves, hydropower) + 'Free' trust infrastructure.</a:t>
            </a:r>
          </a:p>
        </p:txBody>
      </p:sp>
      <p:sp>
        <p:nvSpPr>
          <p:cNvPr id="7" name="Rectangle 6"/>
          <p:cNvSpPr/>
          <p:nvPr/>
        </p:nvSpPr>
        <p:spPr>
          <a:xfrm>
            <a:off x="4754880" y="1097280"/>
            <a:ext cx="3931920" cy="3291840"/>
          </a:xfrm>
          <a:prstGeom prst="rect">
            <a:avLst/>
          </a:prstGeom>
          <a:solidFill>
            <a:srgbClr val="14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1188720"/>
            <a:ext cx="3566160" cy="457200"/>
          </a:xfrm>
          <a:prstGeom prst="rect">
            <a:avLst/>
          </a:prstGeom>
          <a:noFill/>
        </p:spPr>
        <p:txBody>
          <a:bodyPr wrap="square">
            <a:spAutoFit/>
          </a:bodyPr>
          <a:lstStyle/>
          <a:p>
            <a:pPr algn="l">
              <a:spcAft>
                <a:spcPts val="0"/>
              </a:spcAft>
              <a:defRPr sz="1600" b="1" i="0">
                <a:solidFill>
                  <a:srgbClr val="E74C3C"/>
                </a:solidFill>
                <a:latin typeface="Georgia"/>
              </a:defRPr>
            </a:pPr>
            <a:r>
              <a:t>DM: Deferred Maintenance</a:t>
            </a:r>
          </a:p>
        </p:txBody>
      </p:sp>
      <p:sp>
        <p:nvSpPr>
          <p:cNvPr id="9" name="TextBox 8"/>
          <p:cNvSpPr txBox="1"/>
          <p:nvPr/>
        </p:nvSpPr>
        <p:spPr>
          <a:xfrm>
            <a:off x="4937760" y="1691640"/>
            <a:ext cx="3566160" cy="365760"/>
          </a:xfrm>
          <a:prstGeom prst="rect">
            <a:avLst/>
          </a:prstGeom>
          <a:noFill/>
        </p:spPr>
        <p:txBody>
          <a:bodyPr wrap="square">
            <a:spAutoFit/>
          </a:bodyPr>
          <a:lstStyle/>
          <a:p>
            <a:pPr algn="l">
              <a:spcAft>
                <a:spcPts val="0"/>
              </a:spcAft>
              <a:defRPr sz="1400" b="0" i="0">
                <a:solidFill>
                  <a:srgbClr val="CADCFC"/>
                </a:solidFill>
                <a:latin typeface="Consolas"/>
              </a:defRPr>
            </a:pPr>
            <a:r>
              <a:t>DM = max(0, 0.20×CW − SI)</a:t>
            </a:r>
          </a:p>
        </p:txBody>
      </p:sp>
      <p:sp>
        <p:nvSpPr>
          <p:cNvPr id="10" name="TextBox 9"/>
          <p:cNvSpPr txBox="1"/>
          <p:nvPr/>
        </p:nvSpPr>
        <p:spPr>
          <a:xfrm>
            <a:off x="4937760" y="2148840"/>
            <a:ext cx="3566160" cy="2103120"/>
          </a:xfrm>
          <a:prstGeom prst="rect">
            <a:avLst/>
          </a:prstGeom>
          <a:noFill/>
        </p:spPr>
        <p:txBody>
          <a:bodyPr wrap="square">
            <a:spAutoFit/>
          </a:bodyPr>
          <a:lstStyle/>
          <a:p>
            <a:pPr algn="l">
              <a:spcAft>
                <a:spcPts val="800"/>
              </a:spcAft>
              <a:defRPr sz="1100" b="1" i="0">
                <a:solidFill>
                  <a:srgbClr val="CADCFC"/>
                </a:solidFill>
                <a:latin typeface="Calibri"/>
              </a:defRPr>
            </a:pPr>
            <a:r>
              <a:t>The trust-infrastructure deficit.</a:t>
            </a:r>
          </a:p>
          <a:p>
            <a:pPr algn="l">
              <a:spcAft>
                <a:spcPts val="800"/>
              </a:spcAft>
              <a:defRPr sz="1100" b="0" i="0">
                <a:solidFill>
                  <a:srgbClr val="CADCFC"/>
                </a:solidFill>
                <a:latin typeface="Calibri"/>
              </a:defRPr>
            </a:pPr>
            <a:r>
              <a:t>96 of 194 countries floor-binding in 2020. DM converts to a risk premium: the gap between what markets can collateralize and what income implies.</a:t>
            </a:r>
          </a:p>
          <a:p>
            <a:pPr algn="l">
              <a:spcAft>
                <a:spcPts val="800"/>
              </a:spcAft>
              <a:defRPr sz="1100" b="0" i="0">
                <a:solidFill>
                  <a:srgbClr val="CADCFC"/>
                </a:solidFill>
                <a:latin typeface="Calibri"/>
              </a:defRPr>
            </a:pPr>
            <a:r>
              <a:t>Policy: invest in how people collaborate and compete (reduce DM) before buying more PA.</a:t>
            </a:r>
          </a:p>
        </p:txBody>
      </p:sp>
      <p:sp>
        <p:nvSpPr>
          <p:cNvPr id="11" name="TextBox 10"/>
          <p:cNvSpPr txBox="1"/>
          <p:nvPr/>
        </p:nvSpPr>
        <p:spPr>
          <a:xfrm>
            <a:off x="457200" y="4663440"/>
            <a:ext cx="8229600" cy="365760"/>
          </a:xfrm>
          <a:prstGeom prst="rect">
            <a:avLst/>
          </a:prstGeom>
          <a:noFill/>
        </p:spPr>
        <p:txBody>
          <a:bodyPr wrap="square">
            <a:spAutoFit/>
          </a:bodyPr>
          <a:lstStyle/>
          <a:p>
            <a:pPr algn="l">
              <a:spcAft>
                <a:spcPts val="0"/>
              </a:spcAft>
              <a:defRPr sz="900" b="0" i="1">
                <a:solidFill>
                  <a:srgbClr val="8E99A4"/>
                </a:solidFill>
                <a:latin typeface="Calibri"/>
              </a:defRPr>
            </a:pPr>
            <a:r>
              <a:t>SI = SR − DM always holds. CW = PA + NC + RW unchanged. 98 countries where SI ≥ 0.20×CW have DM = 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640080"/>
          </a:xfrm>
          <a:prstGeom prst="rect">
            <a:avLst/>
          </a:prstGeom>
          <a:noFill/>
        </p:spPr>
        <p:txBody>
          <a:bodyPr wrap="square">
            <a:spAutoFit/>
          </a:bodyPr>
          <a:lstStyle/>
          <a:p>
            <a:pPr algn="l">
              <a:spcAft>
                <a:spcPts val="0"/>
              </a:spcAft>
              <a:defRPr sz="2800" b="1" i="0">
                <a:solidFill>
                  <a:srgbClr val="1E2761"/>
                </a:solidFill>
                <a:latin typeface="Georgia"/>
              </a:defRPr>
            </a:pPr>
            <a:r>
              <a:t>Cross-Border: Per-Side Architecture</a:t>
            </a:r>
          </a:p>
        </p:txBody>
      </p:sp>
      <p:sp>
        <p:nvSpPr>
          <p:cNvPr id="3" name="TextBox 2"/>
          <p:cNvSpPr txBox="1"/>
          <p:nvPr/>
        </p:nvSpPr>
        <p:spPr>
          <a:xfrm>
            <a:off x="731520" y="914400"/>
            <a:ext cx="7680960" cy="457200"/>
          </a:xfrm>
          <a:prstGeom prst="rect">
            <a:avLst/>
          </a:prstGeom>
          <a:noFill/>
        </p:spPr>
        <p:txBody>
          <a:bodyPr wrap="square">
            <a:spAutoFit/>
          </a:bodyPr>
          <a:lstStyle/>
          <a:p>
            <a:pPr algn="l">
              <a:spcAft>
                <a:spcPts val="0"/>
              </a:spcAft>
              <a:defRPr sz="2000" b="1" i="0">
                <a:solidFill>
                  <a:srgbClr val="2F80ED"/>
                </a:solidFill>
                <a:latin typeface="Consolas"/>
              </a:defRPr>
            </a:pPr>
            <a:r>
              <a:t>NW = CW + CBA − CBL</a:t>
            </a:r>
          </a:p>
        </p:txBody>
      </p:sp>
      <p:sp>
        <p:nvSpPr>
          <p:cNvPr id="4" name="TextBox 3"/>
          <p:cNvSpPr txBox="1"/>
          <p:nvPr/>
        </p:nvSpPr>
        <p:spPr>
          <a:xfrm>
            <a:off x="731520" y="1371600"/>
            <a:ext cx="7680960" cy="365760"/>
          </a:xfrm>
          <a:prstGeom prst="rect">
            <a:avLst/>
          </a:prstGeom>
          <a:noFill/>
        </p:spPr>
        <p:txBody>
          <a:bodyPr wrap="square">
            <a:spAutoFit/>
          </a:bodyPr>
          <a:lstStyle/>
          <a:p>
            <a:pPr algn="l">
              <a:spcAft>
                <a:spcPts val="0"/>
              </a:spcAft>
              <a:defRPr sz="1300" b="0" i="0">
                <a:solidFill>
                  <a:srgbClr val="2C3E50"/>
                </a:solidFill>
                <a:latin typeface="Calibri"/>
              </a:defRPr>
            </a:pPr>
            <a:r>
              <a:t>Two independent directly-observed stocks. No NIIP identity enforced.</a:t>
            </a:r>
          </a:p>
        </p:txBody>
      </p:sp>
      <p:sp>
        <p:nvSpPr>
          <p:cNvPr id="5" name="Rectangle 4"/>
          <p:cNvSpPr/>
          <p:nvPr/>
        </p:nvSpPr>
        <p:spPr>
          <a:xfrm>
            <a:off x="457200" y="1920240"/>
            <a:ext cx="4114800" cy="27432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920240"/>
            <a:ext cx="4114800" cy="54864"/>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2057400"/>
            <a:ext cx="3840480" cy="411480"/>
          </a:xfrm>
          <a:prstGeom prst="rect">
            <a:avLst/>
          </a:prstGeom>
          <a:noFill/>
        </p:spPr>
        <p:txBody>
          <a:bodyPr wrap="square">
            <a:spAutoFit/>
          </a:bodyPr>
          <a:lstStyle/>
          <a:p>
            <a:pPr algn="l">
              <a:spcAft>
                <a:spcPts val="0"/>
              </a:spcAft>
              <a:defRPr sz="1300" b="1" i="0">
                <a:solidFill>
                  <a:srgbClr val="1E2761"/>
                </a:solidFill>
                <a:latin typeface="Georgia"/>
              </a:defRPr>
            </a:pPr>
            <a:r>
              <a:t>1.1.1.4  Gross Foreign Assets</a:t>
            </a:r>
          </a:p>
        </p:txBody>
      </p:sp>
      <p:sp>
        <p:nvSpPr>
          <p:cNvPr id="8" name="TextBox 7"/>
          <p:cNvSpPr txBox="1"/>
          <p:nvPr/>
        </p:nvSpPr>
        <p:spPr>
          <a:xfrm>
            <a:off x="594360" y="2514600"/>
            <a:ext cx="3840480" cy="2011680"/>
          </a:xfrm>
          <a:prstGeom prst="rect">
            <a:avLst/>
          </a:prstGeom>
          <a:noFill/>
        </p:spPr>
        <p:txBody>
          <a:bodyPr wrap="square">
            <a:spAutoFit/>
          </a:bodyPr>
          <a:lstStyle/>
          <a:p>
            <a:pPr algn="l">
              <a:spcAft>
                <a:spcPts val="600"/>
              </a:spcAft>
              <a:defRPr sz="1100" b="0" i="0">
                <a:solidFill>
                  <a:srgbClr val="2C3E50"/>
                </a:solidFill>
                <a:latin typeface="Calibri"/>
              </a:defRPr>
            </a:pPr>
            <a:r>
              <a:t>•  Via-DFS (CBS+ODCS, depository)</a:t>
            </a:r>
          </a:p>
          <a:p>
            <a:pPr algn="l">
              <a:spcAft>
                <a:spcPts val="600"/>
              </a:spcAft>
              <a:defRPr sz="1100" b="0" i="0">
                <a:solidFill>
                  <a:srgbClr val="2C3E50"/>
                </a:solidFill>
                <a:latin typeface="Calibri"/>
              </a:defRPr>
            </a:pPr>
            <a:r>
              <a:t>•  Sovereign Direct Credit</a:t>
            </a:r>
          </a:p>
          <a:p>
            <a:pPr algn="l">
              <a:spcAft>
                <a:spcPts val="600"/>
              </a:spcAft>
              <a:defRPr sz="1100" b="0" i="0">
                <a:solidFill>
                  <a:srgbClr val="2C3E50"/>
                </a:solidFill>
                <a:latin typeface="Calibri"/>
              </a:defRPr>
            </a:pPr>
            <a:r>
              <a:t>•  Nonbank-Banks (BIS LBS)</a:t>
            </a:r>
          </a:p>
          <a:p>
            <a:pPr algn="l">
              <a:spcAft>
                <a:spcPts val="600"/>
              </a:spcAft>
              <a:defRPr sz="1100" b="0" i="0">
                <a:solidFill>
                  <a:srgbClr val="2C3E50"/>
                </a:solidFill>
                <a:latin typeface="Calibri"/>
              </a:defRPr>
            </a:pPr>
            <a:r>
              <a:t>•  FDI Global (IIP DI parent)</a:t>
            </a:r>
          </a:p>
          <a:p>
            <a:pPr algn="l">
              <a:spcAft>
                <a:spcPts val="600"/>
              </a:spcAft>
              <a:defRPr sz="1100" b="0" i="0">
                <a:solidFill>
                  <a:srgbClr val="2C3E50"/>
                </a:solidFill>
                <a:latin typeface="Calibri"/>
              </a:defRPr>
            </a:pPr>
            <a:r>
              <a:t>•  All-Other (residual)</a:t>
            </a:r>
          </a:p>
        </p:txBody>
      </p:sp>
      <p:sp>
        <p:nvSpPr>
          <p:cNvPr id="9" name="Rectangle 8"/>
          <p:cNvSpPr/>
          <p:nvPr/>
        </p:nvSpPr>
        <p:spPr>
          <a:xfrm>
            <a:off x="4846320" y="1920240"/>
            <a:ext cx="4114800" cy="27432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846320" y="1920240"/>
            <a:ext cx="4114800" cy="54864"/>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983480" y="2057400"/>
            <a:ext cx="3840480" cy="411480"/>
          </a:xfrm>
          <a:prstGeom prst="rect">
            <a:avLst/>
          </a:prstGeom>
          <a:noFill/>
        </p:spPr>
        <p:txBody>
          <a:bodyPr wrap="square">
            <a:spAutoFit/>
          </a:bodyPr>
          <a:lstStyle/>
          <a:p>
            <a:pPr algn="l">
              <a:spcAft>
                <a:spcPts val="0"/>
              </a:spcAft>
              <a:defRPr sz="1300" b="1" i="0">
                <a:solidFill>
                  <a:srgbClr val="1E2761"/>
                </a:solidFill>
                <a:latin typeface="Georgia"/>
              </a:defRPr>
            </a:pPr>
            <a:r>
              <a:t>1.2.3  Gross Foreign Liabilities</a:t>
            </a:r>
          </a:p>
        </p:txBody>
      </p:sp>
      <p:sp>
        <p:nvSpPr>
          <p:cNvPr id="12" name="TextBox 11"/>
          <p:cNvSpPr txBox="1"/>
          <p:nvPr/>
        </p:nvSpPr>
        <p:spPr>
          <a:xfrm>
            <a:off x="4983480" y="2514600"/>
            <a:ext cx="3840480" cy="2011680"/>
          </a:xfrm>
          <a:prstGeom prst="rect">
            <a:avLst/>
          </a:prstGeom>
          <a:noFill/>
        </p:spPr>
        <p:txBody>
          <a:bodyPr wrap="square">
            <a:spAutoFit/>
          </a:bodyPr>
          <a:lstStyle/>
          <a:p>
            <a:pPr algn="l">
              <a:spcAft>
                <a:spcPts val="600"/>
              </a:spcAft>
              <a:defRPr sz="1100" b="0" i="0">
                <a:solidFill>
                  <a:srgbClr val="2C3E50"/>
                </a:solidFill>
                <a:latin typeface="Calibri"/>
              </a:defRPr>
            </a:pPr>
            <a:r>
              <a:t>•  Via-DFS (depository liabilities)</a:t>
            </a:r>
          </a:p>
          <a:p>
            <a:pPr algn="l">
              <a:spcAft>
                <a:spcPts val="600"/>
              </a:spcAft>
              <a:defRPr sz="1100" b="0" i="0">
                <a:solidFill>
                  <a:srgbClr val="2C3E50"/>
                </a:solidFill>
                <a:latin typeface="Calibri"/>
              </a:defRPr>
            </a:pPr>
            <a:r>
              <a:t>•  Sovereign Debt (non-trad. holders)</a:t>
            </a:r>
          </a:p>
          <a:p>
            <a:pPr algn="l">
              <a:spcAft>
                <a:spcPts val="600"/>
              </a:spcAft>
              <a:defRPr sz="1100" b="0" i="0">
                <a:solidFill>
                  <a:srgbClr val="2C3E50"/>
                </a:solidFill>
                <a:latin typeface="Calibri"/>
              </a:defRPr>
            </a:pPr>
            <a:r>
              <a:t>•  Nonbank-Banks (BIS LBS)</a:t>
            </a:r>
          </a:p>
          <a:p>
            <a:pPr algn="l">
              <a:spcAft>
                <a:spcPts val="600"/>
              </a:spcAft>
              <a:defRPr sz="1100" b="0" i="0">
                <a:solidFill>
                  <a:srgbClr val="2C3E50"/>
                </a:solidFill>
                <a:latin typeface="Calibri"/>
              </a:defRPr>
            </a:pPr>
            <a:r>
              <a:t>•  Inward FDI (IIP DI parent)</a:t>
            </a:r>
          </a:p>
          <a:p>
            <a:pPr algn="l">
              <a:spcAft>
                <a:spcPts val="600"/>
              </a:spcAft>
              <a:defRPr sz="1100" b="0" i="0">
                <a:solidFill>
                  <a:srgbClr val="2C3E50"/>
                </a:solidFill>
                <a:latin typeface="Calibri"/>
              </a:defRPr>
            </a:pPr>
            <a:r>
              <a:t>•  All-Other (residual)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2F5"/>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7680960" cy="640080"/>
          </a:xfrm>
          <a:prstGeom prst="rect">
            <a:avLst/>
          </a:prstGeom>
          <a:noFill/>
        </p:spPr>
        <p:txBody>
          <a:bodyPr wrap="square">
            <a:spAutoFit/>
          </a:bodyPr>
          <a:lstStyle/>
          <a:p>
            <a:pPr algn="l">
              <a:spcAft>
                <a:spcPts val="0"/>
              </a:spcAft>
              <a:defRPr sz="2800" b="1" i="0">
                <a:solidFill>
                  <a:srgbClr val="1E2761"/>
                </a:solidFill>
                <a:latin typeface="Georgia"/>
              </a:defRPr>
            </a:pPr>
            <a:r>
              <a:t>Concordance Layer</a:t>
            </a:r>
          </a:p>
        </p:txBody>
      </p:sp>
      <p:sp>
        <p:nvSpPr>
          <p:cNvPr id="3" name="TextBox 2"/>
          <p:cNvSpPr txBox="1"/>
          <p:nvPr/>
        </p:nvSpPr>
        <p:spPr>
          <a:xfrm>
            <a:off x="731520" y="1005840"/>
            <a:ext cx="7680960" cy="640080"/>
          </a:xfrm>
          <a:prstGeom prst="rect">
            <a:avLst/>
          </a:prstGeom>
          <a:noFill/>
        </p:spPr>
        <p:txBody>
          <a:bodyPr wrap="square">
            <a:spAutoFit/>
          </a:bodyPr>
          <a:lstStyle/>
          <a:p>
            <a:pPr algn="l">
              <a:spcAft>
                <a:spcPts val="0"/>
              </a:spcAft>
              <a:defRPr sz="1300" b="0" i="0">
                <a:solidFill>
                  <a:srgbClr val="2C3E50"/>
                </a:solidFill>
                <a:latin typeface="Calibri"/>
              </a:defRPr>
            </a:pPr>
            <a:r>
              <a:t>FAND maps external indicator databases to the What hierarchy, creating a concordance layer that tracks how existing data products relate to balance-sheet concepts.</a:t>
            </a:r>
          </a:p>
        </p:txBody>
      </p:sp>
      <p:sp>
        <p:nvSpPr>
          <p:cNvPr id="4" name="Rectangle 3"/>
          <p:cNvSpPr/>
          <p:nvPr/>
        </p:nvSpPr>
        <p:spPr>
          <a:xfrm>
            <a:off x="1371600" y="1828800"/>
            <a:ext cx="6400800" cy="34747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463040" y="1828800"/>
            <a:ext cx="1828800" cy="347472"/>
          </a:xfrm>
          <a:prstGeom prst="rect">
            <a:avLst/>
          </a:prstGeom>
          <a:noFill/>
        </p:spPr>
        <p:txBody>
          <a:bodyPr wrap="square">
            <a:spAutoFit/>
          </a:bodyPr>
          <a:lstStyle/>
          <a:p>
            <a:pPr algn="l">
              <a:spcAft>
                <a:spcPts val="0"/>
              </a:spcAft>
              <a:defRPr sz="1200" b="1" i="0">
                <a:solidFill>
                  <a:srgbClr val="FFFFFF"/>
                </a:solidFill>
                <a:latin typeface="Calibri"/>
              </a:defRPr>
            </a:pPr>
            <a:r>
              <a:t>Source</a:t>
            </a:r>
          </a:p>
        </p:txBody>
      </p:sp>
      <p:sp>
        <p:nvSpPr>
          <p:cNvPr id="6" name="TextBox 5"/>
          <p:cNvSpPr txBox="1"/>
          <p:nvPr/>
        </p:nvSpPr>
        <p:spPr>
          <a:xfrm>
            <a:off x="3291840" y="1828800"/>
            <a:ext cx="1828800" cy="347472"/>
          </a:xfrm>
          <a:prstGeom prst="rect">
            <a:avLst/>
          </a:prstGeom>
          <a:noFill/>
        </p:spPr>
        <p:txBody>
          <a:bodyPr wrap="square">
            <a:spAutoFit/>
          </a:bodyPr>
          <a:lstStyle/>
          <a:p>
            <a:pPr algn="ctr">
              <a:spcAft>
                <a:spcPts val="0"/>
              </a:spcAft>
              <a:defRPr sz="1200" b="1" i="0">
                <a:solidFill>
                  <a:srgbClr val="FFFFFF"/>
                </a:solidFill>
                <a:latin typeface="Calibri"/>
              </a:defRPr>
            </a:pPr>
            <a:r>
              <a:t>Indicators</a:t>
            </a:r>
          </a:p>
        </p:txBody>
      </p:sp>
      <p:sp>
        <p:nvSpPr>
          <p:cNvPr id="7" name="TextBox 6"/>
          <p:cNvSpPr txBox="1"/>
          <p:nvPr/>
        </p:nvSpPr>
        <p:spPr>
          <a:xfrm>
            <a:off x="5120640" y="1828800"/>
            <a:ext cx="2560320" cy="347472"/>
          </a:xfrm>
          <a:prstGeom prst="rect">
            <a:avLst/>
          </a:prstGeom>
          <a:noFill/>
        </p:spPr>
        <p:txBody>
          <a:bodyPr wrap="square">
            <a:spAutoFit/>
          </a:bodyPr>
          <a:lstStyle/>
          <a:p>
            <a:pPr algn="l">
              <a:spcAft>
                <a:spcPts val="0"/>
              </a:spcAft>
              <a:defRPr sz="1200" b="1" i="0">
                <a:solidFill>
                  <a:srgbClr val="FFFFFF"/>
                </a:solidFill>
                <a:latin typeface="Calibri"/>
              </a:defRPr>
            </a:pPr>
            <a:r>
              <a:t>Primary What Target</a:t>
            </a:r>
          </a:p>
        </p:txBody>
      </p:sp>
      <p:sp>
        <p:nvSpPr>
          <p:cNvPr id="8" name="Rectangle 7"/>
          <p:cNvSpPr/>
          <p:nvPr/>
        </p:nvSpPr>
        <p:spPr>
          <a:xfrm>
            <a:off x="1371600" y="2194560"/>
            <a:ext cx="64008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463040" y="2194560"/>
            <a:ext cx="1828800" cy="347472"/>
          </a:xfrm>
          <a:prstGeom prst="rect">
            <a:avLst/>
          </a:prstGeom>
          <a:noFill/>
        </p:spPr>
        <p:txBody>
          <a:bodyPr wrap="square">
            <a:spAutoFit/>
          </a:bodyPr>
          <a:lstStyle/>
          <a:p>
            <a:pPr algn="l">
              <a:spcAft>
                <a:spcPts val="0"/>
              </a:spcAft>
              <a:defRPr sz="1200" b="0" i="0">
                <a:solidFill>
                  <a:srgbClr val="2C3E50"/>
                </a:solidFill>
                <a:latin typeface="Calibri"/>
              </a:defRPr>
            </a:pPr>
            <a:r>
              <a:t>WDI</a:t>
            </a:r>
          </a:p>
        </p:txBody>
      </p:sp>
      <p:sp>
        <p:nvSpPr>
          <p:cNvPr id="10" name="TextBox 9"/>
          <p:cNvSpPr txBox="1"/>
          <p:nvPr/>
        </p:nvSpPr>
        <p:spPr>
          <a:xfrm>
            <a:off x="3291840" y="2194560"/>
            <a:ext cx="1828800" cy="347472"/>
          </a:xfrm>
          <a:prstGeom prst="rect">
            <a:avLst/>
          </a:prstGeom>
          <a:noFill/>
        </p:spPr>
        <p:txBody>
          <a:bodyPr wrap="square">
            <a:spAutoFit/>
          </a:bodyPr>
          <a:lstStyle/>
          <a:p>
            <a:pPr algn="ctr">
              <a:spcAft>
                <a:spcPts val="0"/>
              </a:spcAft>
              <a:defRPr sz="1200" b="0" i="0">
                <a:solidFill>
                  <a:srgbClr val="2C3E50"/>
                </a:solidFill>
                <a:latin typeface="Calibri"/>
              </a:defRPr>
            </a:pPr>
            <a:r>
              <a:t>1,595</a:t>
            </a:r>
          </a:p>
        </p:txBody>
      </p:sp>
      <p:sp>
        <p:nvSpPr>
          <p:cNvPr id="11" name="TextBox 10"/>
          <p:cNvSpPr txBox="1"/>
          <p:nvPr/>
        </p:nvSpPr>
        <p:spPr>
          <a:xfrm>
            <a:off x="5120640" y="2194560"/>
            <a:ext cx="2560320" cy="347472"/>
          </a:xfrm>
          <a:prstGeom prst="rect">
            <a:avLst/>
          </a:prstGeom>
          <a:noFill/>
        </p:spPr>
        <p:txBody>
          <a:bodyPr wrap="square">
            <a:spAutoFit/>
          </a:bodyPr>
          <a:lstStyle/>
          <a:p>
            <a:pPr algn="l">
              <a:spcAft>
                <a:spcPts val="0"/>
              </a:spcAft>
              <a:defRPr sz="1200" b="0" i="0">
                <a:solidFill>
                  <a:srgbClr val="2C3E50"/>
                </a:solidFill>
                <a:latin typeface="Calibri"/>
              </a:defRPr>
            </a:pPr>
            <a:r>
              <a:t>various</a:t>
            </a:r>
          </a:p>
        </p:txBody>
      </p:sp>
      <p:sp>
        <p:nvSpPr>
          <p:cNvPr id="12" name="Rectangle 11"/>
          <p:cNvSpPr/>
          <p:nvPr/>
        </p:nvSpPr>
        <p:spPr>
          <a:xfrm>
            <a:off x="1371600" y="2560320"/>
            <a:ext cx="6400800" cy="3474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63040" y="2560320"/>
            <a:ext cx="1828800" cy="347472"/>
          </a:xfrm>
          <a:prstGeom prst="rect">
            <a:avLst/>
          </a:prstGeom>
          <a:noFill/>
        </p:spPr>
        <p:txBody>
          <a:bodyPr wrap="square">
            <a:spAutoFit/>
          </a:bodyPr>
          <a:lstStyle/>
          <a:p>
            <a:pPr algn="l">
              <a:spcAft>
                <a:spcPts val="0"/>
              </a:spcAft>
              <a:defRPr sz="1200" b="0" i="0">
                <a:solidFill>
                  <a:srgbClr val="2C3E50"/>
                </a:solidFill>
                <a:latin typeface="Calibri"/>
              </a:defRPr>
            </a:pPr>
            <a:r>
              <a:t>WGI</a:t>
            </a:r>
          </a:p>
        </p:txBody>
      </p:sp>
      <p:sp>
        <p:nvSpPr>
          <p:cNvPr id="14" name="TextBox 13"/>
          <p:cNvSpPr txBox="1"/>
          <p:nvPr/>
        </p:nvSpPr>
        <p:spPr>
          <a:xfrm>
            <a:off x="3291840" y="2560320"/>
            <a:ext cx="1828800" cy="347472"/>
          </a:xfrm>
          <a:prstGeom prst="rect">
            <a:avLst/>
          </a:prstGeom>
          <a:noFill/>
        </p:spPr>
        <p:txBody>
          <a:bodyPr wrap="square">
            <a:spAutoFit/>
          </a:bodyPr>
          <a:lstStyle/>
          <a:p>
            <a:pPr algn="ctr">
              <a:spcAft>
                <a:spcPts val="0"/>
              </a:spcAft>
              <a:defRPr sz="1200" b="0" i="0">
                <a:solidFill>
                  <a:srgbClr val="2C3E50"/>
                </a:solidFill>
                <a:latin typeface="Calibri"/>
              </a:defRPr>
            </a:pPr>
            <a:r>
              <a:t>36</a:t>
            </a:r>
          </a:p>
        </p:txBody>
      </p:sp>
      <p:sp>
        <p:nvSpPr>
          <p:cNvPr id="15" name="TextBox 14"/>
          <p:cNvSpPr txBox="1"/>
          <p:nvPr/>
        </p:nvSpPr>
        <p:spPr>
          <a:xfrm>
            <a:off x="5120640" y="2560320"/>
            <a:ext cx="2560320" cy="347472"/>
          </a:xfrm>
          <a:prstGeom prst="rect">
            <a:avLst/>
          </a:prstGeom>
          <a:noFill/>
        </p:spPr>
        <p:txBody>
          <a:bodyPr wrap="square">
            <a:spAutoFit/>
          </a:bodyPr>
          <a:lstStyle/>
          <a:p>
            <a:pPr algn="l">
              <a:spcAft>
                <a:spcPts val="0"/>
              </a:spcAft>
              <a:defRPr sz="1200" b="0" i="0">
                <a:solidFill>
                  <a:srgbClr val="2C3E50"/>
                </a:solidFill>
                <a:latin typeface="Calibri"/>
              </a:defRPr>
            </a:pPr>
            <a:r>
              <a:t>1.1.2.2.2</a:t>
            </a:r>
          </a:p>
        </p:txBody>
      </p:sp>
      <p:sp>
        <p:nvSpPr>
          <p:cNvPr id="16" name="Rectangle 15"/>
          <p:cNvSpPr/>
          <p:nvPr/>
        </p:nvSpPr>
        <p:spPr>
          <a:xfrm>
            <a:off x="1371600" y="2926080"/>
            <a:ext cx="640080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463040" y="2926080"/>
            <a:ext cx="1828800" cy="347472"/>
          </a:xfrm>
          <a:prstGeom prst="rect">
            <a:avLst/>
          </a:prstGeom>
          <a:noFill/>
        </p:spPr>
        <p:txBody>
          <a:bodyPr wrap="square">
            <a:spAutoFit/>
          </a:bodyPr>
          <a:lstStyle/>
          <a:p>
            <a:pPr algn="l">
              <a:spcAft>
                <a:spcPts val="0"/>
              </a:spcAft>
              <a:defRPr sz="1200" b="0" i="0">
                <a:solidFill>
                  <a:srgbClr val="2C3E50"/>
                </a:solidFill>
                <a:latin typeface="Calibri"/>
              </a:defRPr>
            </a:pPr>
            <a:r>
              <a:t>ESG</a:t>
            </a:r>
          </a:p>
        </p:txBody>
      </p:sp>
      <p:sp>
        <p:nvSpPr>
          <p:cNvPr id="18" name="TextBox 17"/>
          <p:cNvSpPr txBox="1"/>
          <p:nvPr/>
        </p:nvSpPr>
        <p:spPr>
          <a:xfrm>
            <a:off x="3291840" y="2926080"/>
            <a:ext cx="1828800" cy="347472"/>
          </a:xfrm>
          <a:prstGeom prst="rect">
            <a:avLst/>
          </a:prstGeom>
          <a:noFill/>
        </p:spPr>
        <p:txBody>
          <a:bodyPr wrap="square">
            <a:spAutoFit/>
          </a:bodyPr>
          <a:lstStyle/>
          <a:p>
            <a:pPr algn="ctr">
              <a:spcAft>
                <a:spcPts val="0"/>
              </a:spcAft>
              <a:defRPr sz="1200" b="0" i="0">
                <a:solidFill>
                  <a:srgbClr val="2C3E50"/>
                </a:solidFill>
                <a:latin typeface="Calibri"/>
              </a:defRPr>
            </a:pPr>
            <a:r>
              <a:t>67</a:t>
            </a:r>
          </a:p>
        </p:txBody>
      </p:sp>
      <p:sp>
        <p:nvSpPr>
          <p:cNvPr id="19" name="TextBox 18"/>
          <p:cNvSpPr txBox="1"/>
          <p:nvPr/>
        </p:nvSpPr>
        <p:spPr>
          <a:xfrm>
            <a:off x="5120640" y="2926080"/>
            <a:ext cx="2560320" cy="347472"/>
          </a:xfrm>
          <a:prstGeom prst="rect">
            <a:avLst/>
          </a:prstGeom>
          <a:noFill/>
        </p:spPr>
        <p:txBody>
          <a:bodyPr wrap="square">
            <a:spAutoFit/>
          </a:bodyPr>
          <a:lstStyle/>
          <a:p>
            <a:pPr algn="l">
              <a:spcAft>
                <a:spcPts val="0"/>
              </a:spcAft>
              <a:defRPr sz="1200" b="0" i="0">
                <a:solidFill>
                  <a:srgbClr val="2C3E50"/>
                </a:solidFill>
                <a:latin typeface="Calibri"/>
              </a:defRPr>
            </a:pPr>
            <a:r>
              <a:t>1.1.2.2</a:t>
            </a:r>
          </a:p>
        </p:txBody>
      </p:sp>
      <p:sp>
        <p:nvSpPr>
          <p:cNvPr id="20" name="Rectangle 19"/>
          <p:cNvSpPr/>
          <p:nvPr/>
        </p:nvSpPr>
        <p:spPr>
          <a:xfrm>
            <a:off x="1371600" y="3291840"/>
            <a:ext cx="6400800" cy="347472"/>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63040" y="3291840"/>
            <a:ext cx="1828800" cy="347472"/>
          </a:xfrm>
          <a:prstGeom prst="rect">
            <a:avLst/>
          </a:prstGeom>
          <a:noFill/>
        </p:spPr>
        <p:txBody>
          <a:bodyPr wrap="square">
            <a:spAutoFit/>
          </a:bodyPr>
          <a:lstStyle/>
          <a:p>
            <a:pPr algn="l">
              <a:spcAft>
                <a:spcPts val="0"/>
              </a:spcAft>
              <a:defRPr sz="1200" b="0" i="0">
                <a:solidFill>
                  <a:srgbClr val="2C3E50"/>
                </a:solidFill>
                <a:latin typeface="Calibri"/>
              </a:defRPr>
            </a:pPr>
            <a:r>
              <a:t>ID4D</a:t>
            </a:r>
          </a:p>
        </p:txBody>
      </p:sp>
      <p:sp>
        <p:nvSpPr>
          <p:cNvPr id="22" name="TextBox 21"/>
          <p:cNvSpPr txBox="1"/>
          <p:nvPr/>
        </p:nvSpPr>
        <p:spPr>
          <a:xfrm>
            <a:off x="3291840" y="3291840"/>
            <a:ext cx="1828800" cy="347472"/>
          </a:xfrm>
          <a:prstGeom prst="rect">
            <a:avLst/>
          </a:prstGeom>
          <a:noFill/>
        </p:spPr>
        <p:txBody>
          <a:bodyPr wrap="square">
            <a:spAutoFit/>
          </a:bodyPr>
          <a:lstStyle/>
          <a:p>
            <a:pPr algn="ctr">
              <a:spcAft>
                <a:spcPts val="0"/>
              </a:spcAft>
              <a:defRPr sz="1200" b="0" i="0">
                <a:solidFill>
                  <a:srgbClr val="2C3E50"/>
                </a:solidFill>
                <a:latin typeface="Calibri"/>
              </a:defRPr>
            </a:pPr>
            <a:r>
              <a:t>54</a:t>
            </a:r>
          </a:p>
        </p:txBody>
      </p:sp>
      <p:sp>
        <p:nvSpPr>
          <p:cNvPr id="23" name="TextBox 22"/>
          <p:cNvSpPr txBox="1"/>
          <p:nvPr/>
        </p:nvSpPr>
        <p:spPr>
          <a:xfrm>
            <a:off x="5120640" y="3291840"/>
            <a:ext cx="2560320" cy="347472"/>
          </a:xfrm>
          <a:prstGeom prst="rect">
            <a:avLst/>
          </a:prstGeom>
          <a:noFill/>
        </p:spPr>
        <p:txBody>
          <a:bodyPr wrap="square">
            <a:spAutoFit/>
          </a:bodyPr>
          <a:lstStyle/>
          <a:p>
            <a:pPr algn="l">
              <a:spcAft>
                <a:spcPts val="0"/>
              </a:spcAft>
              <a:defRPr sz="1200" b="0" i="0">
                <a:solidFill>
                  <a:srgbClr val="2C3E50"/>
                </a:solidFill>
                <a:latin typeface="Calibri"/>
              </a:defRPr>
            </a:pPr>
            <a:r>
              <a:t>1.1.2</a:t>
            </a:r>
          </a:p>
        </p:txBody>
      </p:sp>
      <p:sp>
        <p:nvSpPr>
          <p:cNvPr id="24" name="TextBox 23"/>
          <p:cNvSpPr txBox="1"/>
          <p:nvPr/>
        </p:nvSpPr>
        <p:spPr>
          <a:xfrm>
            <a:off x="731520" y="3840480"/>
            <a:ext cx="7680960" cy="457200"/>
          </a:xfrm>
          <a:prstGeom prst="rect">
            <a:avLst/>
          </a:prstGeom>
          <a:noFill/>
        </p:spPr>
        <p:txBody>
          <a:bodyPr wrap="square">
            <a:spAutoFit/>
          </a:bodyPr>
          <a:lstStyle/>
          <a:p>
            <a:pPr algn="l">
              <a:spcAft>
                <a:spcPts val="0"/>
              </a:spcAft>
              <a:defRPr sz="1200" b="0" i="1">
                <a:solidFill>
                  <a:srgbClr val="8E99A4"/>
                </a:solidFill>
                <a:latin typeface="Calibri"/>
              </a:defRPr>
            </a:pPr>
            <a:r>
              <a:t>These mappings are secondary. FAND produces its own primary estimates from source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Proof-of-Concept for TL2 and TL3</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hape 1"/>
          <p:cNvSpPr/>
          <p:nvPr/>
        </p:nvSpPr>
        <p:spPr>
          <a:xfrm>
            <a:off x="54864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548640" y="1280160"/>
            <a:ext cx="25603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2F5496"/>
                </a:solidFill>
                <a:effectLst/>
                <a:uLnTx/>
                <a:uFillTx/>
                <a:latin typeface="Georgia" pitchFamily="34" charset="0"/>
                <a:ea typeface="Georgia" pitchFamily="34" charset="-122"/>
                <a:cs typeface="Georgia" pitchFamily="34" charset="-120"/>
              </a:rPr>
              <a:t>7,101</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548640" y="1965960"/>
            <a:ext cx="2560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Administrative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Leaves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548640" y="2468880"/>
            <a:ext cx="2560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D6D7E"/>
                </a:solidFill>
                <a:effectLst/>
                <a:uLnTx/>
                <a:uFillTx/>
                <a:latin typeface="Arial" pitchFamily="34" charset="0"/>
                <a:ea typeface="Arial" pitchFamily="34" charset="-122"/>
                <a:cs typeface="Arial" pitchFamily="34" charset="-120"/>
              </a:rPr>
              <a:t>Finest grain per country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338328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3383280" y="1280160"/>
            <a:ext cx="25603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2F5496"/>
                </a:solidFill>
                <a:effectLst/>
                <a:uLnTx/>
                <a:uFillTx/>
                <a:latin typeface="Georgia" pitchFamily="34" charset="0"/>
                <a:ea typeface="Georgia" pitchFamily="34" charset="-122"/>
                <a:cs typeface="Georgia" pitchFamily="34" charset="-120"/>
              </a:rPr>
              <a:t>7.9B</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3383280" y="1965960"/>
            <a:ext cx="2560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People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Covered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3383280" y="2468880"/>
            <a:ext cx="2560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D6D7E"/>
                </a:solidFill>
                <a:effectLst/>
                <a:uLnTx/>
                <a:uFillTx/>
                <a:latin typeface="Arial" pitchFamily="34" charset="0"/>
                <a:ea typeface="Arial" pitchFamily="34" charset="-122"/>
                <a:cs typeface="Arial" pitchFamily="34" charset="-120"/>
              </a:rPr>
              <a:t>97.6% of world population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6217920" y="1188720"/>
            <a:ext cx="2560320" cy="182880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6217920" y="1280160"/>
            <a:ext cx="256032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2F5496"/>
                </a:solidFill>
                <a:effectLst/>
                <a:uLnTx/>
                <a:uFillTx/>
                <a:latin typeface="Georgia" pitchFamily="34" charset="0"/>
                <a:ea typeface="Georgia" pitchFamily="34" charset="-122"/>
                <a:cs typeface="Georgia" pitchFamily="34" charset="-120"/>
              </a:rPr>
              <a:t>237</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217920" y="1965960"/>
            <a:ext cx="25603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Countries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Represented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217920" y="2468880"/>
            <a:ext cx="256032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D6D7E"/>
                </a:solidFill>
                <a:effectLst/>
                <a:uLnTx/>
                <a:uFillTx/>
                <a:latin typeface="Arial" pitchFamily="34" charset="0"/>
                <a:ea typeface="Arial" pitchFamily="34" charset="-122"/>
                <a:cs typeface="Arial" pitchFamily="34" charset="-120"/>
              </a:rPr>
              <a:t>TL1 through TL3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548640" y="3291840"/>
            <a:ext cx="8229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B2A4A"/>
                </a:solidFill>
                <a:effectLst/>
                <a:uLnTx/>
                <a:uFillTx/>
                <a:latin typeface="Georgia" pitchFamily="34" charset="0"/>
                <a:ea typeface="Georgia" pitchFamily="34" charset="-122"/>
                <a:cs typeface="Georgia" pitchFamily="34" charset="-120"/>
              </a:rPr>
              <a:t>Two Ratios, Two Questions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48640" y="3794760"/>
            <a:ext cx="3840480" cy="100584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48640" y="3794760"/>
            <a:ext cx="73152" cy="1005840"/>
          </a:xfrm>
          <a:prstGeom prst="rect">
            <a:avLst/>
          </a:prstGeom>
          <a:solidFill>
            <a:srgbClr val="2F549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77240" y="3840480"/>
            <a:ext cx="347472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Population Density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D6D7E"/>
                </a:solidFill>
                <a:effectLst/>
                <a:uLnTx/>
                <a:uFillTx/>
                <a:latin typeface="Arial" pitchFamily="34" charset="0"/>
                <a:ea typeface="Arial" pitchFamily="34" charset="-122"/>
                <a:cs typeface="Arial" pitchFamily="34" charset="-120"/>
              </a:rPr>
              <a:t>People per km² — how crowded is this place?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754880" y="3794760"/>
            <a:ext cx="3840480" cy="100584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4754880" y="3794760"/>
            <a:ext cx="73152" cy="1005840"/>
          </a:xfrm>
          <a:prstGeom prst="rect">
            <a:avLst/>
          </a:prstGeom>
          <a:solidFill>
            <a:srgbClr val="E67E2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4983480" y="3840480"/>
            <a:ext cx="347472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C3E50"/>
                </a:solidFill>
                <a:effectLst/>
                <a:uLnTx/>
                <a:uFillTx/>
                <a:latin typeface="Arial" pitchFamily="34" charset="0"/>
                <a:ea typeface="Arial" pitchFamily="34" charset="-122"/>
                <a:cs typeface="Arial" pitchFamily="34" charset="-120"/>
              </a:rPr>
              <a:t>Per Capita Economy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D6D7E"/>
                </a:solidFill>
                <a:effectLst/>
                <a:uLnTx/>
                <a:uFillTx/>
                <a:latin typeface="Arial" pitchFamily="34" charset="0"/>
                <a:ea typeface="Arial" pitchFamily="34" charset="-122"/>
                <a:cs typeface="Arial" pitchFamily="34" charset="-120"/>
              </a:rPr>
              <a:t>Economic output per person — how rich is this place?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592</TotalTime>
  <Words>2851</Words>
  <Application>Microsoft Office PowerPoint</Application>
  <PresentationFormat>On-screen Show (16:9)</PresentationFormat>
  <Paragraphs>166</Paragraphs>
  <Slides>11</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Georgia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O'Connor</cp:lastModifiedBy>
  <cp:revision>1</cp:revision>
  <dcterms:created xsi:type="dcterms:W3CDTF">2013-01-27T09:14:16Z</dcterms:created>
  <dcterms:modified xsi:type="dcterms:W3CDTF">2026-05-06T12:40:50Z</dcterms:modified>
  <cp:category/>
</cp:coreProperties>
</file>