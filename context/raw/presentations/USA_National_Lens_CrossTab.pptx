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/>
              <a:t>USA: Through the National Lens — 3,112 counties, 331M people, ρ = 0.070</a:t>
            </a:r>
          </a:p>
          <a:p/>
          <a:p>
            <a:r>
              <a:rPr/>
              <a:t>WHAT CHANGED: The Global Lens compressed all US variance into a single Q5-Rich column (ρ ≈ 0). Income was invisible — only density varied. The National Lens cracks that column open into a full 5×5 matrix by fitting quintile breakpoints within the US (each Q ≈ 20% of 331M Americans, not 7.9B world population).</a:t>
            </a:r>
          </a:p>
          <a:p/>
          <a:p>
            <a:r>
              <a:rPr/>
              <a:t>DENSITY BREAKPOINTS: Q1 &lt; 119/km² (2,355 counties, mostly rural Great Plains and Mountain West) → Q5 &gt; 2,266/km² (49 counties, major metros).</a:t>
            </a:r>
          </a:p>
          <a:p>
            <a:r>
              <a:rPr/>
              <a:t>PER CAPITA BREAKPOINTS: Q1 &lt; $40K (1,471 counties) → Q5 &gt; $78K (245 counties).</a:t>
            </a:r>
          </a:p>
          <a:p/>
          <a:p>
            <a:r>
              <a:rPr/>
              <a:t>STORY 1 — THE ANTI-DIAGONAL FLIPS: Globally, dense = poorer (ρ = −0.23). Within the US, dense = slightly richer (ρ = +0.070). Top-left (sparse + poor) holds 9.9% of US population; bottom-right (dense + rich) holds 8.5%. This is the agglomeration premium — within a wealthy country, density pays. Manhattan and Silicon Valley dominate, not Dhaka and Lagos.</a:t>
            </a:r>
          </a:p>
          <a:p/>
          <a:p>
            <a:r>
              <a:rPr/>
              <a:t>STORY 2 — THE MEASUREMENT ASYMMETRY PERSISTS: 1,274 counties describe 33M sparse-poor Americans; 24 counties describe 28M dense-rich Americans — a 53:1 ratio in measurement containers for comparable population shares. The structural observation about governance granularity survives the lens change intact.</a:t>
            </a:r>
          </a:p>
          <a:p/>
          <a:p>
            <a:r>
              <a:rPr/>
              <a:t>STORY 3 — THE EMPTY CELL MIGRATES: Globally, Dense+Upper-Middle barely existed. Nationally, the thin cells are dense+poor (4.7M) and dense+Q2 (3.6M). Dense US counties that are relatively poor are rare — a few legacy industrial cities (Detroit, Camden, Flint).</a:t>
            </a:r>
          </a:p>
          <a:p/>
          <a:p>
            <a:r>
              <a:rPr/>
              <a:t>THE ADVOCACY PIVOT: "Poor" in the National Lens means $10–40K per capita — Appalachia, the Mississippi Delta, Native reservations, rural Deep South. Nobody is Sub-Saharan-destitute, but the relative deprivation is real and policy-relevant. The lens change shifts the conversation from "the US is uniformly rich" to "the US has its own internal measurement asymmetry" — the same structural pattern the Global Leaves presentation identified worldwide, reproduced at national scale.</a:t>
            </a:r>
          </a:p>
          <a:p/>
          <a:p>
            <a:r>
              <a:rPr/>
              <a:t>BOTTOM LINE: The three global stories (anti-diagonal, measurement asymmetry, empty cell) all survive the lens change, but the anti-diagonal reverses sign. Dense+rich replaces dense+poor as the dominant corner. The US is a microcosm of the global pattern seen through a wealth-adjusted mirror.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USA: Through the National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0B0C0"/>
                </a:solidFill>
                <a:latin typeface="Calibri"/>
              </a:defRPr>
            </a:pPr>
            <a:r>
              <a:t>3,112 counties  |  0.33B people  |  ρ = 0.070  —  quintiles now fitted within the US, not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FFB74D"/>
                </a:solidFill>
                <a:latin typeface="Calibri"/>
              </a:defRPr>
            </a:pPr>
            <a:r>
              <a:t>The single-column collapse vanishes. Counties spread across the full 5×5 matrix — a mild positive anti-diagonal emerges (dense = richer).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Population (millions)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3886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090A0"/>
                </a:solidFill>
                <a:latin typeface="Calibri"/>
              </a:defRPr>
            </a:pPr>
            <a:r>
              <a:t>Per Capita Economy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Q1</a:t>
            </a:r>
            <a:br/>
            <a:r>
              <a:t>Poor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Q5</a:t>
            </a:r>
            <a:br/>
            <a:r>
              <a:t>Rich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Q1</a:t>
            </a:r>
            <a:br/>
            <a:r>
              <a:t>Sparse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03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3832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862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891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Q5</a:t>
            </a:r>
            <a:br/>
            <a:r>
              <a:t>Dense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377440"/>
            <a:ext cx="765240" cy="4909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32.7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9.9%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237744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20.5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2377440"/>
            <a:ext cx="765240" cy="49092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8.4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2.5%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37744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2.8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0.8%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37744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1.9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0.6%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288036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20.0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6.0%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288036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21.4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6.5%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2880360"/>
            <a:ext cx="765240" cy="490920"/>
          </a:xfrm>
          <a:prstGeom prst="rect">
            <a:avLst/>
          </a:prstGeom>
          <a:solidFill>
            <a:srgbClr val="9F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16.7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880360"/>
            <a:ext cx="765240" cy="49092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7.1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2.1%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2880360"/>
            <a:ext cx="765240" cy="490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1.5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3383280"/>
            <a:ext cx="765240" cy="49092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8.6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2.6%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3383280"/>
            <a:ext cx="765240" cy="490920"/>
          </a:xfrm>
          <a:prstGeom prst="rect">
            <a:avLst/>
          </a:prstGeom>
          <a:solidFill>
            <a:srgbClr val="9F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15.0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4.5%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3383280"/>
            <a:ext cx="765240" cy="490920"/>
          </a:xfrm>
          <a:prstGeom prst="rect">
            <a:avLst/>
          </a:prstGeom>
          <a:solidFill>
            <a:srgbClr val="9F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16.6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5.0%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0" y="338328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20.3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6.1%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38328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5.8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1.8%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3886200"/>
            <a:ext cx="765240" cy="490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0.7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0.2%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0240" y="388620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2024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5.5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1.7%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3886200"/>
            <a:ext cx="765240" cy="490920"/>
          </a:xfrm>
          <a:prstGeom prst="rect">
            <a:avLst/>
          </a:prstGeom>
          <a:solidFill>
            <a:srgbClr val="9F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18.1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5.5%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74720" y="3886200"/>
            <a:ext cx="765240" cy="490920"/>
          </a:xfrm>
          <a:prstGeom prst="rect">
            <a:avLst/>
          </a:prstGeom>
          <a:solidFill>
            <a:srgbClr val="9FA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15.8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4.8%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0" y="388620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26.3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7.9%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438912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4.7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1.4%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438912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2024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3.6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1.1%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97480" y="4389120"/>
            <a:ext cx="765240" cy="49092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6.6</a:t>
            </a:r>
          </a:p>
          <a:p>
            <a:pPr algn="ctr">
              <a:defRPr sz="800">
                <a:solidFill>
                  <a:srgbClr val="666677"/>
                </a:solidFill>
                <a:latin typeface="Calibri"/>
              </a:defRPr>
            </a:pPr>
            <a:r>
              <a:t>2.0%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389120"/>
            <a:ext cx="765240" cy="490920"/>
          </a:xfrm>
          <a:prstGeom prst="rect">
            <a:avLst/>
          </a:prstGeom>
          <a:solidFill>
            <a:srgbClr val="737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7472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22.6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6.8%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4389120"/>
            <a:ext cx="765240" cy="4909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6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28.2</a:t>
            </a:r>
          </a:p>
          <a:p>
            <a:pPr algn="ctr">
              <a:defRPr sz="800">
                <a:solidFill>
                  <a:srgbClr val="DDDDEE"/>
                </a:solidFill>
                <a:latin typeface="Calibri"/>
              </a:defRPr>
            </a:pPr>
            <a:r>
              <a:t>8.5%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Unit count (counties)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95160" y="1691640"/>
            <a:ext cx="3886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090A0"/>
                </a:solidFill>
                <a:latin typeface="Calibri"/>
              </a:defRPr>
            </a:pPr>
            <a:r>
              <a:t>Per Capita Economy 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Q1</a:t>
            </a:r>
            <a:br/>
            <a:r>
              <a:t>Poor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4964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18745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Q5</a:t>
            </a:r>
            <a:br/>
            <a:r>
              <a:t>Rich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Q1</a:t>
            </a:r>
            <a:br/>
            <a:r>
              <a:t>Sparse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28803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38328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388620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17920" y="438912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CCCCDD"/>
                </a:solidFill>
                <a:latin typeface="Calibri"/>
              </a:defRPr>
            </a:pPr>
            <a:r>
              <a:t>Q5</a:t>
            </a:r>
            <a:br/>
            <a:r>
              <a:t>Dense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95160" y="2377440"/>
            <a:ext cx="765240" cy="490920"/>
          </a:xfrm>
          <a:prstGeom prst="rect">
            <a:avLst/>
          </a:prstGeom>
          <a:solidFill>
            <a:srgbClr val="C51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9516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1,274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0" y="2377440"/>
            <a:ext cx="765240" cy="490920"/>
          </a:xfrm>
          <a:prstGeom prst="rect">
            <a:avLst/>
          </a:prstGeom>
          <a:solidFill>
            <a:srgbClr val="C51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2377440"/>
            <a:ext cx="765240" cy="49092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4964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269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326880" y="2377440"/>
            <a:ext cx="765240" cy="49092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2688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104120" y="2377440"/>
            <a:ext cx="765240" cy="49092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04120" y="237744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95160" y="2880360"/>
            <a:ext cx="765240" cy="490920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9516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2880360"/>
            <a:ext cx="765240" cy="49092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147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2880360"/>
            <a:ext cx="765240" cy="490920"/>
          </a:xfrm>
          <a:prstGeom prst="rect">
            <a:avLst/>
          </a:prstGeom>
          <a:solidFill>
            <a:srgbClr val="F4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4964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88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326880" y="288036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2688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04120" y="2880360"/>
            <a:ext cx="765240" cy="4909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04120" y="288036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95160" y="338328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9516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72400" y="338328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549640" y="338328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4964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326880" y="338328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2688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04120" y="3383280"/>
            <a:ext cx="765240" cy="4909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04120" y="338328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95160" y="3886200"/>
            <a:ext cx="765240" cy="490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9516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72400" y="3886200"/>
            <a:ext cx="765240" cy="4909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7240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49640" y="388620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4964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326880" y="388620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32688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04120" y="388620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04120" y="388620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995160" y="4389120"/>
            <a:ext cx="765240" cy="490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9516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72400" y="4389120"/>
            <a:ext cx="765240" cy="490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77240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549640" y="4389120"/>
            <a:ext cx="765240" cy="4909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4964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326880" y="4389120"/>
            <a:ext cx="765240" cy="4909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32688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04120" y="4389120"/>
            <a:ext cx="765240" cy="490920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04120" y="4389120"/>
            <a:ext cx="765240" cy="49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44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720" y="2743200"/>
            <a:ext cx="320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090A0"/>
                </a:solidFill>
                <a:latin typeface="Calibri"/>
              </a:defRPr>
            </a:pPr>
            <a:r>
              <a:t>Density →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5760" y="5120640"/>
            <a:ext cx="11430000" cy="1554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4864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1300" b="1">
                <a:solidFill>
                  <a:srgbClr val="FFB74D"/>
                </a:solidFill>
                <a:latin typeface="Calibri"/>
              </a:defRPr>
            </a:pPr>
            <a:r>
              <a:t>The story changes: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Global Lens: ρ ≈ 0 — income is invisible, all counties are 'rich.'  The only axis with variance is density.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National Lens: ρ = 0.070 — a mild positive correlation emerges. Dense counties tend slightly richer.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The anti-diagonal appears: 9.9% of the US population lives in sparse + poor counties (top-left), 8.5% in dense + rich (bottom-right).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The measurement asymmetry persists: 1,274 counties describe the sparse+poor 33M; just 24 counties describe the dense+rich 28M.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1100" b="0">
                <a:solidFill>
                  <a:srgbClr val="FFB74D"/>
                </a:solidFill>
                <a:latin typeface="Calibri"/>
              </a:defRPr>
            </a:pPr>
            <a:r>
              <a:t>But 'poor' here means $10K–$40K per capita — nobody is truly destitute. The matrix is one of relative, not absolute, deprivation.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