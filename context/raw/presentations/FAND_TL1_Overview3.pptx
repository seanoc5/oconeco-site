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2"/>
  </p:notesMasterIdLst>
  <p:sldIdLst>
    <p:sldId id="256" r:id="rId3"/>
    <p:sldId id="257" r:id="rId4"/>
    <p:sldId id="265" r:id="rId5"/>
    <p:sldId id="258" r:id="rId6"/>
    <p:sldId id="259" r:id="rId7"/>
    <p:sldId id="261" r:id="rId8"/>
    <p:sldId id="262" r:id="rId9"/>
    <p:sldId id="263" r:id="rId10"/>
    <p:sldId id="266" r:id="rId1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11D7F0-0664-4B17-8947-72F98B7E3907}" v="52" dt="2026-05-06T21:04:00.6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6" autoAdjust="0"/>
    <p:restoredTop sz="56317" autoAdjust="0"/>
  </p:normalViewPr>
  <p:slideViewPr>
    <p:cSldViewPr snapToGrid="0" snapToObjects="1">
      <p:cViewPr>
        <p:scale>
          <a:sx n="85" d="100"/>
          <a:sy n="85" d="100"/>
        </p:scale>
        <p:origin x="516" y="-258"/>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O'Connor" userId="f7385dc4-3ae7-4722-a367-bcb8024ecc52" providerId="ADAL" clId="{D1113808-6EF2-45F3-A052-BF7C3C4820FF}"/>
    <pc:docChg chg="undo custSel delSld modSld sldOrd">
      <pc:chgData name="John O'Connor" userId="f7385dc4-3ae7-4722-a367-bcb8024ecc52" providerId="ADAL" clId="{D1113808-6EF2-45F3-A052-BF7C3C4820FF}" dt="2026-05-06T21:46:44.961" v="9804" actId="20577"/>
      <pc:docMkLst>
        <pc:docMk/>
      </pc:docMkLst>
      <pc:sldChg chg="modSp mod modNotesTx">
        <pc:chgData name="John O'Connor" userId="f7385dc4-3ae7-4722-a367-bcb8024ecc52" providerId="ADAL" clId="{D1113808-6EF2-45F3-A052-BF7C3C4820FF}" dt="2026-05-06T20:52:19.837" v="6405" actId="6549"/>
        <pc:sldMkLst>
          <pc:docMk/>
          <pc:sldMk cId="0" sldId="256"/>
        </pc:sldMkLst>
        <pc:spChg chg="mod">
          <ac:chgData name="John O'Connor" userId="f7385dc4-3ae7-4722-a367-bcb8024ecc52" providerId="ADAL" clId="{D1113808-6EF2-45F3-A052-BF7C3C4820FF}" dt="2026-05-06T20:45:10.418" v="6036"/>
          <ac:spMkLst>
            <pc:docMk/>
            <pc:sldMk cId="0" sldId="256"/>
            <ac:spMk id="5" creationId="{00000000-0000-0000-0000-000000000000}"/>
          </ac:spMkLst>
        </pc:spChg>
      </pc:sldChg>
      <pc:sldChg chg="modSp mod ord modNotesTx">
        <pc:chgData name="John O'Connor" userId="f7385dc4-3ae7-4722-a367-bcb8024ecc52" providerId="ADAL" clId="{D1113808-6EF2-45F3-A052-BF7C3C4820FF}" dt="2026-05-06T21:15:21.672" v="7869" actId="20577"/>
        <pc:sldMkLst>
          <pc:docMk/>
          <pc:sldMk cId="0" sldId="257"/>
        </pc:sldMkLst>
        <pc:spChg chg="mod">
          <ac:chgData name="John O'Connor" userId="f7385dc4-3ae7-4722-a367-bcb8024ecc52" providerId="ADAL" clId="{D1113808-6EF2-45F3-A052-BF7C3C4820FF}" dt="2026-05-06T19:16:26.671" v="4363" actId="6549"/>
          <ac:spMkLst>
            <pc:docMk/>
            <pc:sldMk cId="0" sldId="257"/>
            <ac:spMk id="3" creationId="{00000000-0000-0000-0000-000000000000}"/>
          </ac:spMkLst>
        </pc:spChg>
      </pc:sldChg>
      <pc:sldChg chg="modSp mod ord modNotesTx">
        <pc:chgData name="John O'Connor" userId="f7385dc4-3ae7-4722-a367-bcb8024ecc52" providerId="ADAL" clId="{D1113808-6EF2-45F3-A052-BF7C3C4820FF}" dt="2026-05-06T21:29:39.275" v="8641" actId="20577"/>
        <pc:sldMkLst>
          <pc:docMk/>
          <pc:sldMk cId="0" sldId="258"/>
        </pc:sldMkLst>
        <pc:spChg chg="mod">
          <ac:chgData name="John O'Connor" userId="f7385dc4-3ae7-4722-a367-bcb8024ecc52" providerId="ADAL" clId="{D1113808-6EF2-45F3-A052-BF7C3C4820FF}" dt="2026-05-06T18:36:28.370" v="2767" actId="20577"/>
          <ac:spMkLst>
            <pc:docMk/>
            <pc:sldMk cId="0" sldId="258"/>
            <ac:spMk id="7" creationId="{00000000-0000-0000-0000-000000000000}"/>
          </ac:spMkLst>
        </pc:spChg>
        <pc:spChg chg="mod">
          <ac:chgData name="John O'Connor" userId="f7385dc4-3ae7-4722-a367-bcb8024ecc52" providerId="ADAL" clId="{D1113808-6EF2-45F3-A052-BF7C3C4820FF}" dt="2026-05-06T19:00:57.596" v="3692" actId="20577"/>
          <ac:spMkLst>
            <pc:docMk/>
            <pc:sldMk cId="0" sldId="258"/>
            <ac:spMk id="8" creationId="{00000000-0000-0000-0000-000000000000}"/>
          </ac:spMkLst>
        </pc:spChg>
        <pc:spChg chg="mod">
          <ac:chgData name="John O'Connor" userId="f7385dc4-3ae7-4722-a367-bcb8024ecc52" providerId="ADAL" clId="{D1113808-6EF2-45F3-A052-BF7C3C4820FF}" dt="2026-05-06T18:55:42.462" v="3409" actId="20577"/>
          <ac:spMkLst>
            <pc:docMk/>
            <pc:sldMk cId="0" sldId="258"/>
            <ac:spMk id="9" creationId="{00000000-0000-0000-0000-000000000000}"/>
          </ac:spMkLst>
        </pc:spChg>
        <pc:spChg chg="mod">
          <ac:chgData name="John O'Connor" userId="f7385dc4-3ae7-4722-a367-bcb8024ecc52" providerId="ADAL" clId="{D1113808-6EF2-45F3-A052-BF7C3C4820FF}" dt="2026-05-06T18:37:31.376" v="2807" actId="6549"/>
          <ac:spMkLst>
            <pc:docMk/>
            <pc:sldMk cId="0" sldId="258"/>
            <ac:spMk id="10" creationId="{00000000-0000-0000-0000-000000000000}"/>
          </ac:spMkLst>
        </pc:spChg>
        <pc:spChg chg="mod">
          <ac:chgData name="John O'Connor" userId="f7385dc4-3ae7-4722-a367-bcb8024ecc52" providerId="ADAL" clId="{D1113808-6EF2-45F3-A052-BF7C3C4820FF}" dt="2026-05-06T19:02:40.899" v="3753" actId="20577"/>
          <ac:spMkLst>
            <pc:docMk/>
            <pc:sldMk cId="0" sldId="258"/>
            <ac:spMk id="11" creationId="{00000000-0000-0000-0000-000000000000}"/>
          </ac:spMkLst>
        </pc:spChg>
      </pc:sldChg>
      <pc:sldChg chg="del">
        <pc:chgData name="John O'Connor" userId="f7385dc4-3ae7-4722-a367-bcb8024ecc52" providerId="ADAL" clId="{D1113808-6EF2-45F3-A052-BF7C3C4820FF}" dt="2026-05-06T17:27:43.835" v="0" actId="47"/>
        <pc:sldMkLst>
          <pc:docMk/>
          <pc:sldMk cId="0" sldId="260"/>
        </pc:sldMkLst>
      </pc:sldChg>
      <pc:sldChg chg="modNotesTx">
        <pc:chgData name="John O'Connor" userId="f7385dc4-3ae7-4722-a367-bcb8024ecc52" providerId="ADAL" clId="{D1113808-6EF2-45F3-A052-BF7C3C4820FF}" dt="2026-05-06T21:43:01.250" v="9576" actId="20577"/>
        <pc:sldMkLst>
          <pc:docMk/>
          <pc:sldMk cId="0" sldId="263"/>
        </pc:sldMkLst>
      </pc:sldChg>
      <pc:sldChg chg="del">
        <pc:chgData name="John O'Connor" userId="f7385dc4-3ae7-4722-a367-bcb8024ecc52" providerId="ADAL" clId="{D1113808-6EF2-45F3-A052-BF7C3C4820FF}" dt="2026-05-06T21:43:16.005" v="9579" actId="47"/>
        <pc:sldMkLst>
          <pc:docMk/>
          <pc:sldMk cId="0" sldId="264"/>
        </pc:sldMkLst>
      </pc:sldChg>
      <pc:sldChg chg="modSp mod ord modNotesTx">
        <pc:chgData name="John O'Connor" userId="f7385dc4-3ae7-4722-a367-bcb8024ecc52" providerId="ADAL" clId="{D1113808-6EF2-45F3-A052-BF7C3C4820FF}" dt="2026-05-06T21:18:07.041" v="7923" actId="20577"/>
        <pc:sldMkLst>
          <pc:docMk/>
          <pc:sldMk cId="0" sldId="265"/>
        </pc:sldMkLst>
        <pc:spChg chg="mod">
          <ac:chgData name="John O'Connor" userId="f7385dc4-3ae7-4722-a367-bcb8024ecc52" providerId="ADAL" clId="{D1113808-6EF2-45F3-A052-BF7C3C4820FF}" dt="2026-05-06T18:26:37.748" v="2361" actId="207"/>
          <ac:spMkLst>
            <pc:docMk/>
            <pc:sldMk cId="0" sldId="265"/>
            <ac:spMk id="4" creationId="{00000000-0000-0000-0000-000000000000}"/>
          </ac:spMkLst>
        </pc:spChg>
      </pc:sldChg>
      <pc:sldChg chg="ord modNotesTx">
        <pc:chgData name="John O'Connor" userId="f7385dc4-3ae7-4722-a367-bcb8024ecc52" providerId="ADAL" clId="{D1113808-6EF2-45F3-A052-BF7C3C4820FF}" dt="2026-05-06T21:46:44.961" v="9804" actId="20577"/>
        <pc:sldMkLst>
          <pc:docMk/>
          <pc:sldMk cId="0"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0577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FAND </a:t>
            </a:r>
            <a:r>
              <a:rPr lang="en-US" dirty="0"/>
              <a:t>is the</a:t>
            </a:r>
            <a:r>
              <a:rPr dirty="0"/>
              <a:t> First Agentic Navigator for Development.</a:t>
            </a:r>
            <a:r>
              <a:rPr lang="en-US" dirty="0"/>
              <a:t> As technology, it</a:t>
            </a:r>
            <a:r>
              <a:rPr lang="en-US" baseline="0" dirty="0"/>
              <a:t> is the third generation from </a:t>
            </a:r>
            <a:r>
              <a:rPr lang="en-US" dirty="0"/>
              <a:t>a 1990 </a:t>
            </a:r>
            <a:r>
              <a:rPr dirty="0"/>
              <a:t>World Bank </a:t>
            </a:r>
            <a:r>
              <a:rPr lang="en-US" dirty="0"/>
              <a:t>app called</a:t>
            </a:r>
            <a:r>
              <a:rPr lang="en-US" baseline="0" dirty="0"/>
              <a:t> FIND. That meshed the Bank’s WDI indicators and concept hierarchy </a:t>
            </a:r>
            <a:r>
              <a:rPr lang="en-US" dirty="0"/>
              <a:t>to an LLM precursor, mapping them to wordy </a:t>
            </a:r>
            <a:r>
              <a:rPr dirty="0"/>
              <a:t>Country Briefs</a:t>
            </a:r>
            <a:r>
              <a:rPr lang="en-US" dirty="0"/>
              <a:t>. </a:t>
            </a:r>
            <a:r>
              <a:rPr dirty="0"/>
              <a:t>SDRPrep/CSR QuickStart via Gaia Metrics (2013)</a:t>
            </a:r>
            <a:r>
              <a:rPr lang="en-US" dirty="0"/>
              <a:t> was the second</a:t>
            </a:r>
            <a:r>
              <a:rPr lang="en-US" baseline="0" dirty="0"/>
              <a:t> generation, designed  for better navigation of corporate sustainability reports and their metrics. This third generation, </a:t>
            </a:r>
            <a:r>
              <a:rPr dirty="0"/>
              <a:t>FAND</a:t>
            </a:r>
            <a:r>
              <a:rPr lang="en-US" dirty="0"/>
              <a:t>,</a:t>
            </a:r>
            <a:r>
              <a:rPr dirty="0"/>
              <a:t> </a:t>
            </a:r>
            <a:r>
              <a:rPr lang="en-US" dirty="0"/>
              <a:t>uses ai to </a:t>
            </a:r>
            <a:r>
              <a:rPr dirty="0"/>
              <a:t>revers</a:t>
            </a:r>
            <a:r>
              <a:rPr lang="en-US" dirty="0"/>
              <a:t>e</a:t>
            </a:r>
            <a:r>
              <a:rPr lang="en-US" baseline="0" dirty="0"/>
              <a:t> last century’s </a:t>
            </a:r>
            <a:r>
              <a:rPr dirty="0"/>
              <a:t>Hollerith Pivot</a:t>
            </a:r>
            <a:r>
              <a:rPr lang="en-US" dirty="0"/>
              <a:t>. This presentation</a:t>
            </a:r>
            <a:r>
              <a:rPr lang="en-US" baseline="0" dirty="0"/>
              <a:t> explains what that was and how that applies to the thin descriptions commonly employed in international comparisons, or TL1,</a:t>
            </a:r>
            <a:r>
              <a:rPr lang="en-US" dirty="0"/>
              <a:t> for </a:t>
            </a:r>
            <a:r>
              <a:rPr dirty="0"/>
              <a:t>207+ countries. </a:t>
            </a:r>
            <a:r>
              <a:rPr lang="en-US" dirty="0"/>
              <a:t>It</a:t>
            </a:r>
            <a:r>
              <a:rPr dirty="0"/>
              <a:t> wal</a:t>
            </a:r>
            <a:r>
              <a:rPr lang="en-US" dirty="0"/>
              <a:t>ks t</a:t>
            </a:r>
            <a:r>
              <a:rPr dirty="0"/>
              <a:t>hrough </a:t>
            </a:r>
            <a:r>
              <a:rPr lang="en-US" dirty="0"/>
              <a:t>how </a:t>
            </a:r>
            <a:r>
              <a:rPr dirty="0"/>
              <a:t>FAND </a:t>
            </a:r>
            <a:r>
              <a:rPr lang="en-US" dirty="0"/>
              <a:t>updates the Bank’s 1995 Monitoring Environmental Progress or MEP; policy signals from what FAND already covers; and work in progress to make it finer grain in both its What and its Where concept hierarchies.</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FAND understands why “Beyond GDP” remains a popular movement and Bank operational use is a prime target. MEP buried its wealth lede to show, topic by topic, issues were “Beneath GDP”; not beyond it. Its penultimate chapter implied Beyond GDP is blaming an income statement for not being a balance sheet. Or, more accurately, blaming “real” model built from an income statement alone for making </a:t>
            </a:r>
            <a:r>
              <a:rPr lang="en-US" dirty="0" err="1"/>
              <a:t>govermnents</a:t>
            </a:r>
            <a:r>
              <a:rPr lang="en-US" dirty="0"/>
              <a:t> increasingly efficient at producing what is decreasingly wanted.</a:t>
            </a:r>
          </a:p>
          <a:p>
            <a:endParaRPr lang="en-US" dirty="0"/>
          </a:p>
          <a:p>
            <a:r>
              <a:rPr lang="en-US" dirty="0"/>
              <a:t>The Bank’s </a:t>
            </a:r>
            <a:r>
              <a:rPr lang="en-US" baseline="0" dirty="0"/>
              <a:t>2024 </a:t>
            </a:r>
            <a:r>
              <a:rPr lang="en-US" dirty="0"/>
              <a:t>Changing Wealth of Nations, or CWoN, database shows such balance sheets can be compiled over more years and in greater detail than most thought possible in 1995. However, FAND shows it sends contradictory signals for Bank operational purpose; unnecessarily. It does so by biasing data sources and methods to those “intuitive” to real models; and by ignoring two-thirds of the Bank’s history. FAND shows neither is necessary.</a:t>
            </a:r>
          </a:p>
          <a:p>
            <a:endParaRPr lang="en-US" dirty="0"/>
          </a:p>
          <a:p>
            <a:r>
              <a:rPr lang="en-US" dirty="0"/>
              <a:t>Atlas-type GNI metrics have been around since 1950, waiting to be capitalized and explained by balance sheets as well as income statements. FAND recalls the Furnishing of Information obligation in the Fund’s Articles of Agreement, and shows accurate and increasingly more precise time series can be constructed from that time– often in more detail than CWoN offers for 1995-2020.</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FAND renames its mains construct CommonWealth to signal it means to go back to the future. The US Census reported</a:t>
            </a:r>
            <a:r>
              <a:rPr lang="en-US" baseline="0" dirty="0"/>
              <a:t> on wealth long before income because America’s founders considered government a means of promoting t</a:t>
            </a:r>
            <a:r>
              <a:rPr lang="en-US" dirty="0"/>
              <a:t>he old English concept of </a:t>
            </a:r>
            <a:r>
              <a:rPr dirty="0"/>
              <a:t>Commonwealth as </a:t>
            </a:r>
            <a:r>
              <a:rPr dirty="0" err="1"/>
              <a:t>wele</a:t>
            </a:r>
            <a:r>
              <a:rPr dirty="0"/>
              <a:t> (Middle English) = 'a source of prosperity, well-being, joy’</a:t>
            </a:r>
            <a:r>
              <a:rPr lang="en-US" dirty="0"/>
              <a:t>. </a:t>
            </a:r>
            <a:r>
              <a:rPr dirty="0"/>
              <a:t>The Hollerith Pivot (named for Herman Hollerith's tabulating machine) was the historical shift that made quantitative measurement cheap and qualitative assessment </a:t>
            </a:r>
            <a:r>
              <a:rPr lang="en-US" dirty="0"/>
              <a:t>(like gauging the “True Value” of Wealth from counties to nation).</a:t>
            </a:r>
            <a:r>
              <a:rPr dirty="0"/>
              <a:t> FAND reverses this by making the qualitative </a:t>
            </a:r>
            <a:r>
              <a:rPr lang="en-US" dirty="0"/>
              <a:t>–</a:t>
            </a:r>
            <a:r>
              <a:rPr dirty="0"/>
              <a:t> </a:t>
            </a:r>
            <a:r>
              <a:rPr lang="en-US" dirty="0"/>
              <a:t>harmonizing ‘local’ knowledge and considering fuzzy constructs</a:t>
            </a:r>
            <a:r>
              <a:rPr lang="en-US" baseline="0" dirty="0"/>
              <a:t> like </a:t>
            </a:r>
            <a:r>
              <a:rPr dirty="0"/>
              <a:t>institutional quality, social infrastructure, trust -- computationally tractable and balance-sheet </a:t>
            </a:r>
            <a:r>
              <a:rPr lang="en-US" dirty="0"/>
              <a:t>qualitative issues </a:t>
            </a:r>
            <a:r>
              <a:rPr dirty="0"/>
              <a:t>visible.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With two intermediate residuals, FAND details CW’s four wealth-creating c</a:t>
            </a:r>
            <a:r>
              <a:rPr dirty="0"/>
              <a:t>omponen</a:t>
            </a:r>
            <a:r>
              <a:rPr lang="en-US" dirty="0"/>
              <a:t>ts</a:t>
            </a:r>
            <a:r>
              <a:rPr lang="en-US" baseline="0" dirty="0"/>
              <a:t> and then adjusts for </a:t>
            </a:r>
            <a:r>
              <a:rPr lang="en-US" dirty="0"/>
              <a:t>ownership or control by nonresidents, to assess Net Worth of residents. PA and NC have Claim-Rights attached these are what SNA and such value; not the objects to which rights attach. For example, mining companies don’t own subsoil assets; they own rights to sever such assets. Governments grant such Claim-Rights, and at least in the minds of those who crafted the White plan that created the Bretton Woods institutions, government are supposed to do so with Free, Prior, Informed Consent of the governed. FAND is designed to minimize information asymmetries particularly between governments and the governed.</a:t>
            </a:r>
          </a:p>
          <a:p>
            <a:endParaRPr lang="en-US" dirty="0"/>
          </a:p>
          <a:p>
            <a:r>
              <a:rPr lang="en-US" dirty="0"/>
              <a:t>Recognizing and valuing HR puts any wealth measure is beyond the SNA pale. Despite wording about economic rights, it only books Claim-Rights and Duties (</a:t>
            </a:r>
            <a:r>
              <a:rPr dirty="0"/>
              <a:t>PA</a:t>
            </a:r>
            <a:r>
              <a:rPr lang="en-US" dirty="0"/>
              <a:t>,</a:t>
            </a:r>
            <a:r>
              <a:rPr dirty="0"/>
              <a:t> NC</a:t>
            </a:r>
            <a:r>
              <a:rPr lang="en-US" dirty="0"/>
              <a:t>,</a:t>
            </a:r>
            <a:r>
              <a:rPr lang="en-US" baseline="0" dirty="0"/>
              <a:t> and Cross-Border). However, those exist subject to Hohfeld’s other jural correlatives. FAND sees these are the epitome of any place’s indefinite and long-lived assets. It gives </a:t>
            </a:r>
            <a:r>
              <a:rPr dirty="0"/>
              <a:t>HR </a:t>
            </a:r>
            <a:r>
              <a:rPr lang="en-US" dirty="0"/>
              <a:t>a a first-order position since it entails an individual’s L</a:t>
            </a:r>
            <a:r>
              <a:rPr dirty="0"/>
              <a:t>iberty </a:t>
            </a:r>
            <a:r>
              <a:rPr lang="en-US" dirty="0"/>
              <a:t>to enjoy fruits of one’s </a:t>
            </a:r>
            <a:r>
              <a:rPr dirty="0"/>
              <a:t>labor</a:t>
            </a:r>
            <a:r>
              <a:rPr lang="en-US" dirty="0"/>
              <a:t> with a correlative of No-Right of another to claim them (once slavery is disallowed). </a:t>
            </a:r>
          </a:p>
          <a:p>
            <a:endParaRPr lang="en-US" dirty="0"/>
          </a:p>
          <a:p>
            <a:r>
              <a:rPr dirty="0"/>
              <a:t>S</a:t>
            </a:r>
            <a:r>
              <a:rPr lang="en-US" dirty="0"/>
              <a:t>I</a:t>
            </a:r>
            <a:r>
              <a:rPr dirty="0"/>
              <a:t> is </a:t>
            </a:r>
            <a:r>
              <a:rPr lang="en-US" dirty="0"/>
              <a:t>higher</a:t>
            </a:r>
            <a:r>
              <a:rPr dirty="0"/>
              <a:t>-order </a:t>
            </a:r>
            <a:r>
              <a:rPr lang="en-US" dirty="0"/>
              <a:t>(</a:t>
            </a:r>
            <a:r>
              <a:rPr dirty="0"/>
              <a:t>Power</a:t>
            </a:r>
            <a:r>
              <a:rPr lang="en-US" dirty="0"/>
              <a:t>, </a:t>
            </a:r>
            <a:r>
              <a:rPr dirty="0"/>
              <a:t>Immunity</a:t>
            </a:r>
            <a:r>
              <a:rPr lang="en-US" dirty="0"/>
              <a:t>, and jural correlatives)</a:t>
            </a:r>
            <a:r>
              <a:rPr dirty="0"/>
              <a:t>.</a:t>
            </a:r>
            <a:r>
              <a:rPr lang="en-US" dirty="0"/>
              <a:t> Since what gets monitored gets managed, SNA’s useful but limited range increases risk of deferred SI maintenance. FAND flags it by also expressing DM as risk premia for recourse to global capital markets.</a:t>
            </a:r>
          </a:p>
          <a:p>
            <a:endParaRPr lang="en-US"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World Tables are the primary FAND data product -- one per indicator, all countries as rows, years as columns. Balance Sheet WTs</a:t>
            </a:r>
            <a:r>
              <a:rPr lang="en-US" dirty="0"/>
              <a:t> detail Commonwealth or CW, </a:t>
            </a:r>
            <a:r>
              <a:rPr dirty="0"/>
              <a:t>carry the identity chain: CW, PA, NC Total, RW, HR, SR (Substantive Rights </a:t>
            </a:r>
            <a:r>
              <a:rPr lang="en-US" dirty="0"/>
              <a:t>~</a:t>
            </a:r>
            <a:r>
              <a:rPr dirty="0"/>
              <a:t> TFP analogue), DM (Deferred Maintenance </a:t>
            </a:r>
            <a:r>
              <a:rPr lang="en-US" dirty="0"/>
              <a:t>of SR</a:t>
            </a:r>
            <a:r>
              <a:rPr dirty="0"/>
              <a:t>), Net Worth, and two demographic WTs. NC has 52 WTs: 3 fossil fuels (oil, gas, coal), 31 individual minerals from USGS MCS, fisheries from FAO, </a:t>
            </a:r>
            <a:r>
              <a:rPr dirty="0" err="1"/>
              <a:t>agland</a:t>
            </a:r>
            <a:r>
              <a:rPr dirty="0"/>
              <a:t> split into farmland + </a:t>
            </a:r>
            <a:r>
              <a:rPr dirty="0" err="1"/>
              <a:t>grazingland</a:t>
            </a:r>
            <a:r>
              <a:rPr dirty="0"/>
              <a:t>, forest timber split into industrial roundwood + fuelwood, forest cover (severance tithe), plus ES items (mangroves, hydropower) under Other Substantive Rights, plus rollup WTs at each aggregation level. Cross-Border has 15 WTs: parent with 5 Hohfeldian-institutional children on each side, plus BEA bilateral sub-detail and Non-US FDI residual.</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Three-halo valuation is the core NC methodology. Halo 1 (V=</a:t>
            </a:r>
            <a:r>
              <a:rPr dirty="0" err="1"/>
              <a:t>PxQ</a:t>
            </a:r>
            <a:r>
              <a:rPr dirty="0"/>
              <a:t>) captures the annual flow -- what was extracted and sold at market prices. Halo 2 (V=</a:t>
            </a:r>
            <a:r>
              <a:rPr dirty="0" err="1"/>
              <a:t>PxR</a:t>
            </a:r>
            <a:r>
              <a:rPr dirty="0"/>
              <a:t>) captures the stock -- what remains underground at current prices, using USGS reserves data and backcast estimates. Halo 3 (Severance = 10% of V(R)) is the balance-sheet entry -- a universal placeholder for the sovereign's rent claim on natural resource extraction. The 10% rate is empirically calibrated: V(</a:t>
            </a:r>
            <a:r>
              <a:rPr dirty="0" err="1"/>
              <a:t>sev</a:t>
            </a:r>
            <a:r>
              <a:rPr dirty="0"/>
              <a:t>)/CWoN approximately equals 1.0 for oil across 1995-2020, meaning the severance estimate closely matches CWoN's rent-capitalization approach. CWoN itself uses a fourth halo (capitalized rents with T=20 or T=100) which FAND treats as cross-validation only. NC has exactly 5 branches under first-order claim-rights: fossil fuels, minerals, agricultural land, forest timber, fisheries. Mangroves and hydropower are NOT NC -- they are Privileges (liberty to use), not claim-rights (right to sever), and sit under Other Substantive Rights (1.1.2.2) with </a:t>
            </a:r>
            <a:r>
              <a:rPr dirty="0" err="1"/>
              <a:t>nc_aggregation</a:t>
            </a:r>
            <a:r>
              <a:rPr dirty="0"/>
              <a:t>=false.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SR and DM decompose the SI residual within CW. SR = max(SI, 0.20*CW) </a:t>
            </a:r>
            <a:r>
              <a:rPr lang="en-US" dirty="0"/>
              <a:t>implies </a:t>
            </a:r>
            <a:r>
              <a:rPr dirty="0"/>
              <a:t>every </a:t>
            </a:r>
            <a:r>
              <a:rPr lang="en-US" dirty="0"/>
              <a:t>economy requires some investment in how individuals</a:t>
            </a:r>
            <a:r>
              <a:rPr lang="en-US" baseline="0" dirty="0"/>
              <a:t> collaborate and compete </a:t>
            </a:r>
            <a:r>
              <a:rPr dirty="0"/>
              <a:t>society gets credit for positive institutional capital even when measured SI is negative (institutional drag). This is the balance-sheet analogue of TFP -- the unexplained productive capacity beyond physical and human capital. SR's children include 'Free' services of nature (ecosystem services like mangroves and hydropower, classified as Privileges under Hohfeldian framework, excluded from NC via </a:t>
            </a:r>
            <a:r>
              <a:rPr dirty="0" err="1"/>
              <a:t>nc_aggregation</a:t>
            </a:r>
            <a:r>
              <a:rPr dirty="0"/>
              <a:t>=false) and 'Free' trust infrastructure (institutional quality, rule of law, social cohesion). DM = max(0, 0.20*CW - SI) is the liability side -- the trust-infrastructure deficit. 96 of 194 countries have floor-binding DM in 2020, meaning their SI falls below 20% of CW. DM translates to a risk premium in advocacy terms: these are nations where private markets cannot find adequate collateral, and the Bank's intermediation -- pooling risk for places without it -- maps directly onto DM. The policy directive: invest in how people collaborate and compete before buying more produced assets.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Cross-border extends CW to Net Worth via two independent per-side stocks. </a:t>
            </a:r>
            <a:r>
              <a:rPr lang="en-US" dirty="0"/>
              <a:t>They are designed to show the Hohfeldian hierarchy that arises as one moves beyond the presumption of a sovereign internalizing all the complexities of differing views of government across nations—and even in many over time. The top tier, a nation’s own banking system, is supposed to internalize this through terms of its own Claim-Rights and Duties; effectively its Social License to Operate (SLO). Successive tiers consider other protocols for harmonizing jural correlatives, internationally. So, while they certainly reflect key differences in data sources, FAND views that a consequence of differing consequences for government decision making. </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FAND aims to go</a:t>
            </a:r>
            <a:r>
              <a:rPr lang="en-US" baseline="0" dirty="0"/>
              <a:t> finer grain in terms of units of </a:t>
            </a:r>
            <a:r>
              <a:rPr lang="en-US" baseline="0" dirty="0" err="1"/>
              <a:t>observantion</a:t>
            </a:r>
            <a:r>
              <a:rPr lang="en-US" baseline="0" dirty="0"/>
              <a:t>. Nations are incommensurate units of observation and analysis, except perhaps regarding UN votes. </a:t>
            </a:r>
            <a:r>
              <a:rPr lang="en-US" dirty="0"/>
              <a:t>A separate presentation gets into detail.</a:t>
            </a:r>
            <a:r>
              <a:rPr lang="en-US" baseline="0" dirty="0"/>
              <a:t> When fully developed, FAND will permit matched model testing with units of observation comprising roughly similar number of residents, so most are no larger than today’s median nation. For modelers, level of governance is than just another attribute they may consider or ignore.</a:t>
            </a:r>
          </a:p>
          <a:p>
            <a:endParaRPr lang="en-US" baseline="0" dirty="0"/>
          </a:p>
          <a:p>
            <a:r>
              <a:rPr lang="en-US" baseline="0" dirty="0"/>
              <a:t>Work has begun on a US proof of concept. A scoping exercise suggests adding EU nations next</a:t>
            </a:r>
          </a:p>
          <a:p>
            <a:r>
              <a:rPr lang="en-US" baseline="0" dirty="0"/>
              <a:t>.</a:t>
            </a:r>
          </a:p>
          <a:p>
            <a:r>
              <a:rPr lang="en-US" dirty="0"/>
              <a:t>The 38-fold measurement asymmetry between rich/sparse and poor/dense regions, discussed in a separate presentation, is the </a:t>
            </a:r>
            <a:r>
              <a:rPr lang="en-US"/>
              <a:t>deeper governance problem </a:t>
            </a:r>
            <a:r>
              <a:rPr lang="en-US" dirty="0"/>
              <a:t>FAND addresses: rich countries have sparse populations but rich data; poor countries have dense populations but sparse data. FAND provides the solution. However,</a:t>
            </a:r>
            <a:r>
              <a:rPr lang="en-US" baseline="0" dirty="0"/>
              <a:t> it must set the stage by showing how such a massive increase in granularity will be distilled for national decision makers.</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5549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5314096"/>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academic.oup.com/book/58042/chapter/477484576"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s://www.census.gov/programs-surveys/decennial-census/about/census-constitution.html" TargetMode="External"/><Relationship Id="rId4" Type="http://schemas.openxmlformats.org/officeDocument/2006/relationships/hyperlink" Target="https://www.eecis.udel.edu/~mills/gallery/gallery9.html"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C3D"/>
        </a:solidFill>
        <a:effectLst/>
      </p:bgPr>
    </p:bg>
    <p:spTree>
      <p:nvGrpSpPr>
        <p:cNvPr id="1" name=""/>
        <p:cNvGrpSpPr/>
        <p:nvPr/>
      </p:nvGrpSpPr>
      <p:grpSpPr>
        <a:xfrm>
          <a:off x="0" y="0"/>
          <a:ext cx="0" cy="0"/>
          <a:chOff x="0" y="0"/>
          <a:chExt cx="0" cy="0"/>
        </a:xfrm>
      </p:grpSpPr>
      <p:sp>
        <p:nvSpPr>
          <p:cNvPr id="2" name="TextBox 1"/>
          <p:cNvSpPr txBox="1"/>
          <p:nvPr/>
        </p:nvSpPr>
        <p:spPr>
          <a:xfrm>
            <a:off x="731520" y="914400"/>
            <a:ext cx="7680960" cy="1097280"/>
          </a:xfrm>
          <a:prstGeom prst="rect">
            <a:avLst/>
          </a:prstGeom>
          <a:noFill/>
        </p:spPr>
        <p:txBody>
          <a:bodyPr wrap="square">
            <a:spAutoFit/>
          </a:bodyPr>
          <a:lstStyle/>
          <a:p>
            <a:pPr algn="l">
              <a:spcAft>
                <a:spcPts val="0"/>
              </a:spcAft>
              <a:defRPr sz="5400" b="1" i="0">
                <a:solidFill>
                  <a:srgbClr val="FFFFFF"/>
                </a:solidFill>
                <a:latin typeface="Georgia"/>
              </a:defRPr>
            </a:pPr>
            <a:r>
              <a:t>FAND</a:t>
            </a:r>
          </a:p>
        </p:txBody>
      </p:sp>
      <p:sp>
        <p:nvSpPr>
          <p:cNvPr id="3" name="TextBox 2"/>
          <p:cNvSpPr txBox="1"/>
          <p:nvPr/>
        </p:nvSpPr>
        <p:spPr>
          <a:xfrm>
            <a:off x="731520" y="1920240"/>
            <a:ext cx="7680960" cy="548640"/>
          </a:xfrm>
          <a:prstGeom prst="rect">
            <a:avLst/>
          </a:prstGeom>
          <a:noFill/>
        </p:spPr>
        <p:txBody>
          <a:bodyPr wrap="square">
            <a:spAutoFit/>
          </a:bodyPr>
          <a:lstStyle/>
          <a:p>
            <a:pPr algn="l">
              <a:spcAft>
                <a:spcPts val="0"/>
              </a:spcAft>
              <a:defRPr sz="2000" b="0" i="1">
                <a:solidFill>
                  <a:srgbClr val="CADCFC"/>
                </a:solidFill>
                <a:latin typeface="Calibri"/>
              </a:defRPr>
            </a:pPr>
            <a:r>
              <a:t>First Agentic Navigator for Development</a:t>
            </a:r>
          </a:p>
        </p:txBody>
      </p:sp>
      <p:sp>
        <p:nvSpPr>
          <p:cNvPr id="4" name="TextBox 3"/>
          <p:cNvSpPr txBox="1"/>
          <p:nvPr/>
        </p:nvSpPr>
        <p:spPr>
          <a:xfrm>
            <a:off x="731520" y="2743200"/>
            <a:ext cx="7680960" cy="457200"/>
          </a:xfrm>
          <a:prstGeom prst="rect">
            <a:avLst/>
          </a:prstGeom>
          <a:noFill/>
        </p:spPr>
        <p:txBody>
          <a:bodyPr wrap="square">
            <a:spAutoFit/>
          </a:bodyPr>
          <a:lstStyle/>
          <a:p>
            <a:pPr algn="l">
              <a:spcAft>
                <a:spcPts val="0"/>
              </a:spcAft>
              <a:defRPr sz="1600" b="0" i="0">
                <a:solidFill>
                  <a:srgbClr val="F5A623"/>
                </a:solidFill>
                <a:latin typeface="Calibri"/>
              </a:defRPr>
            </a:pPr>
            <a:r>
              <a:t>TL1 National Overview</a:t>
            </a:r>
          </a:p>
        </p:txBody>
      </p:sp>
      <p:sp>
        <p:nvSpPr>
          <p:cNvPr id="5" name="TextBox 4"/>
          <p:cNvSpPr txBox="1"/>
          <p:nvPr/>
        </p:nvSpPr>
        <p:spPr>
          <a:xfrm>
            <a:off x="731520" y="4206240"/>
            <a:ext cx="7680960" cy="276999"/>
          </a:xfrm>
          <a:prstGeom prst="rect">
            <a:avLst/>
          </a:prstGeom>
          <a:noFill/>
        </p:spPr>
        <p:txBody>
          <a:bodyPr wrap="square">
            <a:spAutoFit/>
          </a:bodyPr>
          <a:lstStyle/>
          <a:p>
            <a:pPr>
              <a:defRPr sz="1200" b="0" i="0">
                <a:solidFill>
                  <a:srgbClr val="8E99A4"/>
                </a:solidFill>
                <a:latin typeface="Calibri"/>
              </a:defRPr>
            </a:pPr>
            <a:r>
              <a:rPr lang="en-US" dirty="0"/>
              <a:t>John C. O’Connor • </a:t>
            </a:r>
            <a:r>
              <a:rPr dirty="0"/>
              <a:t>OconEco  •  May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731520"/>
          </a:xfrm>
          <a:prstGeom prst="rect">
            <a:avLst/>
          </a:prstGeom>
          <a:noFill/>
        </p:spPr>
        <p:txBody>
          <a:bodyPr wrap="square">
            <a:spAutoFit/>
          </a:bodyPr>
          <a:lstStyle/>
          <a:p>
            <a:pPr algn="l">
              <a:spcAft>
                <a:spcPts val="0"/>
              </a:spcAft>
              <a:defRPr sz="3600" b="1" i="0">
                <a:solidFill>
                  <a:srgbClr val="1E2761"/>
                </a:solidFill>
                <a:latin typeface="Georgia"/>
              </a:defRPr>
            </a:pPr>
            <a:r>
              <a:t>What Is a Country Worth?</a:t>
            </a:r>
          </a:p>
        </p:txBody>
      </p:sp>
      <p:sp>
        <p:nvSpPr>
          <p:cNvPr id="3" name="TextBox 2"/>
          <p:cNvSpPr txBox="1"/>
          <p:nvPr/>
        </p:nvSpPr>
        <p:spPr>
          <a:xfrm>
            <a:off x="731520" y="1188720"/>
            <a:ext cx="7680960" cy="738664"/>
          </a:xfrm>
          <a:prstGeom prst="rect">
            <a:avLst/>
          </a:prstGeom>
          <a:noFill/>
        </p:spPr>
        <p:txBody>
          <a:bodyPr wrap="square">
            <a:spAutoFit/>
          </a:bodyPr>
          <a:lstStyle/>
          <a:p>
            <a:pPr algn="l">
              <a:spcAft>
                <a:spcPts val="0"/>
              </a:spcAft>
              <a:defRPr sz="1400" b="0" i="0">
                <a:solidFill>
                  <a:srgbClr val="2C3E50"/>
                </a:solidFill>
                <a:latin typeface="Calibri"/>
              </a:defRPr>
            </a:pPr>
            <a:r>
              <a:rPr dirty="0"/>
              <a:t>The 1995 MEP asked this question. Thirty years later, FAND provides a computable answer for every country on Earth — a balance sheet built from primary sources, </a:t>
            </a:r>
            <a:r>
              <a:rPr lang="en-US" dirty="0"/>
              <a:t>including those behind</a:t>
            </a:r>
            <a:r>
              <a:rPr dirty="0"/>
              <a:t> the World Bank’s Changing Wealth of Nations.</a:t>
            </a:r>
          </a:p>
        </p:txBody>
      </p:sp>
      <p:sp>
        <p:nvSpPr>
          <p:cNvPr id="4" name="Rectangle 3"/>
          <p:cNvSpPr/>
          <p:nvPr/>
        </p:nvSpPr>
        <p:spPr>
          <a:xfrm>
            <a:off x="731520" y="2377440"/>
            <a:ext cx="2468880" cy="20116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560320"/>
            <a:ext cx="2468880" cy="914400"/>
          </a:xfrm>
          <a:prstGeom prst="rect">
            <a:avLst/>
          </a:prstGeom>
          <a:noFill/>
        </p:spPr>
        <p:txBody>
          <a:bodyPr wrap="square">
            <a:spAutoFit/>
          </a:bodyPr>
          <a:lstStyle/>
          <a:p>
            <a:pPr algn="ctr">
              <a:spcAft>
                <a:spcPts val="0"/>
              </a:spcAft>
              <a:defRPr sz="4800" b="1" i="0">
                <a:solidFill>
                  <a:srgbClr val="2F80ED"/>
                </a:solidFill>
                <a:latin typeface="Georgia"/>
              </a:defRPr>
            </a:pPr>
            <a:r>
              <a:t>207</a:t>
            </a:r>
          </a:p>
        </p:txBody>
      </p:sp>
      <p:sp>
        <p:nvSpPr>
          <p:cNvPr id="6" name="TextBox 5"/>
          <p:cNvSpPr txBox="1"/>
          <p:nvPr/>
        </p:nvSpPr>
        <p:spPr>
          <a:xfrm>
            <a:off x="731520" y="3474720"/>
            <a:ext cx="2468880" cy="461665"/>
          </a:xfrm>
          <a:prstGeom prst="rect">
            <a:avLst/>
          </a:prstGeom>
          <a:noFill/>
        </p:spPr>
        <p:txBody>
          <a:bodyPr wrap="square">
            <a:spAutoFit/>
          </a:bodyPr>
          <a:lstStyle/>
          <a:p>
            <a:pPr algn="ctr">
              <a:spcAft>
                <a:spcPts val="0"/>
              </a:spcAft>
              <a:defRPr sz="1200" b="0" i="0">
                <a:solidFill>
                  <a:srgbClr val="2C3E50"/>
                </a:solidFill>
                <a:latin typeface="Calibri"/>
              </a:defRPr>
            </a:pPr>
            <a:r>
              <a:rPr dirty="0"/>
              <a:t>Countries with</a:t>
            </a:r>
            <a:br>
              <a:rPr dirty="0"/>
            </a:br>
            <a:r>
              <a:rPr dirty="0"/>
              <a:t>Com</a:t>
            </a:r>
            <a:r>
              <a:rPr lang="en-US" dirty="0"/>
              <a:t>mon</a:t>
            </a:r>
            <a:r>
              <a:rPr dirty="0"/>
              <a:t>Wealth</a:t>
            </a:r>
          </a:p>
        </p:txBody>
      </p:sp>
      <p:sp>
        <p:nvSpPr>
          <p:cNvPr id="7" name="Rectangle 6"/>
          <p:cNvSpPr/>
          <p:nvPr/>
        </p:nvSpPr>
        <p:spPr>
          <a:xfrm>
            <a:off x="3474720" y="2377440"/>
            <a:ext cx="2468880" cy="20116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0" y="2560320"/>
            <a:ext cx="2468880" cy="914400"/>
          </a:xfrm>
          <a:prstGeom prst="rect">
            <a:avLst/>
          </a:prstGeom>
          <a:noFill/>
        </p:spPr>
        <p:txBody>
          <a:bodyPr wrap="square">
            <a:spAutoFit/>
          </a:bodyPr>
          <a:lstStyle/>
          <a:p>
            <a:pPr algn="ctr">
              <a:spcAft>
                <a:spcPts val="0"/>
              </a:spcAft>
              <a:defRPr sz="4800" b="1" i="0">
                <a:solidFill>
                  <a:srgbClr val="27AE60"/>
                </a:solidFill>
                <a:latin typeface="Georgia"/>
              </a:defRPr>
            </a:pPr>
            <a:r>
              <a:t>188</a:t>
            </a:r>
          </a:p>
        </p:txBody>
      </p:sp>
      <p:sp>
        <p:nvSpPr>
          <p:cNvPr id="9" name="TextBox 8"/>
          <p:cNvSpPr txBox="1"/>
          <p:nvPr/>
        </p:nvSpPr>
        <p:spPr>
          <a:xfrm>
            <a:off x="3474720" y="3474720"/>
            <a:ext cx="2468880" cy="731520"/>
          </a:xfrm>
          <a:prstGeom prst="rect">
            <a:avLst/>
          </a:prstGeom>
          <a:noFill/>
        </p:spPr>
        <p:txBody>
          <a:bodyPr wrap="square">
            <a:spAutoFit/>
          </a:bodyPr>
          <a:lstStyle/>
          <a:p>
            <a:pPr algn="ctr">
              <a:spcAft>
                <a:spcPts val="0"/>
              </a:spcAft>
              <a:defRPr sz="1200" b="0" i="0">
                <a:solidFill>
                  <a:srgbClr val="2C3E50"/>
                </a:solidFill>
                <a:latin typeface="Calibri"/>
              </a:defRPr>
            </a:pPr>
            <a:r>
              <a:t>What Hierarchy</a:t>
            </a:r>
            <a:br/>
            <a:r>
              <a:t>nodes (TL1)</a:t>
            </a:r>
          </a:p>
        </p:txBody>
      </p:sp>
      <p:sp>
        <p:nvSpPr>
          <p:cNvPr id="10" name="Rectangle 9"/>
          <p:cNvSpPr/>
          <p:nvPr/>
        </p:nvSpPr>
        <p:spPr>
          <a:xfrm>
            <a:off x="6217920" y="2377440"/>
            <a:ext cx="2468880" cy="20116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0" y="2560320"/>
            <a:ext cx="2468880" cy="914400"/>
          </a:xfrm>
          <a:prstGeom prst="rect">
            <a:avLst/>
          </a:prstGeom>
          <a:noFill/>
        </p:spPr>
        <p:txBody>
          <a:bodyPr wrap="square">
            <a:spAutoFit/>
          </a:bodyPr>
          <a:lstStyle/>
          <a:p>
            <a:pPr algn="ctr">
              <a:spcAft>
                <a:spcPts val="0"/>
              </a:spcAft>
              <a:defRPr sz="4800" b="1" i="0">
                <a:solidFill>
                  <a:srgbClr val="F5A623"/>
                </a:solidFill>
                <a:latin typeface="Georgia"/>
              </a:defRPr>
            </a:pPr>
            <a:r>
              <a:t>70</a:t>
            </a:r>
          </a:p>
        </p:txBody>
      </p:sp>
      <p:sp>
        <p:nvSpPr>
          <p:cNvPr id="12" name="TextBox 11"/>
          <p:cNvSpPr txBox="1"/>
          <p:nvPr/>
        </p:nvSpPr>
        <p:spPr>
          <a:xfrm>
            <a:off x="6217920" y="3474720"/>
            <a:ext cx="2468880" cy="461665"/>
          </a:xfrm>
          <a:prstGeom prst="rect">
            <a:avLst/>
          </a:prstGeom>
          <a:noFill/>
        </p:spPr>
        <p:txBody>
          <a:bodyPr wrap="square">
            <a:spAutoFit/>
          </a:bodyPr>
          <a:lstStyle/>
          <a:p>
            <a:pPr algn="ctr">
              <a:spcAft>
                <a:spcPts val="0"/>
              </a:spcAft>
              <a:defRPr sz="1200" b="0" i="0">
                <a:solidFill>
                  <a:srgbClr val="2C3E50"/>
                </a:solidFill>
                <a:latin typeface="Calibri"/>
              </a:defRPr>
            </a:pPr>
            <a:r>
              <a:rPr dirty="0"/>
              <a:t>Constructs with</a:t>
            </a:r>
            <a:br>
              <a:rPr dirty="0"/>
            </a:br>
            <a:r>
              <a:rPr lang="en-US" dirty="0"/>
              <a:t>actual</a:t>
            </a:r>
            <a:r>
              <a:rPr dirty="0"/>
              <a:t>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C3D"/>
        </a:solidFill>
        <a:effectLst/>
      </p:bgPr>
    </p:bg>
    <p:spTree>
      <p:nvGrpSpPr>
        <p:cNvPr id="1" name=""/>
        <p:cNvGrpSpPr/>
        <p:nvPr/>
      </p:nvGrpSpPr>
      <p:grpSpPr>
        <a:xfrm>
          <a:off x="0" y="0"/>
          <a:ext cx="0" cy="0"/>
          <a:chOff x="0" y="0"/>
          <a:chExt cx="0" cy="0"/>
        </a:xfrm>
      </p:grpSpPr>
      <p:sp>
        <p:nvSpPr>
          <p:cNvPr id="2" name="TextBox 1"/>
          <p:cNvSpPr txBox="1"/>
          <p:nvPr/>
        </p:nvSpPr>
        <p:spPr>
          <a:xfrm>
            <a:off x="731520" y="914400"/>
            <a:ext cx="7680960" cy="1463040"/>
          </a:xfrm>
          <a:prstGeom prst="rect">
            <a:avLst/>
          </a:prstGeom>
          <a:noFill/>
        </p:spPr>
        <p:txBody>
          <a:bodyPr wrap="square">
            <a:spAutoFit/>
          </a:bodyPr>
          <a:lstStyle/>
          <a:p>
            <a:pPr algn="l">
              <a:spcAft>
                <a:spcPts val="0"/>
              </a:spcAft>
              <a:defRPr sz="3600" b="1" i="0">
                <a:solidFill>
                  <a:srgbClr val="FFFFFF"/>
                </a:solidFill>
                <a:latin typeface="Georgia"/>
              </a:defRPr>
            </a:pPr>
            <a:r>
              <a:rPr dirty="0"/>
              <a:t>A Source of Prosperity,</a:t>
            </a:r>
            <a:br>
              <a:rPr dirty="0"/>
            </a:br>
            <a:r>
              <a:rPr dirty="0"/>
              <a:t>Well-being, Joy</a:t>
            </a:r>
          </a:p>
        </p:txBody>
      </p:sp>
      <p:sp>
        <p:nvSpPr>
          <p:cNvPr id="3" name="TextBox 2"/>
          <p:cNvSpPr txBox="1"/>
          <p:nvPr/>
        </p:nvSpPr>
        <p:spPr>
          <a:xfrm>
            <a:off x="731520" y="2377440"/>
            <a:ext cx="7680960" cy="457200"/>
          </a:xfrm>
          <a:prstGeom prst="rect">
            <a:avLst/>
          </a:prstGeom>
          <a:noFill/>
        </p:spPr>
        <p:txBody>
          <a:bodyPr wrap="square">
            <a:spAutoFit/>
          </a:bodyPr>
          <a:lstStyle/>
          <a:p>
            <a:pPr algn="l">
              <a:spcAft>
                <a:spcPts val="0"/>
              </a:spcAft>
              <a:defRPr sz="1400" b="0" i="1">
                <a:solidFill>
                  <a:srgbClr val="F5A623"/>
                </a:solidFill>
                <a:latin typeface="Calibri"/>
              </a:defRPr>
            </a:pPr>
            <a:r>
              <a:rPr dirty="0"/>
              <a:t>Commonwealth as wēle — Middle English</a:t>
            </a:r>
          </a:p>
        </p:txBody>
      </p:sp>
      <p:sp>
        <p:nvSpPr>
          <p:cNvPr id="4" name="TextBox 3"/>
          <p:cNvSpPr txBox="1"/>
          <p:nvPr/>
        </p:nvSpPr>
        <p:spPr>
          <a:xfrm>
            <a:off x="731520" y="3108960"/>
            <a:ext cx="7680960" cy="1092607"/>
          </a:xfrm>
          <a:prstGeom prst="rect">
            <a:avLst/>
          </a:prstGeom>
          <a:noFill/>
        </p:spPr>
        <p:txBody>
          <a:bodyPr wrap="square">
            <a:spAutoFit/>
          </a:bodyPr>
          <a:lstStyle/>
          <a:p>
            <a:pPr algn="l">
              <a:spcAft>
                <a:spcPts val="0"/>
              </a:spcAft>
              <a:defRPr sz="1300" b="0" i="0">
                <a:solidFill>
                  <a:srgbClr val="CADCFC"/>
                </a:solidFill>
                <a:latin typeface="Calibri"/>
              </a:defRPr>
            </a:pPr>
            <a:r>
              <a:rPr dirty="0"/>
              <a:t>FAND </a:t>
            </a:r>
            <a:r>
              <a:rPr lang="en-US" dirty="0"/>
              <a:t>considers all </a:t>
            </a:r>
            <a:r>
              <a:rPr lang="en-US" b="1" dirty="0">
                <a:solidFill>
                  <a:schemeClr val="bg1"/>
                </a:solidFill>
                <a:hlinkClick r:id="rId3">
                  <a:extLst>
                    <a:ext uri="{A12FA001-AC4F-418D-AE19-62706E023703}">
                      <ahyp:hlinkClr xmlns:ahyp="http://schemas.microsoft.com/office/drawing/2018/hyperlinkcolor" val="tx"/>
                    </a:ext>
                  </a:extLst>
                </a:hlinkClick>
              </a:rPr>
              <a:t>Hohfeldian jural correlates </a:t>
            </a:r>
            <a:r>
              <a:rPr lang="en-US" dirty="0"/>
              <a:t>and </a:t>
            </a:r>
            <a:r>
              <a:rPr dirty="0"/>
              <a:t>reverses the </a:t>
            </a:r>
            <a:r>
              <a:rPr b="1" dirty="0">
                <a:solidFill>
                  <a:schemeClr val="bg1"/>
                </a:solidFill>
                <a:hlinkClick r:id="rId4">
                  <a:extLst>
                    <a:ext uri="{A12FA001-AC4F-418D-AE19-62706E023703}">
                      <ahyp:hlinkClr xmlns:ahyp="http://schemas.microsoft.com/office/drawing/2018/hyperlinkcolor" val="tx"/>
                    </a:ext>
                  </a:extLst>
                </a:hlinkClick>
              </a:rPr>
              <a:t>Hollerith Pivot</a:t>
            </a:r>
            <a:r>
              <a:rPr lang="en-US" dirty="0"/>
              <a:t>. Hohfeld means FAND recognizes and values more than Claim-Rights and Duties. Hollerith made</a:t>
            </a:r>
            <a:r>
              <a:rPr dirty="0"/>
              <a:t> qua</a:t>
            </a:r>
            <a:r>
              <a:rPr lang="en-US" dirty="0"/>
              <a:t>ntita</a:t>
            </a:r>
            <a:r>
              <a:rPr dirty="0"/>
              <a:t>tive</a:t>
            </a:r>
            <a:r>
              <a:rPr lang="en-US" dirty="0"/>
              <a:t> tabulation so </a:t>
            </a:r>
            <a:r>
              <a:rPr dirty="0"/>
              <a:t>cheap </a:t>
            </a:r>
            <a:r>
              <a:rPr lang="en-US" dirty="0"/>
              <a:t>(starting with the US 1890 Census) that </a:t>
            </a:r>
            <a:r>
              <a:rPr dirty="0"/>
              <a:t>qua</a:t>
            </a:r>
            <a:r>
              <a:rPr lang="en-US" dirty="0"/>
              <a:t>litative</a:t>
            </a:r>
            <a:r>
              <a:rPr dirty="0"/>
              <a:t> </a:t>
            </a:r>
            <a:r>
              <a:rPr lang="en-US" dirty="0"/>
              <a:t>assessment became a luxury good</a:t>
            </a:r>
            <a:r>
              <a:rPr dirty="0"/>
              <a:t>.</a:t>
            </a:r>
            <a:r>
              <a:rPr lang="en-US" dirty="0"/>
              <a:t> Today’s Information Technology (IT) let’s even a solo researcher get back to the vision in the US Constitution, of “enumeration” as a tool  of empowerment of the governed over their government </a:t>
            </a:r>
            <a:r>
              <a:rPr lang="en-US" dirty="0">
                <a:solidFill>
                  <a:schemeClr val="bg1"/>
                </a:solidFill>
              </a:rPr>
              <a:t>(see </a:t>
            </a:r>
            <a:r>
              <a:rPr lang="en-US" b="1" dirty="0">
                <a:solidFill>
                  <a:schemeClr val="bg1"/>
                </a:solidFill>
                <a:hlinkClick r:id="rId5">
                  <a:extLst>
                    <a:ext uri="{A12FA001-AC4F-418D-AE19-62706E023703}">
                      <ahyp:hlinkClr xmlns:ahyp="http://schemas.microsoft.com/office/drawing/2018/hyperlinkcolor" val="tx"/>
                    </a:ext>
                  </a:extLst>
                </a:hlinkClick>
              </a:rPr>
              <a:t>Census in the Constitution</a:t>
            </a:r>
            <a:r>
              <a:rPr lang="en-US" dirty="0">
                <a:solidFill>
                  <a:schemeClr val="bg1"/>
                </a:solidFill>
              </a:rPr>
              <a:t>)</a:t>
            </a:r>
            <a:endParaRPr dirty="0">
              <a:solidFill>
                <a:schemeClr val="bg1"/>
              </a:solidFill>
            </a:endParaRPr>
          </a:p>
        </p:txBody>
      </p:sp>
      <p:sp>
        <p:nvSpPr>
          <p:cNvPr id="5" name="TextBox 4"/>
          <p:cNvSpPr txBox="1"/>
          <p:nvPr/>
        </p:nvSpPr>
        <p:spPr>
          <a:xfrm>
            <a:off x="731520" y="4389120"/>
            <a:ext cx="7680960" cy="365760"/>
          </a:xfrm>
          <a:prstGeom prst="rect">
            <a:avLst/>
          </a:prstGeom>
          <a:noFill/>
        </p:spPr>
        <p:txBody>
          <a:bodyPr wrap="square">
            <a:spAutoFit/>
          </a:bodyPr>
          <a:lstStyle/>
          <a:p>
            <a:pPr algn="l">
              <a:spcAft>
                <a:spcPts val="0"/>
              </a:spcAft>
              <a:defRPr sz="1200" b="0" i="0">
                <a:solidFill>
                  <a:srgbClr val="8E99A4"/>
                </a:solidFill>
                <a:latin typeface="Calibri"/>
              </a:defRPr>
            </a:pPr>
            <a:r>
              <a:t>OconEco  •  oconeco.com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584775"/>
          </a:xfrm>
          <a:prstGeom prst="rect">
            <a:avLst/>
          </a:prstGeom>
          <a:noFill/>
        </p:spPr>
        <p:txBody>
          <a:bodyPr wrap="square">
            <a:spAutoFit/>
          </a:bodyPr>
          <a:lstStyle/>
          <a:p>
            <a:pPr algn="l">
              <a:spcAft>
                <a:spcPts val="0"/>
              </a:spcAft>
              <a:defRPr sz="3200" b="1" i="0">
                <a:solidFill>
                  <a:srgbClr val="FFFFFF"/>
                </a:solidFill>
                <a:latin typeface="Georgia"/>
              </a:defRPr>
            </a:pPr>
            <a:r>
              <a:rPr dirty="0"/>
              <a:t>Balance-Sheet </a:t>
            </a:r>
            <a:r>
              <a:rPr lang="en-US" dirty="0"/>
              <a:t>Compilation</a:t>
            </a:r>
            <a:endParaRPr dirty="0"/>
          </a:p>
        </p:txBody>
      </p:sp>
      <p:sp>
        <p:nvSpPr>
          <p:cNvPr id="3" name="Rectangle 2"/>
          <p:cNvSpPr/>
          <p:nvPr/>
        </p:nvSpPr>
        <p:spPr>
          <a:xfrm>
            <a:off x="731520" y="1097280"/>
            <a:ext cx="7680960" cy="822960"/>
          </a:xfrm>
          <a:prstGeom prst="rect">
            <a:avLst/>
          </a:prstGeom>
          <a:solidFill>
            <a:srgbClr val="14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097280"/>
            <a:ext cx="3657600" cy="430887"/>
          </a:xfrm>
          <a:prstGeom prst="rect">
            <a:avLst/>
          </a:prstGeom>
          <a:noFill/>
        </p:spPr>
        <p:txBody>
          <a:bodyPr wrap="square">
            <a:spAutoFit/>
          </a:bodyPr>
          <a:lstStyle/>
          <a:p>
            <a:pPr algn="l">
              <a:spcAft>
                <a:spcPts val="0"/>
              </a:spcAft>
              <a:defRPr sz="2200" b="1" i="0">
                <a:solidFill>
                  <a:srgbClr val="F5A623"/>
                </a:solidFill>
                <a:latin typeface="Consolas"/>
              </a:defRPr>
            </a:pPr>
            <a:r>
              <a:rPr dirty="0"/>
              <a:t>CW =  PA + NC  + RW</a:t>
            </a:r>
          </a:p>
        </p:txBody>
      </p:sp>
      <p:sp>
        <p:nvSpPr>
          <p:cNvPr id="5" name="TextBox 4"/>
          <p:cNvSpPr txBox="1"/>
          <p:nvPr/>
        </p:nvSpPr>
        <p:spPr>
          <a:xfrm>
            <a:off x="4754880" y="1097280"/>
            <a:ext cx="3474720" cy="430887"/>
          </a:xfrm>
          <a:prstGeom prst="rect">
            <a:avLst/>
          </a:prstGeom>
          <a:noFill/>
        </p:spPr>
        <p:txBody>
          <a:bodyPr wrap="square">
            <a:spAutoFit/>
          </a:bodyPr>
          <a:lstStyle/>
          <a:p>
            <a:pPr algn="l">
              <a:spcAft>
                <a:spcPts val="0"/>
              </a:spcAft>
              <a:defRPr sz="1100" b="0" i="0">
                <a:solidFill>
                  <a:srgbClr val="CADCFC"/>
                </a:solidFill>
                <a:latin typeface="Calibri"/>
              </a:defRPr>
            </a:pPr>
            <a:r>
              <a:rPr dirty="0"/>
              <a:t>Com</a:t>
            </a:r>
            <a:r>
              <a:rPr lang="en-US" dirty="0"/>
              <a:t>mon</a:t>
            </a:r>
            <a:r>
              <a:rPr dirty="0"/>
              <a:t>Wealth = Produced Assets + Natural Capital + Residual</a:t>
            </a:r>
            <a:r>
              <a:rPr lang="en-US" dirty="0"/>
              <a:t> Wealth</a:t>
            </a:r>
            <a:endParaRPr dirty="0"/>
          </a:p>
        </p:txBody>
      </p:sp>
      <p:sp>
        <p:nvSpPr>
          <p:cNvPr id="6" name="Rectangle 5"/>
          <p:cNvSpPr/>
          <p:nvPr/>
        </p:nvSpPr>
        <p:spPr>
          <a:xfrm>
            <a:off x="731520" y="2057400"/>
            <a:ext cx="7680960" cy="822960"/>
          </a:xfrm>
          <a:prstGeom prst="rect">
            <a:avLst/>
          </a:prstGeom>
          <a:solidFill>
            <a:srgbClr val="14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057400"/>
            <a:ext cx="3657600" cy="430887"/>
          </a:xfrm>
          <a:prstGeom prst="rect">
            <a:avLst/>
          </a:prstGeom>
          <a:noFill/>
        </p:spPr>
        <p:txBody>
          <a:bodyPr wrap="square">
            <a:spAutoFit/>
          </a:bodyPr>
          <a:lstStyle/>
          <a:p>
            <a:pPr algn="l">
              <a:spcAft>
                <a:spcPts val="0"/>
              </a:spcAft>
              <a:defRPr sz="2200" b="1" i="0">
                <a:solidFill>
                  <a:srgbClr val="F5A623"/>
                </a:solidFill>
                <a:latin typeface="Consolas"/>
              </a:defRPr>
            </a:pPr>
            <a:r>
              <a:rPr dirty="0"/>
              <a:t>RW =  HR + </a:t>
            </a:r>
            <a:r>
              <a:rPr lang="en-US" dirty="0"/>
              <a:t>SI</a:t>
            </a:r>
            <a:endParaRPr dirty="0"/>
          </a:p>
        </p:txBody>
      </p:sp>
      <p:sp>
        <p:nvSpPr>
          <p:cNvPr id="8" name="TextBox 7"/>
          <p:cNvSpPr txBox="1"/>
          <p:nvPr/>
        </p:nvSpPr>
        <p:spPr>
          <a:xfrm>
            <a:off x="4754880" y="2057400"/>
            <a:ext cx="3474720" cy="769441"/>
          </a:xfrm>
          <a:prstGeom prst="rect">
            <a:avLst/>
          </a:prstGeom>
          <a:noFill/>
        </p:spPr>
        <p:txBody>
          <a:bodyPr wrap="square">
            <a:spAutoFit/>
          </a:bodyPr>
          <a:lstStyle/>
          <a:p>
            <a:pPr algn="l">
              <a:spcAft>
                <a:spcPts val="0"/>
              </a:spcAft>
              <a:defRPr sz="1100" b="0" i="0">
                <a:solidFill>
                  <a:srgbClr val="CADCFC"/>
                </a:solidFill>
                <a:latin typeface="Calibri"/>
              </a:defRPr>
            </a:pPr>
            <a:r>
              <a:rPr lang="en-US" dirty="0"/>
              <a:t>RW</a:t>
            </a:r>
            <a:r>
              <a:rPr dirty="0"/>
              <a:t> = Human Resources + </a:t>
            </a:r>
            <a:r>
              <a:rPr lang="en-US" dirty="0"/>
              <a:t>Social Infrastructure</a:t>
            </a:r>
          </a:p>
          <a:p>
            <a:pPr algn="l">
              <a:spcAft>
                <a:spcPts val="0"/>
              </a:spcAft>
              <a:defRPr sz="1100" b="0" i="0">
                <a:solidFill>
                  <a:srgbClr val="CADCFC"/>
                </a:solidFill>
                <a:latin typeface="Calibri"/>
              </a:defRPr>
            </a:pPr>
            <a:r>
              <a:rPr lang="en-US" dirty="0"/>
              <a:t>HR is investing in individuals, like health and education</a:t>
            </a:r>
          </a:p>
          <a:p>
            <a:pPr algn="l">
              <a:spcAft>
                <a:spcPts val="0"/>
              </a:spcAft>
              <a:defRPr sz="1100" b="0" i="0">
                <a:solidFill>
                  <a:srgbClr val="CADCFC"/>
                </a:solidFill>
                <a:latin typeface="Calibri"/>
              </a:defRPr>
            </a:pPr>
            <a:r>
              <a:rPr lang="en-US" dirty="0"/>
              <a:t>SI is investing in how people collaborate and compete, like legal systems, religion,  and social norms.</a:t>
            </a:r>
            <a:endParaRPr dirty="0"/>
          </a:p>
        </p:txBody>
      </p:sp>
      <p:sp>
        <p:nvSpPr>
          <p:cNvPr id="9" name="Rectangle 8"/>
          <p:cNvSpPr/>
          <p:nvPr/>
        </p:nvSpPr>
        <p:spPr>
          <a:xfrm>
            <a:off x="731520" y="3017520"/>
            <a:ext cx="7680960" cy="822960"/>
          </a:xfrm>
          <a:prstGeom prst="rect">
            <a:avLst/>
          </a:prstGeom>
          <a:solidFill>
            <a:srgbClr val="14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a:t>
            </a:r>
            <a:endParaRPr dirty="0"/>
          </a:p>
        </p:txBody>
      </p:sp>
      <p:sp>
        <p:nvSpPr>
          <p:cNvPr id="10" name="TextBox 9"/>
          <p:cNvSpPr txBox="1"/>
          <p:nvPr/>
        </p:nvSpPr>
        <p:spPr>
          <a:xfrm>
            <a:off x="914400" y="3017520"/>
            <a:ext cx="3657600" cy="430887"/>
          </a:xfrm>
          <a:prstGeom prst="rect">
            <a:avLst/>
          </a:prstGeom>
          <a:noFill/>
        </p:spPr>
        <p:txBody>
          <a:bodyPr wrap="square">
            <a:spAutoFit/>
          </a:bodyPr>
          <a:lstStyle/>
          <a:p>
            <a:pPr algn="l">
              <a:spcAft>
                <a:spcPts val="0"/>
              </a:spcAft>
              <a:defRPr sz="2200" b="1" i="0">
                <a:solidFill>
                  <a:srgbClr val="F5A623"/>
                </a:solidFill>
                <a:latin typeface="Consolas"/>
              </a:defRPr>
            </a:pPr>
            <a:r>
              <a:rPr lang="en-US" dirty="0"/>
              <a:t>SI</a:t>
            </a:r>
            <a:r>
              <a:rPr dirty="0"/>
              <a:t> = </a:t>
            </a:r>
            <a:r>
              <a:rPr lang="en-US" dirty="0"/>
              <a:t>OSR</a:t>
            </a:r>
            <a:r>
              <a:rPr dirty="0"/>
              <a:t>  − DM</a:t>
            </a:r>
          </a:p>
        </p:txBody>
      </p:sp>
      <p:sp>
        <p:nvSpPr>
          <p:cNvPr id="11" name="TextBox 10"/>
          <p:cNvSpPr txBox="1"/>
          <p:nvPr/>
        </p:nvSpPr>
        <p:spPr>
          <a:xfrm>
            <a:off x="4754880" y="3032106"/>
            <a:ext cx="3474720" cy="938719"/>
          </a:xfrm>
          <a:prstGeom prst="rect">
            <a:avLst/>
          </a:prstGeom>
          <a:noFill/>
        </p:spPr>
        <p:txBody>
          <a:bodyPr wrap="square">
            <a:spAutoFit/>
          </a:bodyPr>
          <a:lstStyle/>
          <a:p>
            <a:pPr>
              <a:defRPr sz="1100" b="0" i="0">
                <a:solidFill>
                  <a:srgbClr val="CADCFC"/>
                </a:solidFill>
                <a:latin typeface="Calibri"/>
              </a:defRPr>
            </a:pPr>
            <a:r>
              <a:rPr dirty="0"/>
              <a:t>S</a:t>
            </a:r>
            <a:r>
              <a:rPr lang="en-US" dirty="0"/>
              <a:t>I</a:t>
            </a:r>
            <a:r>
              <a:rPr dirty="0"/>
              <a:t> </a:t>
            </a:r>
            <a:r>
              <a:rPr lang="en-US" dirty="0"/>
              <a:t>is split  to suggest lack of Claims-Rights raises impairment risks and recovery costs for a place. Like those IFRS/FASB expects businesses to assess. Not investing a minimum in SI, or Deferred Maintenance, is </a:t>
            </a:r>
            <a:r>
              <a:rPr lang="en-US" dirty="0" err="1"/>
              <a:t>flagge</a:t>
            </a:r>
            <a:r>
              <a:rPr lang="en-US" dirty="0"/>
              <a:t> as a liability</a:t>
            </a:r>
            <a:endParaRPr dirty="0"/>
          </a:p>
        </p:txBody>
      </p:sp>
      <p:sp>
        <p:nvSpPr>
          <p:cNvPr id="12" name="Rectangle 11"/>
          <p:cNvSpPr/>
          <p:nvPr/>
        </p:nvSpPr>
        <p:spPr>
          <a:xfrm>
            <a:off x="731520" y="3977640"/>
            <a:ext cx="7680960" cy="822960"/>
          </a:xfrm>
          <a:prstGeom prst="rect">
            <a:avLst/>
          </a:prstGeom>
          <a:solidFill>
            <a:srgbClr val="14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977640"/>
            <a:ext cx="3657600" cy="430887"/>
          </a:xfrm>
          <a:prstGeom prst="rect">
            <a:avLst/>
          </a:prstGeom>
          <a:noFill/>
        </p:spPr>
        <p:txBody>
          <a:bodyPr wrap="square">
            <a:spAutoFit/>
          </a:bodyPr>
          <a:lstStyle/>
          <a:p>
            <a:pPr algn="l">
              <a:spcAft>
                <a:spcPts val="0"/>
              </a:spcAft>
              <a:defRPr sz="2200" b="1" i="0">
                <a:solidFill>
                  <a:srgbClr val="F5A623"/>
                </a:solidFill>
                <a:latin typeface="Consolas"/>
              </a:defRPr>
            </a:pPr>
            <a:r>
              <a:rPr dirty="0"/>
              <a:t>NW = CW  + CBA  − CBL</a:t>
            </a:r>
          </a:p>
        </p:txBody>
      </p:sp>
      <p:sp>
        <p:nvSpPr>
          <p:cNvPr id="14" name="TextBox 13"/>
          <p:cNvSpPr txBox="1"/>
          <p:nvPr/>
        </p:nvSpPr>
        <p:spPr>
          <a:xfrm>
            <a:off x="4754880" y="3977640"/>
            <a:ext cx="3474720" cy="430887"/>
          </a:xfrm>
          <a:prstGeom prst="rect">
            <a:avLst/>
          </a:prstGeom>
          <a:noFill/>
        </p:spPr>
        <p:txBody>
          <a:bodyPr wrap="square">
            <a:spAutoFit/>
          </a:bodyPr>
          <a:lstStyle/>
          <a:p>
            <a:pPr algn="l">
              <a:spcAft>
                <a:spcPts val="0"/>
              </a:spcAft>
              <a:defRPr sz="1100" b="0" i="0">
                <a:solidFill>
                  <a:srgbClr val="CADCFC"/>
                </a:solidFill>
                <a:latin typeface="Calibri"/>
              </a:defRPr>
            </a:pPr>
            <a:r>
              <a:rPr dirty="0"/>
              <a:t>Net Worth ad</a:t>
            </a:r>
            <a:r>
              <a:rPr lang="en-US" dirty="0"/>
              <a:t>justs for nonresident ownership or control, via </a:t>
            </a:r>
            <a:r>
              <a:rPr dirty="0"/>
              <a:t>Cross-Border Assets minus Liabilities</a:t>
            </a:r>
          </a:p>
        </p:txBody>
      </p:sp>
      <p:sp>
        <p:nvSpPr>
          <p:cNvPr id="15" name="TextBox 14"/>
          <p:cNvSpPr txBox="1"/>
          <p:nvPr/>
        </p:nvSpPr>
        <p:spPr>
          <a:xfrm>
            <a:off x="457200" y="4663440"/>
            <a:ext cx="8229600" cy="365760"/>
          </a:xfrm>
          <a:prstGeom prst="rect">
            <a:avLst/>
          </a:prstGeom>
          <a:noFill/>
        </p:spPr>
        <p:txBody>
          <a:bodyPr wrap="square">
            <a:spAutoFit/>
          </a:bodyPr>
          <a:lstStyle/>
          <a:p>
            <a:pPr algn="l">
              <a:spcAft>
                <a:spcPts val="0"/>
              </a:spcAft>
              <a:defRPr sz="900" b="0" i="1">
                <a:solidFill>
                  <a:srgbClr val="8E99A4"/>
                </a:solidFill>
                <a:latin typeface="Calibri"/>
              </a:defRPr>
            </a:pPr>
            <a:r>
              <a:t>Each component computed independently by OconEco. CWoN is cross-validation only.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640080"/>
          </a:xfrm>
          <a:prstGeom prst="rect">
            <a:avLst/>
          </a:prstGeom>
          <a:noFill/>
        </p:spPr>
        <p:txBody>
          <a:bodyPr wrap="square">
            <a:spAutoFit/>
          </a:bodyPr>
          <a:lstStyle/>
          <a:p>
            <a:pPr algn="l">
              <a:spcAft>
                <a:spcPts val="0"/>
              </a:spcAft>
              <a:defRPr sz="2800" b="1" i="0">
                <a:solidFill>
                  <a:srgbClr val="1E2761"/>
                </a:solidFill>
                <a:latin typeface="Georgia"/>
              </a:defRPr>
            </a:pPr>
            <a:r>
              <a:t>What FAND Compiles: World Tables</a:t>
            </a:r>
          </a:p>
        </p:txBody>
      </p:sp>
      <p:sp>
        <p:nvSpPr>
          <p:cNvPr id="3" name="TextBox 2"/>
          <p:cNvSpPr txBox="1"/>
          <p:nvPr/>
        </p:nvSpPr>
        <p:spPr>
          <a:xfrm>
            <a:off x="731520" y="914400"/>
            <a:ext cx="7680960" cy="365760"/>
          </a:xfrm>
          <a:prstGeom prst="rect">
            <a:avLst/>
          </a:prstGeom>
          <a:noFill/>
        </p:spPr>
        <p:txBody>
          <a:bodyPr wrap="square">
            <a:spAutoFit/>
          </a:bodyPr>
          <a:lstStyle/>
          <a:p>
            <a:pPr algn="l">
              <a:spcAft>
                <a:spcPts val="0"/>
              </a:spcAft>
              <a:defRPr sz="1300" b="0" i="0">
                <a:solidFill>
                  <a:srgbClr val="2C3E50"/>
                </a:solidFill>
                <a:latin typeface="Calibri"/>
              </a:defRPr>
            </a:pPr>
            <a:r>
              <a:t>Each World Table covers all countries × all available years in classic WDI format.</a:t>
            </a:r>
          </a:p>
        </p:txBody>
      </p:sp>
      <p:sp>
        <p:nvSpPr>
          <p:cNvPr id="4" name="Rectangle 3"/>
          <p:cNvSpPr/>
          <p:nvPr/>
        </p:nvSpPr>
        <p:spPr>
          <a:xfrm>
            <a:off x="457200" y="1463040"/>
            <a:ext cx="2743200" cy="31089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463040"/>
            <a:ext cx="2743200" cy="54864"/>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45920"/>
            <a:ext cx="2743200" cy="457200"/>
          </a:xfrm>
          <a:prstGeom prst="rect">
            <a:avLst/>
          </a:prstGeom>
          <a:noFill/>
        </p:spPr>
        <p:txBody>
          <a:bodyPr wrap="square">
            <a:spAutoFit/>
          </a:bodyPr>
          <a:lstStyle/>
          <a:p>
            <a:pPr algn="ctr">
              <a:spcAft>
                <a:spcPts val="0"/>
              </a:spcAft>
              <a:defRPr sz="1500" b="1" i="0">
                <a:solidFill>
                  <a:srgbClr val="1E2761"/>
                </a:solidFill>
                <a:latin typeface="Georgia"/>
              </a:defRPr>
            </a:pPr>
            <a:r>
              <a:t>Balance Sheet (11)</a:t>
            </a:r>
          </a:p>
        </p:txBody>
      </p:sp>
      <p:sp>
        <p:nvSpPr>
          <p:cNvPr id="7" name="TextBox 6"/>
          <p:cNvSpPr txBox="1"/>
          <p:nvPr/>
        </p:nvSpPr>
        <p:spPr>
          <a:xfrm>
            <a:off x="594360" y="2194560"/>
            <a:ext cx="2468880" cy="2194560"/>
          </a:xfrm>
          <a:prstGeom prst="rect">
            <a:avLst/>
          </a:prstGeom>
          <a:noFill/>
        </p:spPr>
        <p:txBody>
          <a:bodyPr wrap="square">
            <a:spAutoFit/>
          </a:bodyPr>
          <a:lstStyle/>
          <a:p>
            <a:pPr algn="l">
              <a:spcAft>
                <a:spcPts val="0"/>
              </a:spcAft>
              <a:defRPr sz="1100" b="0" i="0">
                <a:solidFill>
                  <a:srgbClr val="2C3E50"/>
                </a:solidFill>
                <a:latin typeface="Calibri"/>
              </a:defRPr>
            </a:pPr>
            <a:r>
              <a:t>CW, PA, NC Total, RW,</a:t>
            </a:r>
            <a:br/>
            <a:r>
              <a:t>HR, SI, SR, DM,</a:t>
            </a:r>
            <a:br/>
            <a:r>
              <a:t>Net Worth, Population,</a:t>
            </a:r>
            <a:br/>
            <a:r>
              <a:t>Population Q</a:t>
            </a:r>
          </a:p>
        </p:txBody>
      </p:sp>
      <p:sp>
        <p:nvSpPr>
          <p:cNvPr id="8" name="Rectangle 7"/>
          <p:cNvSpPr/>
          <p:nvPr/>
        </p:nvSpPr>
        <p:spPr>
          <a:xfrm>
            <a:off x="3337560" y="1463040"/>
            <a:ext cx="2743200" cy="31089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337560" y="1463040"/>
            <a:ext cx="274320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37560" y="1645920"/>
            <a:ext cx="2743200" cy="457200"/>
          </a:xfrm>
          <a:prstGeom prst="rect">
            <a:avLst/>
          </a:prstGeom>
          <a:noFill/>
        </p:spPr>
        <p:txBody>
          <a:bodyPr wrap="square">
            <a:spAutoFit/>
          </a:bodyPr>
          <a:lstStyle/>
          <a:p>
            <a:pPr algn="ctr">
              <a:spcAft>
                <a:spcPts val="0"/>
              </a:spcAft>
              <a:defRPr sz="1500" b="1" i="0">
                <a:solidFill>
                  <a:srgbClr val="1E2761"/>
                </a:solidFill>
                <a:latin typeface="Georgia"/>
              </a:defRPr>
            </a:pPr>
            <a:r>
              <a:t>Natural Capital (52)</a:t>
            </a:r>
          </a:p>
        </p:txBody>
      </p:sp>
      <p:sp>
        <p:nvSpPr>
          <p:cNvPr id="11" name="TextBox 10"/>
          <p:cNvSpPr txBox="1"/>
          <p:nvPr/>
        </p:nvSpPr>
        <p:spPr>
          <a:xfrm>
            <a:off x="3474720" y="2194560"/>
            <a:ext cx="2468880" cy="2194560"/>
          </a:xfrm>
          <a:prstGeom prst="rect">
            <a:avLst/>
          </a:prstGeom>
          <a:noFill/>
        </p:spPr>
        <p:txBody>
          <a:bodyPr wrap="square">
            <a:spAutoFit/>
          </a:bodyPr>
          <a:lstStyle/>
          <a:p>
            <a:pPr algn="l">
              <a:spcAft>
                <a:spcPts val="0"/>
              </a:spcAft>
              <a:defRPr sz="1100" b="0" i="0">
                <a:solidFill>
                  <a:srgbClr val="2C3E50"/>
                </a:solidFill>
                <a:latin typeface="Calibri"/>
              </a:defRPr>
            </a:pPr>
            <a:r>
              <a:t>3 Fossil Fuels, 31 Minerals,</a:t>
            </a:r>
            <a:br/>
            <a:r>
              <a:t>Fisheries, AgLand (Farm+Graze),</a:t>
            </a:r>
            <a:br/>
            <a:r>
              <a:t>Forest Timber (IR+FW),</a:t>
            </a:r>
            <a:br/>
            <a:r>
              <a:t>Forest Cover, Mangroves,</a:t>
            </a:r>
            <a:br/>
            <a:r>
              <a:t>Hydropower, + rollup WTs</a:t>
            </a:r>
          </a:p>
        </p:txBody>
      </p:sp>
      <p:sp>
        <p:nvSpPr>
          <p:cNvPr id="12" name="Rectangle 11"/>
          <p:cNvSpPr/>
          <p:nvPr/>
        </p:nvSpPr>
        <p:spPr>
          <a:xfrm>
            <a:off x="6217920" y="1463040"/>
            <a:ext cx="2743200" cy="31089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463040"/>
            <a:ext cx="274320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0" y="1645920"/>
            <a:ext cx="2743200" cy="457200"/>
          </a:xfrm>
          <a:prstGeom prst="rect">
            <a:avLst/>
          </a:prstGeom>
          <a:noFill/>
        </p:spPr>
        <p:txBody>
          <a:bodyPr wrap="square">
            <a:spAutoFit/>
          </a:bodyPr>
          <a:lstStyle/>
          <a:p>
            <a:pPr algn="ctr">
              <a:spcAft>
                <a:spcPts val="0"/>
              </a:spcAft>
              <a:defRPr sz="1500" b="1" i="0">
                <a:solidFill>
                  <a:srgbClr val="1E2761"/>
                </a:solidFill>
                <a:latin typeface="Georgia"/>
              </a:defRPr>
            </a:pPr>
            <a:r>
              <a:t>Cross-Border (15)</a:t>
            </a:r>
          </a:p>
        </p:txBody>
      </p:sp>
      <p:sp>
        <p:nvSpPr>
          <p:cNvPr id="15" name="TextBox 14"/>
          <p:cNvSpPr txBox="1"/>
          <p:nvPr/>
        </p:nvSpPr>
        <p:spPr>
          <a:xfrm>
            <a:off x="6355080" y="2194560"/>
            <a:ext cx="2468880" cy="2194560"/>
          </a:xfrm>
          <a:prstGeom prst="rect">
            <a:avLst/>
          </a:prstGeom>
          <a:noFill/>
        </p:spPr>
        <p:txBody>
          <a:bodyPr wrap="square">
            <a:spAutoFit/>
          </a:bodyPr>
          <a:lstStyle/>
          <a:p>
            <a:pPr algn="l">
              <a:spcAft>
                <a:spcPts val="0"/>
              </a:spcAft>
              <a:defRPr sz="1100" b="0" i="0">
                <a:solidFill>
                  <a:srgbClr val="2C3E50"/>
                </a:solidFill>
                <a:latin typeface="Calibri"/>
              </a:defRPr>
            </a:pPr>
            <a:r>
              <a:t>Claim-Rights parent + 5 children</a:t>
            </a:r>
            <a:br/>
            <a:r>
              <a:t>(Via-DFS, Sovereign, Nonbank,</a:t>
            </a:r>
            <a:br/>
            <a:r>
              <a:t>FDI Global, All-Other)</a:t>
            </a:r>
            <a:br/>
            <a:r>
              <a:t>Duties parent + 5 children</a:t>
            </a:r>
            <a:br/>
            <a:r>
              <a:t>+ BEA bilateral + Non-US</a:t>
            </a:r>
          </a:p>
        </p:txBody>
      </p:sp>
      <p:sp>
        <p:nvSpPr>
          <p:cNvPr id="16" name="TextBox 15"/>
          <p:cNvSpPr txBox="1"/>
          <p:nvPr/>
        </p:nvSpPr>
        <p:spPr>
          <a:xfrm>
            <a:off x="457200" y="4663440"/>
            <a:ext cx="8229600" cy="365760"/>
          </a:xfrm>
          <a:prstGeom prst="rect">
            <a:avLst/>
          </a:prstGeom>
          <a:noFill/>
        </p:spPr>
        <p:txBody>
          <a:bodyPr wrap="square">
            <a:spAutoFit/>
          </a:bodyPr>
          <a:lstStyle/>
          <a:p>
            <a:pPr algn="l">
              <a:spcAft>
                <a:spcPts val="0"/>
              </a:spcAft>
              <a:defRPr sz="900" b="0" i="1">
                <a:solidFill>
                  <a:srgbClr val="8E99A4"/>
                </a:solidFill>
                <a:latin typeface="Calibri"/>
              </a:defRPr>
            </a:pPr>
            <a:r>
              <a:t>78 current production World Tables across 3 directories. Rollup WTs aggregate children automatically.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640080"/>
          </a:xfrm>
          <a:prstGeom prst="rect">
            <a:avLst/>
          </a:prstGeom>
          <a:noFill/>
        </p:spPr>
        <p:txBody>
          <a:bodyPr wrap="square">
            <a:spAutoFit/>
          </a:bodyPr>
          <a:lstStyle/>
          <a:p>
            <a:pPr algn="l">
              <a:spcAft>
                <a:spcPts val="0"/>
              </a:spcAft>
              <a:defRPr sz="2800" b="1" i="0">
                <a:solidFill>
                  <a:srgbClr val="1E2761"/>
                </a:solidFill>
                <a:latin typeface="Georgia"/>
              </a:defRPr>
            </a:pPr>
            <a:r>
              <a:t>Natural Capital: Three-Halo Valuation</a:t>
            </a:r>
          </a:p>
        </p:txBody>
      </p:sp>
      <p:sp>
        <p:nvSpPr>
          <p:cNvPr id="3" name="Rectangle 2"/>
          <p:cNvSpPr/>
          <p:nvPr/>
        </p:nvSpPr>
        <p:spPr>
          <a:xfrm>
            <a:off x="457200" y="1097280"/>
            <a:ext cx="2743200" cy="25603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097280"/>
            <a:ext cx="2743200" cy="54864"/>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0"/>
            <a:ext cx="2743200" cy="457200"/>
          </a:xfrm>
          <a:prstGeom prst="rect">
            <a:avLst/>
          </a:prstGeom>
          <a:noFill/>
        </p:spPr>
        <p:txBody>
          <a:bodyPr wrap="square">
            <a:spAutoFit/>
          </a:bodyPr>
          <a:lstStyle/>
          <a:p>
            <a:pPr algn="ctr">
              <a:spcAft>
                <a:spcPts val="0"/>
              </a:spcAft>
              <a:defRPr sz="1500" b="1" i="0">
                <a:solidFill>
                  <a:srgbClr val="1E2761"/>
                </a:solidFill>
                <a:latin typeface="Georgia"/>
              </a:defRPr>
            </a:pPr>
            <a:r>
              <a:t>Halo 1: V = P × Q</a:t>
            </a:r>
          </a:p>
        </p:txBody>
      </p:sp>
      <p:sp>
        <p:nvSpPr>
          <p:cNvPr id="6" name="TextBox 5"/>
          <p:cNvSpPr txBox="1"/>
          <p:nvPr/>
        </p:nvSpPr>
        <p:spPr>
          <a:xfrm>
            <a:off x="640080" y="1828800"/>
            <a:ext cx="2377440" cy="1645920"/>
          </a:xfrm>
          <a:prstGeom prst="rect">
            <a:avLst/>
          </a:prstGeom>
          <a:noFill/>
        </p:spPr>
        <p:txBody>
          <a:bodyPr wrap="square">
            <a:spAutoFit/>
          </a:bodyPr>
          <a:lstStyle/>
          <a:p>
            <a:pPr algn="l">
              <a:spcAft>
                <a:spcPts val="0"/>
              </a:spcAft>
              <a:defRPr sz="1200" b="0" i="0">
                <a:solidFill>
                  <a:srgbClr val="2C3E50"/>
                </a:solidFill>
                <a:latin typeface="Calibri"/>
              </a:defRPr>
            </a:pPr>
            <a:r>
              <a:t>Flow valuation.</a:t>
            </a:r>
            <a:br/>
            <a:r>
              <a:t>Price × Quantity.</a:t>
            </a:r>
            <a:br/>
            <a:r>
              <a:t>What was extracted</a:t>
            </a:r>
            <a:br/>
            <a:r>
              <a:t>this year.</a:t>
            </a:r>
          </a:p>
        </p:txBody>
      </p:sp>
      <p:sp>
        <p:nvSpPr>
          <p:cNvPr id="7" name="Rectangle 6"/>
          <p:cNvSpPr/>
          <p:nvPr/>
        </p:nvSpPr>
        <p:spPr>
          <a:xfrm>
            <a:off x="3337560" y="1097280"/>
            <a:ext cx="2743200" cy="25603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337560" y="1097280"/>
            <a:ext cx="274320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37560" y="1280160"/>
            <a:ext cx="2743200" cy="457200"/>
          </a:xfrm>
          <a:prstGeom prst="rect">
            <a:avLst/>
          </a:prstGeom>
          <a:noFill/>
        </p:spPr>
        <p:txBody>
          <a:bodyPr wrap="square">
            <a:spAutoFit/>
          </a:bodyPr>
          <a:lstStyle/>
          <a:p>
            <a:pPr algn="ctr">
              <a:spcAft>
                <a:spcPts val="0"/>
              </a:spcAft>
              <a:defRPr sz="1500" b="1" i="0">
                <a:solidFill>
                  <a:srgbClr val="1E2761"/>
                </a:solidFill>
                <a:latin typeface="Georgia"/>
              </a:defRPr>
            </a:pPr>
            <a:r>
              <a:t>Halo 2: V = P × R</a:t>
            </a:r>
          </a:p>
        </p:txBody>
      </p:sp>
      <p:sp>
        <p:nvSpPr>
          <p:cNvPr id="10" name="TextBox 9"/>
          <p:cNvSpPr txBox="1"/>
          <p:nvPr/>
        </p:nvSpPr>
        <p:spPr>
          <a:xfrm>
            <a:off x="3520440" y="1828800"/>
            <a:ext cx="2377440" cy="1645920"/>
          </a:xfrm>
          <a:prstGeom prst="rect">
            <a:avLst/>
          </a:prstGeom>
          <a:noFill/>
        </p:spPr>
        <p:txBody>
          <a:bodyPr wrap="square">
            <a:spAutoFit/>
          </a:bodyPr>
          <a:lstStyle/>
          <a:p>
            <a:pPr algn="l">
              <a:spcAft>
                <a:spcPts val="0"/>
              </a:spcAft>
              <a:defRPr sz="1200" b="0" i="0">
                <a:solidFill>
                  <a:srgbClr val="2C3E50"/>
                </a:solidFill>
                <a:latin typeface="Calibri"/>
              </a:defRPr>
            </a:pPr>
            <a:r>
              <a:t>Stock valuation.</a:t>
            </a:r>
            <a:br/>
            <a:r>
              <a:t>Price × Reserves.</a:t>
            </a:r>
            <a:br/>
            <a:r>
              <a:t>What remains in</a:t>
            </a:r>
            <a:br/>
            <a:r>
              <a:t>the ground.</a:t>
            </a:r>
          </a:p>
        </p:txBody>
      </p:sp>
      <p:sp>
        <p:nvSpPr>
          <p:cNvPr id="11" name="Rectangle 10"/>
          <p:cNvSpPr/>
          <p:nvPr/>
        </p:nvSpPr>
        <p:spPr>
          <a:xfrm>
            <a:off x="6217920" y="1097280"/>
            <a:ext cx="2743200" cy="25603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097280"/>
            <a:ext cx="274320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0" y="1280160"/>
            <a:ext cx="2743200" cy="457200"/>
          </a:xfrm>
          <a:prstGeom prst="rect">
            <a:avLst/>
          </a:prstGeom>
          <a:noFill/>
        </p:spPr>
        <p:txBody>
          <a:bodyPr wrap="square">
            <a:spAutoFit/>
          </a:bodyPr>
          <a:lstStyle/>
          <a:p>
            <a:pPr algn="ctr">
              <a:spcAft>
                <a:spcPts val="0"/>
              </a:spcAft>
              <a:defRPr sz="1500" b="1" i="0">
                <a:solidFill>
                  <a:srgbClr val="1E2761"/>
                </a:solidFill>
                <a:latin typeface="Georgia"/>
              </a:defRPr>
            </a:pPr>
            <a:r>
              <a:t>Halo 3: Severance</a:t>
            </a:r>
          </a:p>
        </p:txBody>
      </p:sp>
      <p:sp>
        <p:nvSpPr>
          <p:cNvPr id="14" name="TextBox 13"/>
          <p:cNvSpPr txBox="1"/>
          <p:nvPr/>
        </p:nvSpPr>
        <p:spPr>
          <a:xfrm>
            <a:off x="6400800" y="1828800"/>
            <a:ext cx="2377440" cy="1645920"/>
          </a:xfrm>
          <a:prstGeom prst="rect">
            <a:avLst/>
          </a:prstGeom>
          <a:noFill/>
        </p:spPr>
        <p:txBody>
          <a:bodyPr wrap="square">
            <a:spAutoFit/>
          </a:bodyPr>
          <a:lstStyle/>
          <a:p>
            <a:pPr algn="l">
              <a:spcAft>
                <a:spcPts val="0"/>
              </a:spcAft>
              <a:defRPr sz="1200" b="0" i="0">
                <a:solidFill>
                  <a:srgbClr val="2C3E50"/>
                </a:solidFill>
                <a:latin typeface="Calibri"/>
              </a:defRPr>
            </a:pPr>
            <a:r>
              <a:t>10% of V(R).</a:t>
            </a:r>
            <a:br/>
            <a:r>
              <a:t>Sovereign rent</a:t>
            </a:r>
            <a:br/>
            <a:r>
              <a:t>placeholder.</a:t>
            </a:r>
            <a:br/>
            <a:r>
              <a:t>Calibrated: V(sev)/</a:t>
            </a:r>
            <a:br/>
            <a:r>
              <a:t>CWoN ≈ 1.0 for oil.</a:t>
            </a:r>
          </a:p>
        </p:txBody>
      </p:sp>
      <p:sp>
        <p:nvSpPr>
          <p:cNvPr id="15" name="TextBox 14"/>
          <p:cNvSpPr txBox="1"/>
          <p:nvPr/>
        </p:nvSpPr>
        <p:spPr>
          <a:xfrm>
            <a:off x="731520" y="3931920"/>
            <a:ext cx="7680960" cy="457200"/>
          </a:xfrm>
          <a:prstGeom prst="rect">
            <a:avLst/>
          </a:prstGeom>
          <a:noFill/>
        </p:spPr>
        <p:txBody>
          <a:bodyPr wrap="square">
            <a:spAutoFit/>
          </a:bodyPr>
          <a:lstStyle/>
          <a:p>
            <a:pPr algn="l">
              <a:spcAft>
                <a:spcPts val="0"/>
              </a:spcAft>
              <a:defRPr sz="1200" b="0" i="1">
                <a:solidFill>
                  <a:srgbClr val="8E99A4"/>
                </a:solidFill>
                <a:latin typeface="Calibri"/>
              </a:defRPr>
            </a:pPr>
            <a:r>
              <a:t>CWoN rent-capitalization is a 4th halo — cross-validation only, never production input.</a:t>
            </a:r>
          </a:p>
        </p:txBody>
      </p:sp>
      <p:sp>
        <p:nvSpPr>
          <p:cNvPr id="16" name="TextBox 15"/>
          <p:cNvSpPr txBox="1"/>
          <p:nvPr/>
        </p:nvSpPr>
        <p:spPr>
          <a:xfrm>
            <a:off x="731520" y="4297680"/>
            <a:ext cx="7680960" cy="365760"/>
          </a:xfrm>
          <a:prstGeom prst="rect">
            <a:avLst/>
          </a:prstGeom>
          <a:noFill/>
        </p:spPr>
        <p:txBody>
          <a:bodyPr wrap="square">
            <a:spAutoFit/>
          </a:bodyPr>
          <a:lstStyle/>
          <a:p>
            <a:pPr algn="l">
              <a:spcAft>
                <a:spcPts val="0"/>
              </a:spcAft>
              <a:defRPr sz="1100" b="0" i="0">
                <a:solidFill>
                  <a:srgbClr val="2C3E50"/>
                </a:solidFill>
                <a:latin typeface="Calibri"/>
              </a:defRPr>
            </a:pPr>
            <a:r>
              <a:t>NC comprises 5 branches: Fossil Fuels, Minerals, Agricultural Land, Forest Timber, Fisheries.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640080"/>
          </a:xfrm>
          <a:prstGeom prst="rect">
            <a:avLst/>
          </a:prstGeom>
          <a:noFill/>
        </p:spPr>
        <p:txBody>
          <a:bodyPr wrap="square">
            <a:spAutoFit/>
          </a:bodyPr>
          <a:lstStyle/>
          <a:p>
            <a:pPr algn="l">
              <a:spcAft>
                <a:spcPts val="0"/>
              </a:spcAft>
              <a:defRPr sz="2800" b="1" i="0">
                <a:solidFill>
                  <a:srgbClr val="FFFFFF"/>
                </a:solidFill>
                <a:latin typeface="Georgia"/>
              </a:defRPr>
            </a:pPr>
            <a:r>
              <a:t>SR and DM: The Policy Signal</a:t>
            </a:r>
          </a:p>
        </p:txBody>
      </p:sp>
      <p:sp>
        <p:nvSpPr>
          <p:cNvPr id="3" name="Rectangle 2"/>
          <p:cNvSpPr/>
          <p:nvPr/>
        </p:nvSpPr>
        <p:spPr>
          <a:xfrm>
            <a:off x="457200" y="1097280"/>
            <a:ext cx="3931920" cy="3291840"/>
          </a:xfrm>
          <a:prstGeom prst="rect">
            <a:avLst/>
          </a:prstGeom>
          <a:solidFill>
            <a:srgbClr val="14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3566160" cy="457200"/>
          </a:xfrm>
          <a:prstGeom prst="rect">
            <a:avLst/>
          </a:prstGeom>
          <a:noFill/>
        </p:spPr>
        <p:txBody>
          <a:bodyPr wrap="square">
            <a:spAutoFit/>
          </a:bodyPr>
          <a:lstStyle/>
          <a:p>
            <a:pPr algn="l">
              <a:spcAft>
                <a:spcPts val="0"/>
              </a:spcAft>
              <a:defRPr sz="1600" b="1" i="0">
                <a:solidFill>
                  <a:srgbClr val="F5A623"/>
                </a:solidFill>
                <a:latin typeface="Georgia"/>
              </a:defRPr>
            </a:pPr>
            <a:r>
              <a:t>SR: Other Substantive Rights</a:t>
            </a:r>
          </a:p>
        </p:txBody>
      </p:sp>
      <p:sp>
        <p:nvSpPr>
          <p:cNvPr id="5" name="TextBox 4"/>
          <p:cNvSpPr txBox="1"/>
          <p:nvPr/>
        </p:nvSpPr>
        <p:spPr>
          <a:xfrm>
            <a:off x="640080" y="1691640"/>
            <a:ext cx="3566160" cy="365760"/>
          </a:xfrm>
          <a:prstGeom prst="rect">
            <a:avLst/>
          </a:prstGeom>
          <a:noFill/>
        </p:spPr>
        <p:txBody>
          <a:bodyPr wrap="square">
            <a:spAutoFit/>
          </a:bodyPr>
          <a:lstStyle/>
          <a:p>
            <a:pPr algn="l">
              <a:spcAft>
                <a:spcPts val="0"/>
              </a:spcAft>
              <a:defRPr sz="1400" b="0" i="0">
                <a:solidFill>
                  <a:srgbClr val="CADCFC"/>
                </a:solidFill>
                <a:latin typeface="Consolas"/>
              </a:defRPr>
            </a:pPr>
            <a:r>
              <a:t>SR = max(SI, 0.20 × CW)</a:t>
            </a:r>
          </a:p>
        </p:txBody>
      </p:sp>
      <p:sp>
        <p:nvSpPr>
          <p:cNvPr id="6" name="TextBox 5"/>
          <p:cNvSpPr txBox="1"/>
          <p:nvPr/>
        </p:nvSpPr>
        <p:spPr>
          <a:xfrm>
            <a:off x="640080" y="2148840"/>
            <a:ext cx="3566160" cy="2103120"/>
          </a:xfrm>
          <a:prstGeom prst="rect">
            <a:avLst/>
          </a:prstGeom>
          <a:noFill/>
        </p:spPr>
        <p:txBody>
          <a:bodyPr wrap="square">
            <a:spAutoFit/>
          </a:bodyPr>
          <a:lstStyle/>
          <a:p>
            <a:pPr algn="l">
              <a:spcAft>
                <a:spcPts val="800"/>
              </a:spcAft>
              <a:defRPr sz="1100" b="1" i="0">
                <a:solidFill>
                  <a:srgbClr val="CADCFC"/>
                </a:solidFill>
                <a:latin typeface="Calibri"/>
              </a:defRPr>
            </a:pPr>
            <a:r>
              <a:t>The balance-sheet TFP analogue.</a:t>
            </a:r>
          </a:p>
          <a:p>
            <a:pPr algn="l">
              <a:spcAft>
                <a:spcPts val="800"/>
              </a:spcAft>
              <a:defRPr sz="1100" b="0" i="0">
                <a:solidFill>
                  <a:srgbClr val="CADCFC"/>
                </a:solidFill>
                <a:latin typeface="Calibri"/>
              </a:defRPr>
            </a:pPr>
            <a:r>
              <a:t>Every society has positive institutional capital, even when SI is negative. The 20% floor is a structural prior.</a:t>
            </a:r>
          </a:p>
          <a:p>
            <a:pPr algn="l">
              <a:spcAft>
                <a:spcPts val="800"/>
              </a:spcAft>
              <a:defRPr sz="1100" b="0" i="0">
                <a:solidFill>
                  <a:srgbClr val="CADCFC"/>
                </a:solidFill>
                <a:latin typeface="Calibri"/>
              </a:defRPr>
            </a:pPr>
            <a:r>
              <a:t>Children: 'Free' services of nature (ES: mangroves, hydropower) + 'Free' trust infrastructure.</a:t>
            </a:r>
          </a:p>
        </p:txBody>
      </p:sp>
      <p:sp>
        <p:nvSpPr>
          <p:cNvPr id="7" name="Rectangle 6"/>
          <p:cNvSpPr/>
          <p:nvPr/>
        </p:nvSpPr>
        <p:spPr>
          <a:xfrm>
            <a:off x="4754880" y="1097280"/>
            <a:ext cx="3931920" cy="3291840"/>
          </a:xfrm>
          <a:prstGeom prst="rect">
            <a:avLst/>
          </a:prstGeom>
          <a:solidFill>
            <a:srgbClr val="14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0" y="1188720"/>
            <a:ext cx="3566160" cy="457200"/>
          </a:xfrm>
          <a:prstGeom prst="rect">
            <a:avLst/>
          </a:prstGeom>
          <a:noFill/>
        </p:spPr>
        <p:txBody>
          <a:bodyPr wrap="square">
            <a:spAutoFit/>
          </a:bodyPr>
          <a:lstStyle/>
          <a:p>
            <a:pPr algn="l">
              <a:spcAft>
                <a:spcPts val="0"/>
              </a:spcAft>
              <a:defRPr sz="1600" b="1" i="0">
                <a:solidFill>
                  <a:srgbClr val="E74C3C"/>
                </a:solidFill>
                <a:latin typeface="Georgia"/>
              </a:defRPr>
            </a:pPr>
            <a:r>
              <a:t>DM: Deferred Maintenance</a:t>
            </a:r>
          </a:p>
        </p:txBody>
      </p:sp>
      <p:sp>
        <p:nvSpPr>
          <p:cNvPr id="9" name="TextBox 8"/>
          <p:cNvSpPr txBox="1"/>
          <p:nvPr/>
        </p:nvSpPr>
        <p:spPr>
          <a:xfrm>
            <a:off x="4937760" y="1691640"/>
            <a:ext cx="3566160" cy="365760"/>
          </a:xfrm>
          <a:prstGeom prst="rect">
            <a:avLst/>
          </a:prstGeom>
          <a:noFill/>
        </p:spPr>
        <p:txBody>
          <a:bodyPr wrap="square">
            <a:spAutoFit/>
          </a:bodyPr>
          <a:lstStyle/>
          <a:p>
            <a:pPr algn="l">
              <a:spcAft>
                <a:spcPts val="0"/>
              </a:spcAft>
              <a:defRPr sz="1400" b="0" i="0">
                <a:solidFill>
                  <a:srgbClr val="CADCFC"/>
                </a:solidFill>
                <a:latin typeface="Consolas"/>
              </a:defRPr>
            </a:pPr>
            <a:r>
              <a:t>DM = max(0, 0.20×CW − SI)</a:t>
            </a:r>
          </a:p>
        </p:txBody>
      </p:sp>
      <p:sp>
        <p:nvSpPr>
          <p:cNvPr id="10" name="TextBox 9"/>
          <p:cNvSpPr txBox="1"/>
          <p:nvPr/>
        </p:nvSpPr>
        <p:spPr>
          <a:xfrm>
            <a:off x="4937760" y="2148840"/>
            <a:ext cx="3566160" cy="2103120"/>
          </a:xfrm>
          <a:prstGeom prst="rect">
            <a:avLst/>
          </a:prstGeom>
          <a:noFill/>
        </p:spPr>
        <p:txBody>
          <a:bodyPr wrap="square">
            <a:spAutoFit/>
          </a:bodyPr>
          <a:lstStyle/>
          <a:p>
            <a:pPr algn="l">
              <a:spcAft>
                <a:spcPts val="800"/>
              </a:spcAft>
              <a:defRPr sz="1100" b="1" i="0">
                <a:solidFill>
                  <a:srgbClr val="CADCFC"/>
                </a:solidFill>
                <a:latin typeface="Calibri"/>
              </a:defRPr>
            </a:pPr>
            <a:r>
              <a:t>The trust-infrastructure deficit.</a:t>
            </a:r>
          </a:p>
          <a:p>
            <a:pPr algn="l">
              <a:spcAft>
                <a:spcPts val="800"/>
              </a:spcAft>
              <a:defRPr sz="1100" b="0" i="0">
                <a:solidFill>
                  <a:srgbClr val="CADCFC"/>
                </a:solidFill>
                <a:latin typeface="Calibri"/>
              </a:defRPr>
            </a:pPr>
            <a:r>
              <a:t>96 of 194 countries floor-binding in 2020. DM converts to a risk premium: the gap between what markets can collateralize and what income implies.</a:t>
            </a:r>
          </a:p>
          <a:p>
            <a:pPr algn="l">
              <a:spcAft>
                <a:spcPts val="800"/>
              </a:spcAft>
              <a:defRPr sz="1100" b="0" i="0">
                <a:solidFill>
                  <a:srgbClr val="CADCFC"/>
                </a:solidFill>
                <a:latin typeface="Calibri"/>
              </a:defRPr>
            </a:pPr>
            <a:r>
              <a:t>Policy: invest in how people collaborate and compete (reduce DM) before buying more PA.</a:t>
            </a:r>
          </a:p>
        </p:txBody>
      </p:sp>
      <p:sp>
        <p:nvSpPr>
          <p:cNvPr id="11" name="TextBox 10"/>
          <p:cNvSpPr txBox="1"/>
          <p:nvPr/>
        </p:nvSpPr>
        <p:spPr>
          <a:xfrm>
            <a:off x="457200" y="4663440"/>
            <a:ext cx="8229600" cy="365760"/>
          </a:xfrm>
          <a:prstGeom prst="rect">
            <a:avLst/>
          </a:prstGeom>
          <a:noFill/>
        </p:spPr>
        <p:txBody>
          <a:bodyPr wrap="square">
            <a:spAutoFit/>
          </a:bodyPr>
          <a:lstStyle/>
          <a:p>
            <a:pPr algn="l">
              <a:spcAft>
                <a:spcPts val="0"/>
              </a:spcAft>
              <a:defRPr sz="900" b="0" i="1">
                <a:solidFill>
                  <a:srgbClr val="8E99A4"/>
                </a:solidFill>
                <a:latin typeface="Calibri"/>
              </a:defRPr>
            </a:pPr>
            <a:r>
              <a:t>SI = SR − DM always holds. CW = PA + NC + RW unchanged. 98 countries where SI ≥ 0.20×CW have DM = 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640080"/>
          </a:xfrm>
          <a:prstGeom prst="rect">
            <a:avLst/>
          </a:prstGeom>
          <a:noFill/>
        </p:spPr>
        <p:txBody>
          <a:bodyPr wrap="square">
            <a:spAutoFit/>
          </a:bodyPr>
          <a:lstStyle/>
          <a:p>
            <a:pPr algn="l">
              <a:spcAft>
                <a:spcPts val="0"/>
              </a:spcAft>
              <a:defRPr sz="2800" b="1" i="0">
                <a:solidFill>
                  <a:srgbClr val="1E2761"/>
                </a:solidFill>
                <a:latin typeface="Georgia"/>
              </a:defRPr>
            </a:pPr>
            <a:r>
              <a:t>Cross-Border: Per-Side Architecture</a:t>
            </a:r>
          </a:p>
        </p:txBody>
      </p:sp>
      <p:sp>
        <p:nvSpPr>
          <p:cNvPr id="3" name="TextBox 2"/>
          <p:cNvSpPr txBox="1"/>
          <p:nvPr/>
        </p:nvSpPr>
        <p:spPr>
          <a:xfrm>
            <a:off x="731520" y="914400"/>
            <a:ext cx="7680960" cy="457200"/>
          </a:xfrm>
          <a:prstGeom prst="rect">
            <a:avLst/>
          </a:prstGeom>
          <a:noFill/>
        </p:spPr>
        <p:txBody>
          <a:bodyPr wrap="square">
            <a:spAutoFit/>
          </a:bodyPr>
          <a:lstStyle/>
          <a:p>
            <a:pPr algn="l">
              <a:spcAft>
                <a:spcPts val="0"/>
              </a:spcAft>
              <a:defRPr sz="2000" b="1" i="0">
                <a:solidFill>
                  <a:srgbClr val="2F80ED"/>
                </a:solidFill>
                <a:latin typeface="Consolas"/>
              </a:defRPr>
            </a:pPr>
            <a:r>
              <a:t>NW = CW + CBA − CBL</a:t>
            </a:r>
          </a:p>
        </p:txBody>
      </p:sp>
      <p:sp>
        <p:nvSpPr>
          <p:cNvPr id="4" name="TextBox 3"/>
          <p:cNvSpPr txBox="1"/>
          <p:nvPr/>
        </p:nvSpPr>
        <p:spPr>
          <a:xfrm>
            <a:off x="731520" y="1371600"/>
            <a:ext cx="7680960" cy="365760"/>
          </a:xfrm>
          <a:prstGeom prst="rect">
            <a:avLst/>
          </a:prstGeom>
          <a:noFill/>
        </p:spPr>
        <p:txBody>
          <a:bodyPr wrap="square">
            <a:spAutoFit/>
          </a:bodyPr>
          <a:lstStyle/>
          <a:p>
            <a:pPr algn="l">
              <a:spcAft>
                <a:spcPts val="0"/>
              </a:spcAft>
              <a:defRPr sz="1300" b="0" i="0">
                <a:solidFill>
                  <a:srgbClr val="2C3E50"/>
                </a:solidFill>
                <a:latin typeface="Calibri"/>
              </a:defRPr>
            </a:pPr>
            <a:r>
              <a:t>Two independent directly-observed stocks. No NIIP identity enforced.</a:t>
            </a:r>
          </a:p>
        </p:txBody>
      </p:sp>
      <p:sp>
        <p:nvSpPr>
          <p:cNvPr id="5" name="Rectangle 4"/>
          <p:cNvSpPr/>
          <p:nvPr/>
        </p:nvSpPr>
        <p:spPr>
          <a:xfrm>
            <a:off x="457200" y="1920240"/>
            <a:ext cx="4114800" cy="27432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920240"/>
            <a:ext cx="411480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057400"/>
            <a:ext cx="3840480" cy="411480"/>
          </a:xfrm>
          <a:prstGeom prst="rect">
            <a:avLst/>
          </a:prstGeom>
          <a:noFill/>
        </p:spPr>
        <p:txBody>
          <a:bodyPr wrap="square">
            <a:spAutoFit/>
          </a:bodyPr>
          <a:lstStyle/>
          <a:p>
            <a:pPr algn="l">
              <a:spcAft>
                <a:spcPts val="0"/>
              </a:spcAft>
              <a:defRPr sz="1300" b="1" i="0">
                <a:solidFill>
                  <a:srgbClr val="1E2761"/>
                </a:solidFill>
                <a:latin typeface="Georgia"/>
              </a:defRPr>
            </a:pPr>
            <a:r>
              <a:t>1.1.1.4  Gross Foreign Assets</a:t>
            </a:r>
          </a:p>
        </p:txBody>
      </p:sp>
      <p:sp>
        <p:nvSpPr>
          <p:cNvPr id="8" name="TextBox 7"/>
          <p:cNvSpPr txBox="1"/>
          <p:nvPr/>
        </p:nvSpPr>
        <p:spPr>
          <a:xfrm>
            <a:off x="594360" y="2514600"/>
            <a:ext cx="3840480" cy="2011680"/>
          </a:xfrm>
          <a:prstGeom prst="rect">
            <a:avLst/>
          </a:prstGeom>
          <a:noFill/>
        </p:spPr>
        <p:txBody>
          <a:bodyPr wrap="square">
            <a:spAutoFit/>
          </a:bodyPr>
          <a:lstStyle/>
          <a:p>
            <a:pPr algn="l">
              <a:spcAft>
                <a:spcPts val="600"/>
              </a:spcAft>
              <a:defRPr sz="1100" b="0" i="0">
                <a:solidFill>
                  <a:srgbClr val="2C3E50"/>
                </a:solidFill>
                <a:latin typeface="Calibri"/>
              </a:defRPr>
            </a:pPr>
            <a:r>
              <a:t>•  Via-DFS (CBS+ODCS, depository)</a:t>
            </a:r>
          </a:p>
          <a:p>
            <a:pPr algn="l">
              <a:spcAft>
                <a:spcPts val="600"/>
              </a:spcAft>
              <a:defRPr sz="1100" b="0" i="0">
                <a:solidFill>
                  <a:srgbClr val="2C3E50"/>
                </a:solidFill>
                <a:latin typeface="Calibri"/>
              </a:defRPr>
            </a:pPr>
            <a:r>
              <a:t>•  Sovereign Direct Credit</a:t>
            </a:r>
          </a:p>
          <a:p>
            <a:pPr algn="l">
              <a:spcAft>
                <a:spcPts val="600"/>
              </a:spcAft>
              <a:defRPr sz="1100" b="0" i="0">
                <a:solidFill>
                  <a:srgbClr val="2C3E50"/>
                </a:solidFill>
                <a:latin typeface="Calibri"/>
              </a:defRPr>
            </a:pPr>
            <a:r>
              <a:t>•  Nonbank-Banks (BIS LBS)</a:t>
            </a:r>
          </a:p>
          <a:p>
            <a:pPr algn="l">
              <a:spcAft>
                <a:spcPts val="600"/>
              </a:spcAft>
              <a:defRPr sz="1100" b="0" i="0">
                <a:solidFill>
                  <a:srgbClr val="2C3E50"/>
                </a:solidFill>
                <a:latin typeface="Calibri"/>
              </a:defRPr>
            </a:pPr>
            <a:r>
              <a:t>•  FDI Global (IIP DI parent)</a:t>
            </a:r>
          </a:p>
          <a:p>
            <a:pPr algn="l">
              <a:spcAft>
                <a:spcPts val="600"/>
              </a:spcAft>
              <a:defRPr sz="1100" b="0" i="0">
                <a:solidFill>
                  <a:srgbClr val="2C3E50"/>
                </a:solidFill>
                <a:latin typeface="Calibri"/>
              </a:defRPr>
            </a:pPr>
            <a:r>
              <a:t>•  All-Other (residual)</a:t>
            </a:r>
          </a:p>
        </p:txBody>
      </p:sp>
      <p:sp>
        <p:nvSpPr>
          <p:cNvPr id="9" name="Rectangle 8"/>
          <p:cNvSpPr/>
          <p:nvPr/>
        </p:nvSpPr>
        <p:spPr>
          <a:xfrm>
            <a:off x="4846320" y="1920240"/>
            <a:ext cx="4114800" cy="27432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846320" y="1920240"/>
            <a:ext cx="4114800" cy="5486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83480" y="2057400"/>
            <a:ext cx="3840480" cy="411480"/>
          </a:xfrm>
          <a:prstGeom prst="rect">
            <a:avLst/>
          </a:prstGeom>
          <a:noFill/>
        </p:spPr>
        <p:txBody>
          <a:bodyPr wrap="square">
            <a:spAutoFit/>
          </a:bodyPr>
          <a:lstStyle/>
          <a:p>
            <a:pPr algn="l">
              <a:spcAft>
                <a:spcPts val="0"/>
              </a:spcAft>
              <a:defRPr sz="1300" b="1" i="0">
                <a:solidFill>
                  <a:srgbClr val="1E2761"/>
                </a:solidFill>
                <a:latin typeface="Georgia"/>
              </a:defRPr>
            </a:pPr>
            <a:r>
              <a:t>1.2.3  Gross Foreign Liabilities</a:t>
            </a:r>
          </a:p>
        </p:txBody>
      </p:sp>
      <p:sp>
        <p:nvSpPr>
          <p:cNvPr id="12" name="TextBox 11"/>
          <p:cNvSpPr txBox="1"/>
          <p:nvPr/>
        </p:nvSpPr>
        <p:spPr>
          <a:xfrm>
            <a:off x="4983480" y="2514600"/>
            <a:ext cx="3840480" cy="2011680"/>
          </a:xfrm>
          <a:prstGeom prst="rect">
            <a:avLst/>
          </a:prstGeom>
          <a:noFill/>
        </p:spPr>
        <p:txBody>
          <a:bodyPr wrap="square">
            <a:spAutoFit/>
          </a:bodyPr>
          <a:lstStyle/>
          <a:p>
            <a:pPr algn="l">
              <a:spcAft>
                <a:spcPts val="600"/>
              </a:spcAft>
              <a:defRPr sz="1100" b="0" i="0">
                <a:solidFill>
                  <a:srgbClr val="2C3E50"/>
                </a:solidFill>
                <a:latin typeface="Calibri"/>
              </a:defRPr>
            </a:pPr>
            <a:r>
              <a:t>•  Via-DFS (depository liabilities)</a:t>
            </a:r>
          </a:p>
          <a:p>
            <a:pPr algn="l">
              <a:spcAft>
                <a:spcPts val="600"/>
              </a:spcAft>
              <a:defRPr sz="1100" b="0" i="0">
                <a:solidFill>
                  <a:srgbClr val="2C3E50"/>
                </a:solidFill>
                <a:latin typeface="Calibri"/>
              </a:defRPr>
            </a:pPr>
            <a:r>
              <a:t>•  Sovereign Debt (non-trad. holders)</a:t>
            </a:r>
          </a:p>
          <a:p>
            <a:pPr algn="l">
              <a:spcAft>
                <a:spcPts val="600"/>
              </a:spcAft>
              <a:defRPr sz="1100" b="0" i="0">
                <a:solidFill>
                  <a:srgbClr val="2C3E50"/>
                </a:solidFill>
                <a:latin typeface="Calibri"/>
              </a:defRPr>
            </a:pPr>
            <a:r>
              <a:t>•  Nonbank-Banks (BIS LBS)</a:t>
            </a:r>
          </a:p>
          <a:p>
            <a:pPr algn="l">
              <a:spcAft>
                <a:spcPts val="600"/>
              </a:spcAft>
              <a:defRPr sz="1100" b="0" i="0">
                <a:solidFill>
                  <a:srgbClr val="2C3E50"/>
                </a:solidFill>
                <a:latin typeface="Calibri"/>
              </a:defRPr>
            </a:pPr>
            <a:r>
              <a:t>•  Inward FDI (IIP DI parent)</a:t>
            </a:r>
          </a:p>
          <a:p>
            <a:pPr algn="l">
              <a:spcAft>
                <a:spcPts val="600"/>
              </a:spcAft>
              <a:defRPr sz="1100" b="0" i="0">
                <a:solidFill>
                  <a:srgbClr val="2C3E50"/>
                </a:solidFill>
                <a:latin typeface="Calibri"/>
              </a:defRPr>
            </a:pPr>
            <a:r>
              <a:t>•  All-Other (residual)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Proof-of-Concept for TL2 and TL3</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1188720"/>
            <a:ext cx="2560320" cy="182880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548640" y="1280160"/>
            <a:ext cx="256032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2F5496"/>
                </a:solidFill>
                <a:effectLst/>
                <a:uLnTx/>
                <a:uFillTx/>
                <a:latin typeface="Georgia" pitchFamily="34" charset="0"/>
                <a:ea typeface="Georgia" pitchFamily="34" charset="-122"/>
                <a:cs typeface="Georgia" pitchFamily="34" charset="-120"/>
              </a:rPr>
              <a:t>7,101</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48640" y="1965960"/>
            <a:ext cx="2560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Administrative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Leaves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48640" y="2468880"/>
            <a:ext cx="2560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D6D7E"/>
                </a:solidFill>
                <a:effectLst/>
                <a:uLnTx/>
                <a:uFillTx/>
                <a:latin typeface="Arial" pitchFamily="34" charset="0"/>
                <a:ea typeface="Arial" pitchFamily="34" charset="-122"/>
                <a:cs typeface="Arial" pitchFamily="34" charset="-120"/>
              </a:rPr>
              <a:t>Finest grain per country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3383280" y="1188720"/>
            <a:ext cx="2560320" cy="182880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3383280" y="1280160"/>
            <a:ext cx="256032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2F5496"/>
                </a:solidFill>
                <a:effectLst/>
                <a:uLnTx/>
                <a:uFillTx/>
                <a:latin typeface="Georgia" pitchFamily="34" charset="0"/>
                <a:ea typeface="Georgia" pitchFamily="34" charset="-122"/>
                <a:cs typeface="Georgia" pitchFamily="34" charset="-120"/>
              </a:rPr>
              <a:t>7.9B</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3383280" y="1965960"/>
            <a:ext cx="2560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People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Covered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3383280" y="2468880"/>
            <a:ext cx="2560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D6D7E"/>
                </a:solidFill>
                <a:effectLst/>
                <a:uLnTx/>
                <a:uFillTx/>
                <a:latin typeface="Arial" pitchFamily="34" charset="0"/>
                <a:ea typeface="Arial" pitchFamily="34" charset="-122"/>
                <a:cs typeface="Arial" pitchFamily="34" charset="-120"/>
              </a:rPr>
              <a:t>97.6% of world population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6217920" y="1188720"/>
            <a:ext cx="2560320" cy="182880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6217920" y="1280160"/>
            <a:ext cx="256032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2F5496"/>
                </a:solidFill>
                <a:effectLst/>
                <a:uLnTx/>
                <a:uFillTx/>
                <a:latin typeface="Georgia" pitchFamily="34" charset="0"/>
                <a:ea typeface="Georgia" pitchFamily="34" charset="-122"/>
                <a:cs typeface="Georgia" pitchFamily="34" charset="-120"/>
              </a:rPr>
              <a:t>237</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217920" y="1965960"/>
            <a:ext cx="2560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Countries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Represented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217920" y="2468880"/>
            <a:ext cx="2560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D6D7E"/>
                </a:solidFill>
                <a:effectLst/>
                <a:uLnTx/>
                <a:uFillTx/>
                <a:latin typeface="Arial" pitchFamily="34" charset="0"/>
                <a:ea typeface="Arial" pitchFamily="34" charset="-122"/>
                <a:cs typeface="Arial" pitchFamily="34" charset="-120"/>
              </a:rPr>
              <a:t>TL1 through TL3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548640" y="3291840"/>
            <a:ext cx="82296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Two Ratios, Two Questions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48640" y="3794760"/>
            <a:ext cx="3840480" cy="100584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48640" y="3794760"/>
            <a:ext cx="73152" cy="1005840"/>
          </a:xfrm>
          <a:prstGeom prst="rect">
            <a:avLst/>
          </a:prstGeom>
          <a:solidFill>
            <a:srgbClr val="2F549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777240" y="3840480"/>
            <a:ext cx="347472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Population Density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D6D7E"/>
                </a:solidFill>
                <a:effectLst/>
                <a:uLnTx/>
                <a:uFillTx/>
                <a:latin typeface="Arial" pitchFamily="34" charset="0"/>
                <a:ea typeface="Arial" pitchFamily="34" charset="-122"/>
                <a:cs typeface="Arial" pitchFamily="34" charset="-120"/>
              </a:rPr>
              <a:t>People per km² — how crowded is this place?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754880" y="3794760"/>
            <a:ext cx="3840480" cy="100584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4754880" y="3794760"/>
            <a:ext cx="73152" cy="1005840"/>
          </a:xfrm>
          <a:prstGeom prst="rect">
            <a:avLst/>
          </a:prstGeom>
          <a:solidFill>
            <a:srgbClr val="E67E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4983480" y="3840480"/>
            <a:ext cx="347472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Per Capita Economy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D6D7E"/>
                </a:solidFill>
                <a:effectLst/>
                <a:uLnTx/>
                <a:uFillTx/>
                <a:latin typeface="Arial" pitchFamily="34" charset="0"/>
                <a:ea typeface="Arial" pitchFamily="34" charset="-122"/>
                <a:cs typeface="Arial" pitchFamily="34" charset="-120"/>
              </a:rPr>
              <a:t>Economic output per person — how rich is this place?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872</TotalTime>
  <Words>2590</Words>
  <Application>Microsoft Office PowerPoint</Application>
  <PresentationFormat>On-screen Show (16:9)</PresentationFormat>
  <Paragraphs>114</Paragraphs>
  <Slides>9</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Aptos</vt:lpstr>
      <vt:lpstr>Arial</vt:lpstr>
      <vt:lpstr>Calibri</vt:lpstr>
      <vt:lpstr>Georgia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O'Connor</cp:lastModifiedBy>
  <cp:revision>3</cp:revision>
  <dcterms:created xsi:type="dcterms:W3CDTF">2013-01-27T09:14:16Z</dcterms:created>
  <dcterms:modified xsi:type="dcterms:W3CDTF">2026-05-06T21:46:51Z</dcterms:modified>
  <cp:category/>
</cp:coreProperties>
</file>